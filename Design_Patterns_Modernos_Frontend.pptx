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Explicar que a talk é prática: vamos ver 4 padrões de design clássicos reaplicados no contexto de um app Angular real, com código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estrutura repetida: cada padrão terá conceito, implementação em Angular, uso em um componente, e quando usar ou evitar. Deixar claro que o foco é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Facade como um padrão estrutural. Analogia: o controle remoto de uma TV esconde toda a eletrônica complexa atrás de poucos botões. Em Angular, isso vira um service que orquestra vários outros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código: o facade injeta os três services no construtor, combina os streams com combineLatest e expõe um único getDashboardData(). placeOrder() delega para dois services por trás de um único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só conhece a facade, nunca os três services por trás. Isso simplifica o construtor, os testes (um único mock) e o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facade não deve virar um 'god service'. Só orquestração, sem lógica de negócio escondida.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é comportamental. Analogia: formas de pagamento no checkout, todas seguem o mesmo contrato mas cada uma calcula diferente. Em Angular, uma interface e um service que troca a implementação em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interface DiscountStrategy e as três implementações. PricingService guarda a estratégia atual e delega o cálculo — sem nenhum if/switch dentro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troca a estratégia com base na escolha do usuário e chama sempre o mesmo método getFinalPrice — o algoritmo por trás é invisível para o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sinal mais forte para Strategy é um if/switch que troca de comportamento e cresce a cada nova regra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Factory é criacional. Analogia: uma fábrica de notificações que sabe montar o objeto certo (email, sms, push) sem que o cliente precise conhecer as classes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factory conhece as três classes concretas; o restante da aplicação só conhece a interface Notification e o método create().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pede a notificação certa à fábrica e chama send — nunca faz 'new EmailNotification()'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sinal claro para Factory é a criação de objetos depender de um tipo ou configuração dinâmica.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 é estrutural. Analogia: um adaptador de tomada — compatibiliza um plugue com um formato diferente. Em Angular, uma classe que implementa a interface esperada e por trás chama o SDK 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SDK legado usa callback; o adaptador expõe uma Promise, que é o contrato que o resto da aplicação espera de um PaymentGateway.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depende só da interface PaymentGateway via injection token; trocar de provedor de pagamento não exige mudar o componente.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sinal para Adapter é sempre uma dependência externa cuja interface você não controla.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revisando os quatro padrões lado a lado: categoria, o problema que cada um resolve, e como ele aparece idiomaticamente em Angular.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Indicar leituras para quem quiser se aprofundar além da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Reforçar a mensagem final: os padrões são ferramentas, não regra fixa — usar com critério.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0" y="-2476500"/>
            <a:ext cx="7239000" cy="7239000"/>
          </a:xfrm>
          <a:prstGeom prst="ellipse">
            <a:avLst/>
          </a:prstGeom>
          <a:gradFill rotWithShape="1">
            <a:gsLst>
              <a:gs pos="0">
                <a:srgbClr val="E8394F">
                  <a:alpha val="28000"/>
                </a:srgbClr>
              </a:gs>
              <a:gs pos="70000">
                <a:srgbClr val="E8394F">
                  <a:alpha val="0"/>
                </a:srgbClr>
              </a:gs>
            </a:gsLst>
            <a:path path="circle">
              <a:fillToRect l="30000" t="30000" r="70000" b="7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905000" y="6858000"/>
            <a:ext cx="6477000" cy="6477000"/>
          </a:xfrm>
          <a:prstGeom prst="ellipse">
            <a:avLst/>
          </a:prstGeom>
          <a:gradFill rotWithShape="1">
            <a:gsLst>
              <a:gs pos="0">
                <a:srgbClr val="22D3EE">
                  <a:alpha val="14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60000" t="60000" r="40000" b="4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333500" y="2808089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8394F"/>
          </a:solidFill>
          <a:ln/>
        </p:spPr>
      </p:sp>
      <p:sp>
        <p:nvSpPr>
          <p:cNvPr id="5" name="Text 3"/>
          <p:cNvSpPr/>
          <p:nvPr/>
        </p:nvSpPr>
        <p:spPr>
          <a:xfrm>
            <a:off x="1619250" y="2708077"/>
            <a:ext cx="59009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0" kern="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TALK · FRONTEND ENGINEERING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460552"/>
            <a:ext cx="14716125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65"/>
              </a:lnSpc>
              <a:buNone/>
            </a:pPr>
            <a:r>
              <a:rPr lang="en-US" sz="78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 Modernos para Frontend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33500" y="5883473"/>
            <a:ext cx="125730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padrões clássicos, aplicados em Angular com código real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333500" y="6959798"/>
            <a:ext cx="1520279" cy="619125"/>
          </a:xfrm>
          <a:prstGeom prst="roundRect">
            <a:avLst>
              <a:gd name="adj" fmla="val 5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7825" y="7102673"/>
            <a:ext cx="9678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Facade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3044279" y="6959798"/>
            <a:ext cx="1817489" cy="619125"/>
          </a:xfrm>
          <a:prstGeom prst="roundRect">
            <a:avLst>
              <a:gd name="adj" fmla="val 5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8604" y="7102673"/>
            <a:ext cx="12650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052268" y="6959798"/>
            <a:ext cx="1668810" cy="619125"/>
          </a:xfrm>
          <a:prstGeom prst="roundRect">
            <a:avLst>
              <a:gd name="adj" fmla="val 5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6593" y="7102673"/>
            <a:ext cx="1116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911578" y="6959798"/>
            <a:ext cx="1668810" cy="619125"/>
          </a:xfrm>
          <a:prstGeom prst="roundRect">
            <a:avLst>
              <a:gd name="adj" fmla="val 5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5903" y="7102673"/>
            <a:ext cx="1116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476375"/>
            <a:ext cx="171831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27908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33725"/>
            <a:ext cx="83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76500" y="3105150"/>
            <a:ext cx="4400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0" y="3167063"/>
            <a:ext cx="833288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porta de entrada única para simplificar múltiplos serviços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500" y="38957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238625"/>
            <a:ext cx="83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76500" y="4210050"/>
            <a:ext cx="4400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0" y="4271963"/>
            <a:ext cx="866440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algoritmos em tempo de execução sem if/switch gigantes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33500" y="50006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5343525"/>
            <a:ext cx="83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76500" y="5314950"/>
            <a:ext cx="4400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5376863"/>
            <a:ext cx="79430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a criação de objetos e desacoplar o consumidor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33500" y="72104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33500" y="61055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6448425"/>
            <a:ext cx="83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76500" y="6419850"/>
            <a:ext cx="4400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6481763"/>
            <a:ext cx="87821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Compatibilizar SDKs e APIs externas com o contrato da nossa app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33500" y="9182100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padrão: conceito → implementação em Angular → uso no componente → quando usar / evitar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952500"/>
            <a:ext cx="1695450" cy="447675"/>
          </a:xfrm>
          <a:prstGeom prst="roundRect">
            <a:avLst>
              <a:gd name="adj" fmla="val 50000"/>
            </a:avLst>
          </a:prstGeom>
          <a:solidFill>
            <a:srgbClr val="12232A"/>
          </a:solidFill>
          <a:ln w="9525">
            <a:solidFill>
              <a:srgbClr val="1C3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2575" y="1038225"/>
            <a:ext cx="1333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219450" y="1038225"/>
            <a:ext cx="20704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1 DE 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33500" y="1628775"/>
            <a:ext cx="171831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3076575"/>
            <a:ext cx="760333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 uma interface única e simplificada para um conjunto de serviços ou subsistemas mais complexos.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33500" y="4876800"/>
            <a:ext cx="28575" cy="1171575"/>
          </a:xfrm>
          <a:prstGeom prst="rect">
            <a:avLst/>
          </a:prstGeom>
          <a:solidFill>
            <a:srgbClr val="E8394F"/>
          </a:solidFill>
          <a:ln/>
        </p:spPr>
      </p:sp>
      <p:sp>
        <p:nvSpPr>
          <p:cNvPr id="8" name="Text 6"/>
          <p:cNvSpPr/>
          <p:nvPr/>
        </p:nvSpPr>
        <p:spPr>
          <a:xfrm>
            <a:off x="1628775" y="4876800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ANALOGIA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28775" y="5248275"/>
            <a:ext cx="72991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controle remoto esconde toda a eletrônica da TV atrás de poucos botões.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6391275"/>
            <a:ext cx="760333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Angular: um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injeta vários outros services e expõe métodos simples para os componentes.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255698" y="4614863"/>
            <a:ext cx="2015579" cy="695325"/>
          </a:xfrm>
          <a:prstGeom prst="roundRect">
            <a:avLst>
              <a:gd name="adj" fmla="val 19178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46223" y="4814888"/>
            <a:ext cx="13107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87363" y="5481638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834813" y="6005513"/>
            <a:ext cx="2857500" cy="714375"/>
          </a:xfrm>
          <a:prstGeom prst="roundRect">
            <a:avLst>
              <a:gd name="adj" fmla="val 18667"/>
            </a:avLst>
          </a:prstGeom>
          <a:solidFill>
            <a:srgbClr val="3A1420"/>
          </a:solidFill>
          <a:ln w="19050">
            <a:solidFill>
              <a:srgbClr val="E839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34863" y="6215063"/>
            <a:ext cx="2143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DashboardFacade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87363" y="6891338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58388" y="7415213"/>
            <a:ext cx="1657350" cy="571500"/>
          </a:xfrm>
          <a:prstGeom prst="roundRect">
            <a:avLst>
              <a:gd name="adj" fmla="val 2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58413" y="7577138"/>
            <a:ext cx="1333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AuthService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806238" y="7415213"/>
            <a:ext cx="1885950" cy="571500"/>
          </a:xfrm>
          <a:prstGeom prst="roundRect">
            <a:avLst>
              <a:gd name="adj" fmla="val 2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06263" y="7577138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OrdersService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882688" y="7415213"/>
            <a:ext cx="2686050" cy="571500"/>
          </a:xfrm>
          <a:prstGeom prst="roundRect">
            <a:avLst>
              <a:gd name="adj" fmla="val 2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82713" y="7577138"/>
            <a:ext cx="23665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NotificationsService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FACADE · IMPLEMENTAÇÃO EM ANGULAR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service que orquestra tudo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5621000" cy="7381875"/>
          </a:xfrm>
          <a:prstGeom prst="roundRect">
            <a:avLst>
              <a:gd name="adj" fmla="val 2065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15601950" cy="590550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28925"/>
            <a:ext cx="1560195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" y="247650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809750" y="247650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8825" y="247650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81250" y="2400300"/>
            <a:ext cx="37342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dashboard-facade.service.ts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24025" y="3162300"/>
            <a:ext cx="15308009" cy="10882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Injectable }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'@angular/core'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combineLatest, Observable, map }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'rxjs'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AuthService }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'./auth.service'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OrdersService }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'./orders.service'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NotificationsService }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'./notifications.service'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providedIn: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DashboardFacade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auth: AuthService,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orders: OrdersService,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notifications: NotificationsService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getDashboardData(): Observable&lt;DashboardData&gt; {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combineLatest([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this.auth.currentUser$,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this.orders.pending$,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this.notifications.unread$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]).pipe(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map(([user, pending, unread]) =&gt; ({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userName: user.name,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pendingOrders: pending.length,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unreadAlerts: unread.length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}))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placeOrder(payload: OrderPayload) {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this.orders.create(payload);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this.notifications.push( 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 criado com sucesso!'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25" dirty="0"/>
          </a:p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FACADE · USO NO COMPONENTE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componente só conhece a facade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8001893" cy="7381875"/>
          </a:xfrm>
          <a:prstGeom prst="roundRect">
            <a:avLst>
              <a:gd name="adj" fmla="val 2065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7982843" cy="561975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00350"/>
            <a:ext cx="7982843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71625" y="2466975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781175" y="2466975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990725" y="2466975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14575" y="2400300"/>
            <a:ext cx="2766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dashboard.component.ts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8775" y="3076575"/>
            <a:ext cx="7650828" cy="42597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'app-dashboard'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templateUrl:  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'./dashboard.component.html'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DashboardComponent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data$ = this.facade.getDashboardData();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facade: DashboardFacade) {}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onCreateOrder(payload: OrderPayload) {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this.facade.placeOrder(payload);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78293" y="2238375"/>
            <a:ext cx="7276207" cy="7381875"/>
          </a:xfrm>
          <a:prstGeom prst="roundRect">
            <a:avLst>
              <a:gd name="adj" fmla="val 2094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87818" y="2247900"/>
            <a:ext cx="7257157" cy="561975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87818" y="2800350"/>
            <a:ext cx="7257157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16418" y="2466975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25968" y="2466975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5518" y="2466975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10659368" y="2400300"/>
            <a:ext cx="30175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dashboard.component.html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73568" y="3076575"/>
            <a:ext cx="6903372" cy="16618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&lt;ng-container *ngIf=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"data$ | async as data"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&lt;h2&gt;Olá,  &lt;/h2&gt;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  pedidos pendentes&lt;/p&gt;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  alertas não lidos&lt;/p&gt;</a:t>
            </a:r>
            <a:endParaRPr lang="en-US" sz="1650" dirty="0"/>
          </a:p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&lt;/ng-container&gt;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FACADE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3811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· quando evitar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10231A"/>
          </a:solidFill>
          <a:ln w="9525">
            <a:solidFill>
              <a:srgbClr val="1E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02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quando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02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tela precisa orquestrar vários serviços ou chamadas de API.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002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quer esconder a complexidade de integração dos componentes.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00225" y="58102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o componente exige mockar muitas dependências.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107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2A1216"/>
          </a:solidFill>
          <a:ln w="9525">
            <a:solidFill>
              <a:srgbClr val="3A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74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quando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774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existe apenas um serviço simples — a facade vira uma camada inútil.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774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facade acumula regra de negócio que deveria estar explícita.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77425" y="58102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cresce até virar um "god service" que ninguém entende.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952500"/>
            <a:ext cx="2198489" cy="447675"/>
          </a:xfrm>
          <a:prstGeom prst="roundRect">
            <a:avLst>
              <a:gd name="adj" fmla="val 50000"/>
            </a:avLst>
          </a:prstGeom>
          <a:solidFill>
            <a:srgbClr val="2A1420"/>
          </a:solidFill>
          <a:ln w="9525">
            <a:solidFill>
              <a:srgbClr val="3F1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2575" y="1038225"/>
            <a:ext cx="1836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8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Comportamental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722489" y="1038225"/>
            <a:ext cx="20704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2 DE 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33500" y="1628775"/>
            <a:ext cx="171831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3076575"/>
            <a:ext cx="760333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uma família de algoritmos intercambiáveis por trás de uma mesma interface, escolhida em tempo de execução.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33500" y="4876800"/>
            <a:ext cx="28575" cy="1171575"/>
          </a:xfrm>
          <a:prstGeom prst="rect">
            <a:avLst/>
          </a:prstGeom>
          <a:solidFill>
            <a:srgbClr val="E8394F"/>
          </a:solidFill>
          <a:ln/>
        </p:spPr>
      </p:sp>
      <p:sp>
        <p:nvSpPr>
          <p:cNvPr id="8" name="Text 6"/>
          <p:cNvSpPr/>
          <p:nvPr/>
        </p:nvSpPr>
        <p:spPr>
          <a:xfrm>
            <a:off x="1628775" y="4876800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ANALOGIA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28775" y="5248275"/>
            <a:ext cx="72991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desconto diferentes por tipo de cliente, todas calculando o mesmo preço final.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6391275"/>
            <a:ext cx="760333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Angular: uma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comum e classes que a implementam, injetadas conforme o contexto.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912798" y="4676775"/>
            <a:ext cx="2701379" cy="695325"/>
          </a:xfrm>
          <a:prstGeom prst="roundRect">
            <a:avLst>
              <a:gd name="adj" fmla="val 19178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03323" y="4876800"/>
            <a:ext cx="2001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PricingService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87363" y="5543550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914733" y="6067425"/>
            <a:ext cx="2697510" cy="619125"/>
          </a:xfrm>
          <a:prstGeom prst="roundRect">
            <a:avLst>
              <a:gd name="adj" fmla="val 21538"/>
            </a:avLst>
          </a:prstGeom>
          <a:ln w="19050">
            <a:solidFill>
              <a:srgbClr val="2A2E3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2257633" y="6238875"/>
            <a:ext cx="2092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DiscountStrategy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187363" y="6858000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096351" y="7381875"/>
            <a:ext cx="2009775" cy="542925"/>
          </a:xfrm>
          <a:prstGeom prst="roundRect">
            <a:avLst>
              <a:gd name="adj" fmla="val 21053"/>
            </a:avLst>
          </a:prstGeom>
          <a:solidFill>
            <a:srgbClr val="3A1420"/>
          </a:solidFill>
          <a:ln w="19050">
            <a:solidFill>
              <a:srgbClr val="E839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6851" y="7534275"/>
            <a:ext cx="1704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RegularDiscount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2258526" y="7381875"/>
            <a:ext cx="1575495" cy="542925"/>
          </a:xfrm>
          <a:prstGeom prst="roundRect">
            <a:avLst>
              <a:gd name="adj" fmla="val 21053"/>
            </a:avLst>
          </a:prstGeom>
          <a:solidFill>
            <a:srgbClr val="3A1420"/>
          </a:solidFill>
          <a:ln w="19050">
            <a:solidFill>
              <a:srgbClr val="E839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49026" y="7534275"/>
            <a:ext cx="12706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VipDiscount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3986421" y="7381875"/>
            <a:ext cx="2444204" cy="542925"/>
          </a:xfrm>
          <a:prstGeom prst="roundRect">
            <a:avLst>
              <a:gd name="adj" fmla="val 21053"/>
            </a:avLst>
          </a:prstGeom>
          <a:solidFill>
            <a:srgbClr val="3A1420"/>
          </a:solidFill>
          <a:ln w="19050">
            <a:solidFill>
              <a:srgbClr val="E839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6921" y="7534275"/>
            <a:ext cx="21394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BlackFridayDiscount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· IMPLEMENTAÇÃO EM ANGULAR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+ implementações intercambiáveis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5621000" cy="7381875"/>
          </a:xfrm>
          <a:prstGeom prst="roundRect">
            <a:avLst>
              <a:gd name="adj" fmla="val 2065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15601950" cy="590550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28925"/>
            <a:ext cx="1560195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" y="247650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809750" y="247650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8825" y="247650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81250" y="2400300"/>
            <a:ext cx="2766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discount-strategy.ts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24025" y="3143250"/>
            <a:ext cx="15308009" cy="83683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Injectable }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'@angular/core'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DiscountStrategy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calculate(amount: number): number;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RegularDiscount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DiscountStrategy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calculate(amount: number) {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VipDiscount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DiscountStrategy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calculate(amount: number) {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 * 0.85;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BlackFridayDiscount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DiscountStrategy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calculate(amount: number) {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 * 0.6;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providedIn: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PricingService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strategy: DiscountStrategy =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RegularDiscount();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setStrategy(strategy: DiscountStrategy) { this.strategy = strategy;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getFinalPrice(amount: number): number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this.strategy.calculate(amount);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· USO NO COMPONENTE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Trocando a estratégia em runtime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9163050" cy="7381875"/>
          </a:xfrm>
          <a:prstGeom prst="roundRect">
            <a:avLst>
              <a:gd name="adj" fmla="val 2065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9144000" cy="561975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00350"/>
            <a:ext cx="914400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71625" y="2466975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781175" y="2466975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990725" y="2466975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14575" y="2400300"/>
            <a:ext cx="2640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checkout.component.ts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8775" y="3076575"/>
            <a:ext cx="8846820" cy="4838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selector: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'app-checkout'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templateUrl: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'./checkout.component.html'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CheckoutComponent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0;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pricing: PricingService) {}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onCustomerTypeChange(type:  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'regular'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'vip'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'black-friday'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strategies = {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regular:  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RegularDiscount(),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vip:  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VipDiscount(),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'black-friday'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BlackFridayDiscount()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this.pricing.setStrategy(strategies[type]);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this.total = this.pricing.getFinalPrice(this.rawTotal);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75" dirty="0"/>
          </a:p>
          <a:p>
            <a:pPr algn="l" indent="0" marL="0">
              <a:lnSpc>
                <a:spcPct val="13695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839450" y="2238375"/>
            <a:ext cx="6115050" cy="7381875"/>
          </a:xfrm>
          <a:prstGeom prst="roundRect">
            <a:avLst>
              <a:gd name="adj" fmla="val 2492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48975" y="2247900"/>
            <a:ext cx="6096000" cy="561975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48975" y="2800350"/>
            <a:ext cx="609600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7575" y="2466975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87125" y="2466975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96675" y="2466975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20525" y="2400300"/>
            <a:ext cx="28917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checkout.component.html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34725" y="3076575"/>
            <a:ext cx="5707380" cy="19579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(change)=</a:t>
            </a:r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"onCustomerTypeChange($event.target.value)" </a:t>
            </a:r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 </a:t>
            </a: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"regular" </a:t>
            </a:r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&gt;Regular&lt;/option&gt;</a:t>
            </a: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 </a:t>
            </a: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"vip" </a:t>
            </a:r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&gt;VIP&lt;/option&gt;</a:t>
            </a: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endParaRPr lang="en-US" sz="1575" dirty="0"/>
          </a:p>
          <a:p>
            <a:pPr algn="l" indent="0" marL="0">
              <a:lnSpc>
                <a:spcPct val="146087"/>
              </a:lnSpc>
              <a:buNone/>
            </a:pPr>
            <a:r>
              <a:rPr lang="en-US" sz="157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&lt;p&gt;Total:  &lt;/p&gt;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3811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· quando evitar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10231A"/>
          </a:solidFill>
          <a:ln w="9525">
            <a:solidFill>
              <a:srgbClr val="1E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02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quando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02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Existem várias variações de uma regra (preço, validação, ordenação).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002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do algoritmo depende de um contexto que muda em runtime.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00225" y="58102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quer eliminar um if/switch que cresce a cada nova regra.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107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2A1216"/>
          </a:solidFill>
          <a:ln w="9525">
            <a:solidFill>
              <a:srgbClr val="3A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74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quando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774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existe uma variação e não há indício de que vai mudar.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774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criar classes supera a complexidade da regra atual.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77425" y="58102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troca de estratégia nunca acontece em tempo de execução.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952500"/>
            <a:ext cx="1695450" cy="447675"/>
          </a:xfrm>
          <a:prstGeom prst="roundRect">
            <a:avLst>
              <a:gd name="adj" fmla="val 50000"/>
            </a:avLst>
          </a:prstGeom>
          <a:solidFill>
            <a:srgbClr val="2A2412"/>
          </a:solidFill>
          <a:ln w="9525">
            <a:solidFill>
              <a:srgbClr val="3F37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2575" y="1038225"/>
            <a:ext cx="1333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Criacional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219450" y="1038225"/>
            <a:ext cx="20704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3 DE 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33500" y="1628775"/>
            <a:ext cx="171831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3076575"/>
            <a:ext cx="760333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a criação de objetos em um único ponto, escondendo do consumidor qual classe concreta será instanciada.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33500" y="4876800"/>
            <a:ext cx="28575" cy="1171575"/>
          </a:xfrm>
          <a:prstGeom prst="rect">
            <a:avLst/>
          </a:prstGeom>
          <a:solidFill>
            <a:srgbClr val="E8394F"/>
          </a:solidFill>
          <a:ln/>
        </p:spPr>
      </p:sp>
      <p:sp>
        <p:nvSpPr>
          <p:cNvPr id="8" name="Text 6"/>
          <p:cNvSpPr/>
          <p:nvPr/>
        </p:nvSpPr>
        <p:spPr>
          <a:xfrm>
            <a:off x="1628775" y="4876800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ANALOGIA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28775" y="5248275"/>
            <a:ext cx="72991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fábrica de notificações que monta o envio certo — e-mail, SMS ou push — a partir de um tipo.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6391275"/>
            <a:ext cx="760333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Angular: um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um método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devolve a instância correta.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844338" y="4638675"/>
            <a:ext cx="2838450" cy="695325"/>
          </a:xfrm>
          <a:prstGeom prst="roundRect">
            <a:avLst>
              <a:gd name="adj" fmla="val 19178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34863" y="4838700"/>
            <a:ext cx="21425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AlertsComponent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87363" y="5505450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668893" y="6029325"/>
            <a:ext cx="5189339" cy="714375"/>
          </a:xfrm>
          <a:prstGeom prst="roundRect">
            <a:avLst>
              <a:gd name="adj" fmla="val 18667"/>
            </a:avLst>
          </a:prstGeom>
          <a:solidFill>
            <a:srgbClr val="3A1420"/>
          </a:solidFill>
          <a:ln w="19050">
            <a:solidFill>
              <a:srgbClr val="E839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8943" y="6238875"/>
            <a:ext cx="4544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NotificationFactory.create(type)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87363" y="6915150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62108" y="7439025"/>
            <a:ext cx="2208014" cy="523875"/>
          </a:xfrm>
          <a:prstGeom prst="roundRect">
            <a:avLst>
              <a:gd name="adj" fmla="val 21818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3083" y="7581900"/>
            <a:ext cx="192226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EmailNotification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2322522" y="7439025"/>
            <a:ext cx="1990725" cy="523875"/>
          </a:xfrm>
          <a:prstGeom prst="roundRect">
            <a:avLst>
              <a:gd name="adj" fmla="val 21818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03497" y="7581900"/>
            <a:ext cx="1704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SmsNotification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4465647" y="7439025"/>
            <a:ext cx="2099370" cy="523875"/>
          </a:xfrm>
          <a:prstGeom prst="roundRect">
            <a:avLst>
              <a:gd name="adj" fmla="val 21818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46622" y="7581900"/>
            <a:ext cx="18136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PushNotification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 · IMPLEMENTAÇÃO EM ANGULAR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ponto único de criação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5621000" cy="7381875"/>
          </a:xfrm>
          <a:prstGeom prst="roundRect">
            <a:avLst>
              <a:gd name="adj" fmla="val 2065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15601950" cy="590550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28925"/>
            <a:ext cx="1560195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" y="247650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809750" y="247650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8825" y="247650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81250" y="2400300"/>
            <a:ext cx="31810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notification-factory.ts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24025" y="3143250"/>
            <a:ext cx="15308009" cy="83683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Injectable }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'@angular/core'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send(message: string): void; }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EmailNotification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send(message: string) { console.log(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'Enviando e-mail:'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message);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SmsNotification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send(message: string) { console.log(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'Enviando SMS:'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message);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PushNotification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send(message: string) { console.log(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'Enviando push:'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message);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NotificationType =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'sms'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'push'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providedIn: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NotificationFactory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create(type: NotificationType): Notification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(type) {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EmailNotification();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'sms'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SmsNotification();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'push'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</a:t>
            </a:r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PushNotification();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50" dirty="0"/>
          </a:p>
          <a:p>
            <a:pPr algn="l" indent="0" marL="0">
              <a:lnSpc>
                <a:spcPct val="12496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 · USO NO COMPONENTE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consumidor nunca faz "new" diretamente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2211050" cy="6178153"/>
          </a:xfrm>
          <a:prstGeom prst="roundRect">
            <a:avLst>
              <a:gd name="adj" fmla="val 2467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12192000" cy="590550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28925"/>
            <a:ext cx="1219200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" y="247650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809750" y="247650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8825" y="247650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81250" y="2400300"/>
            <a:ext cx="26278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alerts.component.ts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24025" y="3143250"/>
            <a:ext cx="11795760" cy="49970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selector: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'app-alerts'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templateUrl: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'./alerts.component.html'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AlertsComponent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factory: NotificationFactory) {}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notify(channel: NotificationType, message: string) {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 = this.factory.create(channel);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notification.send(message);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onOrderConfirmed() {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this.notify( 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'Seu pedido foi confirmado!'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this.notify( 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'push'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 confirmado' </a:t>
            </a:r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3811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· quando evitar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10231A"/>
          </a:solidFill>
          <a:ln w="9525">
            <a:solidFill>
              <a:srgbClr val="1E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02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quando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02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criação do objeto depende de um tipo ou configuração dinâmica.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002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quer desacoplar o consumidor das classes concretas.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00225" y="5810250"/>
            <a:ext cx="72713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Novas variações tendem a aparecer com o tempo.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107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2A1216"/>
          </a:solidFill>
          <a:ln w="9525">
            <a:solidFill>
              <a:srgbClr val="3A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74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quando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774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existe uma implementação e não há sinal de que vai crescer.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774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Injeção direta do Angular já resolve sem indireção extra.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77425" y="58102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fábrica só embrulha um "new" sem nenhuma decisão real.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952500"/>
            <a:ext cx="1695450" cy="447675"/>
          </a:xfrm>
          <a:prstGeom prst="roundRect">
            <a:avLst>
              <a:gd name="adj" fmla="val 50000"/>
            </a:avLst>
          </a:prstGeom>
          <a:solidFill>
            <a:srgbClr val="12232A"/>
          </a:solidFill>
          <a:ln w="9525">
            <a:solidFill>
              <a:srgbClr val="1C3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2575" y="1038225"/>
            <a:ext cx="1333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219450" y="1038225"/>
            <a:ext cx="20704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4 DE 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33500" y="1628775"/>
            <a:ext cx="171831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3076575"/>
            <a:ext cx="760333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 a interface de uma classe existente em outra que o cliente espera, sem alterar o código de nenhum dos dois lados.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33500" y="4876800"/>
            <a:ext cx="28575" cy="1171575"/>
          </a:xfrm>
          <a:prstGeom prst="rect">
            <a:avLst/>
          </a:prstGeom>
          <a:solidFill>
            <a:srgbClr val="E8394F"/>
          </a:solidFill>
          <a:ln/>
        </p:spPr>
      </p:sp>
      <p:sp>
        <p:nvSpPr>
          <p:cNvPr id="8" name="Text 6"/>
          <p:cNvSpPr/>
          <p:nvPr/>
        </p:nvSpPr>
        <p:spPr>
          <a:xfrm>
            <a:off x="1628775" y="4876800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ANALOGIA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28775" y="5248275"/>
            <a:ext cx="72991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adaptador de tomada: encaixa um plugue de formato diferente sem mexer na tomada nem no aparelho.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6391275"/>
            <a:ext cx="760333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Angular: uma classe que implementa a interface esperada pela app e, por trás, chama o SDK ou API incompatível.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286083" y="4652963"/>
            <a:ext cx="3954810" cy="619125"/>
          </a:xfrm>
          <a:prstGeom prst="roundRect">
            <a:avLst>
              <a:gd name="adj" fmla="val 21538"/>
            </a:avLst>
          </a:prstGeom>
          <a:ln w="19050">
            <a:solidFill>
              <a:srgbClr val="2A2E3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628983" y="4824413"/>
            <a:ext cx="33876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PaymentGateway (interface)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187363" y="5443538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91913" y="5967413"/>
            <a:ext cx="3543300" cy="714375"/>
          </a:xfrm>
          <a:prstGeom prst="roundRect">
            <a:avLst>
              <a:gd name="adj" fmla="val 18667"/>
            </a:avLst>
          </a:prstGeom>
          <a:solidFill>
            <a:srgbClr val="3A1420"/>
          </a:solidFill>
          <a:ln w="19050">
            <a:solidFill>
              <a:srgbClr val="E839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91963" y="6176963"/>
            <a:ext cx="28494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LegacyPaymentAdapter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87363" y="6853238"/>
            <a:ext cx="228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025188" y="7377113"/>
            <a:ext cx="4476750" cy="571500"/>
          </a:xfrm>
          <a:prstGeom prst="roundRect">
            <a:avLst>
              <a:gd name="adj" fmla="val 20000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63312" y="7539038"/>
            <a:ext cx="41348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LegacyPaymentSdk (API incompatível)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 · IMPLEMENTAÇÃO EM ANGULAR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Compatibilizando um SDK legado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5621000" cy="7381875"/>
          </a:xfrm>
          <a:prstGeom prst="roundRect">
            <a:avLst>
              <a:gd name="adj" fmla="val 2065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15601950" cy="590550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28925"/>
            <a:ext cx="1560195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" y="247650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809750" y="247650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8825" y="247650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81250" y="2400300"/>
            <a:ext cx="34575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legacy-payment.adapter.ts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24025" y="3143250"/>
            <a:ext cx="15308009" cy="7169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Injectable }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'@angular/core'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PaymentGateway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charge(amountCents: number, currency: string): Promise&lt;boolean&gt;;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SDK de terceiros, com API incompatível (baseada em callback)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LegacyPaymentSdk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makePayment(cents: number, curr: string, cb: (ok: boolean) =&gt; void) {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cb(true), 300);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providedIn: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LegacyPaymentAdapter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PaymentGateway {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legacySdk: LegacyPaymentSdk) {}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charge(amountCents: number, currency: string): Promise&lt;boolean&gt; {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</a:t>
            </a:r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Promise((resolve) =&gt; {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this.legacySdk.makePayment(amountCents, currency, resolve);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25" dirty="0"/>
          </a:p>
          <a:p>
            <a:pPr algn="l" indent="0" marL="0">
              <a:lnSpc>
                <a:spcPct val="130923"/>
              </a:lnSpc>
              <a:buNone/>
            </a:pPr>
            <a:r>
              <a:rPr lang="en-US" sz="1725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 · USO NO COMPONENTE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85875"/>
            <a:ext cx="171831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componente só conhece a interface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3354050" cy="6248400"/>
          </a:xfrm>
          <a:prstGeom prst="roundRect">
            <a:avLst>
              <a:gd name="adj" fmla="val 2439"/>
            </a:avLst>
          </a:prstGeom>
          <a:solidFill>
            <a:srgbClr val="1A1D2B"/>
          </a:solidFill>
          <a:ln w="9525">
            <a:solidFill>
              <a:srgbClr val="2A2E3F"/>
            </a:solidFill>
            <a:prstDash val="solid"/>
          </a:ln>
          <a:effectLst>
            <a:outerShdw sx="100000" sy="100000" kx="0" ky="0" algn="bl" rotWithShape="0" blurRad="571500" dist="190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3025" y="2247900"/>
            <a:ext cx="13335000" cy="590550"/>
          </a:xfrm>
          <a:prstGeom prst="rect">
            <a:avLst/>
          </a:prstGeom>
          <a:solidFill>
            <a:srgbClr val="20232F"/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828925"/>
            <a:ext cx="13335000" cy="9525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" y="247650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809750" y="247650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8825" y="247650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2381250" y="2400300"/>
            <a:ext cx="29043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checkout.component.ts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24025" y="3143250"/>
            <a:ext cx="12973050" cy="5067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PAYMENT_GATEWAY =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InjectionToken&lt;PaymentGateway&gt;(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'PAYMENT_GATEWAY'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providers do módulo (ou de um componente standalone)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 [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provide: PAYMENT_GATEWAY, useClass: LegacyPaymentAdapter }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selector: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'app-checkout'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7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CheckoutComponent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(PAYMENT_GATEWAY)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gateway: PaymentGateway) {}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pay(amount: number) {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=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this.gateway.charge(amount * 100,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'BRL'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console.log(ok ?  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'Pagamento aprovado'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F5D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'Falha no pagamento' 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D7D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3811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· quando evitar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10231A"/>
          </a:solidFill>
          <a:ln w="9525">
            <a:solidFill>
              <a:srgbClr val="1E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02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quando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02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precisa integrar um SDK, lib externa ou API legada.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002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interface externa é incompatível com o contrato da sua app.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00225" y="58102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pode (ou não deve) alterar o código de nenhum dos dois lados.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10700" y="2571750"/>
            <a:ext cx="7543800" cy="6953250"/>
          </a:xfrm>
          <a:prstGeom prst="roundRect">
            <a:avLst>
              <a:gd name="adj" fmla="val 2740"/>
            </a:avLst>
          </a:prstGeom>
          <a:solidFill>
            <a:srgbClr val="2A1216"/>
          </a:solidFill>
          <a:ln w="9525">
            <a:solidFill>
              <a:srgbClr val="3A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7425" y="3038475"/>
            <a:ext cx="7271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quando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77425" y="371475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controla os dois lados e pode padronizar a interface direto.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77425" y="4762500"/>
            <a:ext cx="68086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adaptador só duplica a API original sem resolver incompatibilidade real.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RECAPITULANDO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3811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padrões, lado a lado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3076575"/>
            <a:ext cx="15621000" cy="19050"/>
          </a:xfrm>
          <a:prstGeom prst="rect">
            <a:avLst/>
          </a:prstGeom>
          <a:solidFill>
            <a:srgbClr val="2A2E3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71750"/>
            <a:ext cx="31820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226272" y="2571750"/>
            <a:ext cx="31820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19045" y="2571750"/>
            <a:ext cx="50912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 QUE RESOLVE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747450" y="2571750"/>
            <a:ext cx="5727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IDIOMA EM ANGULAR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333500" y="43910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3567113"/>
            <a:ext cx="3182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26272" y="3571875"/>
            <a:ext cx="3182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19045" y="3400425"/>
            <a:ext cx="47672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 múltiplos serviços por trás de uma interface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747450" y="3605213"/>
            <a:ext cx="5727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orquestrando outros services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536257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705350"/>
            <a:ext cx="3182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26272" y="4710113"/>
            <a:ext cx="3182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8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Comportamental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119045" y="4710113"/>
            <a:ext cx="50912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algoritmos em tempo de execução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747450" y="4743450"/>
            <a:ext cx="5727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+ implementação injetada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33500" y="63341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5676900"/>
            <a:ext cx="3182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226272" y="5681663"/>
            <a:ext cx="3182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D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Criacional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119045" y="5681663"/>
            <a:ext cx="50912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a criação de objetos por tipo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747450" y="5715000"/>
            <a:ext cx="5727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com método create()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33500" y="6815138"/>
            <a:ext cx="3182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26272" y="6819900"/>
            <a:ext cx="3182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Estrutural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119045" y="6648450"/>
            <a:ext cx="47672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7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Compatibiliza uma interface externa incompatível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747450" y="6853238"/>
            <a:ext cx="5727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2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envolvendo SDK/API externa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83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3811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 aprofundar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647950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943225"/>
            <a:ext cx="627888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Patterns: Elements of Reusable Object-Oriented Software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34300" y="2952750"/>
            <a:ext cx="54857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Gang of Four — a origem dos quatro padrões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9338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229100"/>
            <a:ext cx="6705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Refactoring.Guru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34300" y="4238625"/>
            <a:ext cx="66309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visual e interativo de todos os padrões clássicos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333500" y="486727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162550"/>
            <a:ext cx="6705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Patterns.dev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34300" y="5172075"/>
            <a:ext cx="65469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modernos aplicados a JavaScript e frontend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3500" y="673417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33500" y="5800725"/>
            <a:ext cx="15621000" cy="9525"/>
          </a:xfrm>
          <a:prstGeom prst="rect">
            <a:avLst/>
          </a:prstGeom>
          <a:solidFill>
            <a:srgbClr val="232633">
              <a:alpha val="2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6096000"/>
            <a:ext cx="6705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oficial do Angular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34300" y="6105525"/>
            <a:ext cx="81349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 — a base que viabiliza todos esses padrões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500" y="-2476500"/>
            <a:ext cx="7239000" cy="7239000"/>
          </a:xfrm>
          <a:prstGeom prst="ellipse">
            <a:avLst/>
          </a:prstGeom>
          <a:gradFill rotWithShape="1">
            <a:gsLst>
              <a:gs pos="0">
                <a:srgbClr val="E8394F">
                  <a:alpha val="22000"/>
                </a:srgbClr>
              </a:gs>
              <a:gs pos="70000">
                <a:srgbClr val="E8394F">
                  <a:alpha val="0"/>
                </a:srgbClr>
              </a:gs>
            </a:gsLst>
            <a:path path="circle">
              <a:fillToRect l="30000" t="30000" r="7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000280" y="3857625"/>
            <a:ext cx="471602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653213" y="5095875"/>
            <a:ext cx="54797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2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 · Strategy · Factory · Adapter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79941" y="6086475"/>
            <a:ext cx="12041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2026-07-21T12:03:11Z</dcterms:created>
  <dcterms:modified xsi:type="dcterms:W3CDTF">2026-07-21T12:03:11Z</dcterms:modified>
</cp:coreProperties>
</file>
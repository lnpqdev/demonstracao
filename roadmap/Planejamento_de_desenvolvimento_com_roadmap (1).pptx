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41 cards do board viraram 21 histórias completas, cada uma com dor, critérios de aceite, DoR e DoD.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Critério de agrupamento e o formato aplicado a todas as histórias.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Cinco épicos. A cor de cada um se repete nos slides de história.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21 histórias distribuídas nas três ondas de três semanas.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existe uma conta AWS dedicada nem convenção de nomes acordada. Cada peça criada agora nasce em ambiente compartilhado e com nome improvisado, o que gera retrabalho de migração e dificulta rastrear custo por produto.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Backend e frontend precisam começar ao mesmo tempo, mas sem contrato fechado cada lado assume um formato de resposta diferente e a divergência só aparece na integração, no fim do projeto.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 os gateways não há porta de entrada para a jornada. Hoje as chamadas não têm ponto de controle de autenticação, throttling nem versionamento de contrato.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 NLB, ALB e VPC Link o gateway não alcança os containers em rede privada, e expor os serviços publicamente não é opção.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há onde executar as aplicações. Sem cluster e containers, todo o desenvolvimento de backend fica sem ambiente de verificação.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aplicações precisam de credenciais e segredos para acessar dependências, e hoje não há nem aplicação registrada no portal de credenciais nem cofre configurado. Sem cache, cada chamada repetida vai até a origem.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existe onde publicar o frontend nem casca de microfrontend registrada no host, então nenhum componente pode ser visto fora da máquina do desenvolvedor.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aplicação implementaria sua própria camada de chamada HTTPS, duplicando tratamento de erro, timeout e retry — e divergindo com o tempo.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jornada não consegue apresentar os fundos disponíveis ao cliente porque não existe endpoint que exponha esses dados no formato esperado pela tela.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aceite de termos é obrigatório na jornada e hoje não há endpoint que devolva o texto vigente nem registre o aceite do cliente.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jornada precisa adaptar o que mostra ao perfil do cliente, mas essa informação não está exposta em nenhum endpoint próprio.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Nem tudo que a tela precisa vem da peça habilitadora. Sem uma camada de composição, o frontend faria várias chamadas e montaria regra de negócio no navegador.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primeira tela é o ponto de entrada da jornada e hoje não existe. Sem ela não há como validar o fluxo com o negócio nem medir conversão.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 interface de aceite, o cliente não consegue avançar na jornada e o registro exigido pelo negócio não acontece.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 tagueamento a jornada entra em produção cega: não há como medir onde o cliente abandona nem justificar melhorias com dado.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frontend depende do backend para começar, e o backend depende de massas para ser testado. Sem virtualização, as duas trilhas viram uma fila.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 suíte automatizada, cada entrega exige regressão manual, o que encarece as ondas seguintes e atrasa a liberação.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Até esta história a jornada roda sobre dados virtualizados. Sem a integração real, nada do que foi construído entrega valor ao cliente.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jornada movimenta dados sensíveis e não pode ir a produção sem avaliação de segurança. A fila do time de segurança costuma ser longa.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 telemetria, qualquer incidente vira investigação manual em logs sem formato comum, e o tempo de diagnóstico se estende.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Telemetria sem painel e sem alarme não é observabilidade: a falha continua sendo descoberta pelo cliente antes do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Critérios que valem para toda história, além dos específicos de cada uma.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Fechamento: refinar, votar e travar o escopo da Onda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440" y="952440"/>
            <a:ext cx="1143000" cy="95190"/>
          </a:xfrm>
          <a:prstGeom prst="rect">
            <a:avLst/>
          </a:prstGeom>
          <a:solidFill>
            <a:srgbClr val="C99A2E"/>
          </a:solidFill>
          <a:ln/>
        </p:spPr>
      </p:sp>
      <p:sp>
        <p:nvSpPr>
          <p:cNvPr id="3" name="Shape 1"/>
          <p:cNvSpPr/>
          <p:nvPr/>
        </p:nvSpPr>
        <p:spPr>
          <a:xfrm>
            <a:off x="2209740" y="952440"/>
            <a:ext cx="1143000" cy="95190"/>
          </a:xfrm>
          <a:prstGeom prst="rect">
            <a:avLst/>
          </a:prstGeom>
          <a:solidFill>
            <a:srgbClr val="5C8FB8"/>
          </a:solidFill>
          <a:ln/>
        </p:spPr>
      </p:sp>
      <p:sp>
        <p:nvSpPr>
          <p:cNvPr id="4" name="Shape 2"/>
          <p:cNvSpPr/>
          <p:nvPr/>
        </p:nvSpPr>
        <p:spPr>
          <a:xfrm>
            <a:off x="3467040" y="952440"/>
            <a:ext cx="1143000" cy="95190"/>
          </a:xfrm>
          <a:prstGeom prst="rect">
            <a:avLst/>
          </a:prstGeom>
          <a:solidFill>
            <a:srgbClr val="D9796B"/>
          </a:solidFill>
          <a:ln/>
        </p:spPr>
      </p:sp>
      <p:sp>
        <p:nvSpPr>
          <p:cNvPr id="5" name="Shape 3"/>
          <p:cNvSpPr/>
          <p:nvPr/>
        </p:nvSpPr>
        <p:spPr>
          <a:xfrm>
            <a:off x="4724340" y="952440"/>
            <a:ext cx="1143000" cy="95190"/>
          </a:xfrm>
          <a:prstGeom prst="rect">
            <a:avLst/>
          </a:prstGeom>
          <a:solidFill>
            <a:srgbClr val="79A98A"/>
          </a:solidFill>
          <a:ln/>
        </p:spPr>
      </p:sp>
      <p:sp>
        <p:nvSpPr>
          <p:cNvPr id="6" name="Text 4"/>
          <p:cNvSpPr/>
          <p:nvPr/>
        </p:nvSpPr>
        <p:spPr>
          <a:xfrm>
            <a:off x="952440" y="3505259"/>
            <a:ext cx="1802143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351" kern="0" dirty="0">
                <a:solidFill>
                  <a:srgbClr val="9AA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JORNADA TRANSACIONAL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952440" y="4168199"/>
            <a:ext cx="14668368" cy="11068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048"/>
              </a:lnSpc>
              <a:buNone/>
            </a:pPr>
            <a:r>
              <a:rPr lang="en-US" sz="8250" b="1" spc="-247" kern="0" dirty="0">
                <a:solidFill>
                  <a:srgbClr val="F5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Histórias de usuário</a:t>
            </a:r>
            <a:endParaRPr lang="en-US" sz="8250" dirty="0"/>
          </a:p>
        </p:txBody>
      </p:sp>
      <p:sp>
        <p:nvSpPr>
          <p:cNvPr id="8" name="Text 6"/>
          <p:cNvSpPr/>
          <p:nvPr/>
        </p:nvSpPr>
        <p:spPr>
          <a:xfrm>
            <a:off x="952440" y="5579804"/>
            <a:ext cx="11576623" cy="10153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41"/>
              </a:lnSpc>
              <a:buNone/>
            </a:pPr>
            <a:r>
              <a:rPr lang="en-US" sz="2850" dirty="0">
                <a:solidFill>
                  <a:srgbClr val="C8CC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Dor, narrativa, critérios de aceite, Definition of Ready e Definition of Done para cada entrega da jornada.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952440" y="9014519"/>
            <a:ext cx="1960799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9AA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histórias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3496865" y="9014519"/>
            <a:ext cx="343144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9AA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41 cards consolidados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7378243" y="9014519"/>
            <a:ext cx="3921597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9AA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112 pontos de referência</a:t>
            </a:r>
            <a:endParaRPr lang="en-US" sz="1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440" y="857250"/>
            <a:ext cx="18021430" cy="735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96" kern="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os cards viraram histórias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952440" y="1973461"/>
            <a:ext cx="8058149" cy="24912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952440" y="1973461"/>
            <a:ext cx="8058149" cy="68580"/>
          </a:xfrm>
          <a:prstGeom prst="rect">
            <a:avLst/>
          </a:prstGeom>
          <a:solidFill>
            <a:srgbClr val="79A98A"/>
          </a:solidFill>
          <a:ln/>
        </p:spPr>
      </p:sp>
      <p:sp>
        <p:nvSpPr>
          <p:cNvPr id="5" name="Text 3"/>
          <p:cNvSpPr/>
          <p:nvPr/>
        </p:nvSpPr>
        <p:spPr>
          <a:xfrm>
            <a:off x="1333381" y="2422981"/>
            <a:ext cx="8025895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Cards unidos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333381" y="2963942"/>
            <a:ext cx="7515157" cy="1157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988"/>
              </a:lnSpc>
              <a:buNone/>
            </a:pPr>
            <a:r>
              <a:rPr lang="en-US" sz="2100" dirty="0">
                <a:solidFill>
                  <a:srgbClr val="4A50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só entregam valor em conjunto: os quatro repositórios de gateway com o Caronte, o componente de tela com sua integração, telemetria com padronização de logs.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9277230" y="1973461"/>
            <a:ext cx="8058328" cy="24912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9277230" y="1973461"/>
            <a:ext cx="8058328" cy="68580"/>
          </a:xfrm>
          <a:prstGeom prst="rect">
            <a:avLst/>
          </a:prstGeom>
          <a:solidFill>
            <a:srgbClr val="D9796B"/>
          </a:solidFill>
          <a:ln/>
        </p:spPr>
      </p:sp>
      <p:sp>
        <p:nvSpPr>
          <p:cNvPr id="9" name="Text 7"/>
          <p:cNvSpPr/>
          <p:nvPr/>
        </p:nvSpPr>
        <p:spPr>
          <a:xfrm>
            <a:off x="9658171" y="2422981"/>
            <a:ext cx="8026092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Cards mantidos separados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9658171" y="2963942"/>
            <a:ext cx="7515340" cy="1157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988"/>
              </a:lnSpc>
              <a:buNone/>
            </a:pPr>
            <a:r>
              <a:rPr lang="en-US" sz="2100" dirty="0">
                <a:solidFill>
                  <a:srgbClr val="4A50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podem ser trabalhados por pessoas diferentes ao mesmo tempo: fundos, termos e perfil seguem como histórias independentes para não travar o paralelismo.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52440" y="4883646"/>
            <a:ext cx="18021430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FORMATO DE CADA HISTÓRIA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52440" y="5382637"/>
            <a:ext cx="3124319" cy="1573411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13" name="Text 11"/>
          <p:cNvSpPr/>
          <p:nvPr/>
        </p:nvSpPr>
        <p:spPr>
          <a:xfrm>
            <a:off x="1219081" y="5649277"/>
            <a:ext cx="2850142" cy="369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5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219081" y="6095047"/>
            <a:ext cx="2668769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043"/>
              </a:lnSpc>
              <a:buNone/>
            </a:pPr>
            <a:r>
              <a:rPr lang="en-US" sz="1800" dirty="0">
                <a:solidFill>
                  <a:srgbClr val="C8CC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problema real que existe hoje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267140" y="5382637"/>
            <a:ext cx="3124319" cy="1573411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16" name="Text 14"/>
          <p:cNvSpPr/>
          <p:nvPr/>
        </p:nvSpPr>
        <p:spPr>
          <a:xfrm>
            <a:off x="4533781" y="5649277"/>
            <a:ext cx="2850142" cy="369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5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História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4533781" y="6095047"/>
            <a:ext cx="2850142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043"/>
              </a:lnSpc>
              <a:buNone/>
            </a:pPr>
            <a:r>
              <a:rPr lang="en-US" sz="1800" dirty="0">
                <a:solidFill>
                  <a:srgbClr val="C8CC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/ quero / para que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581840" y="5382637"/>
            <a:ext cx="3124319" cy="1573411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19" name="Text 17"/>
          <p:cNvSpPr/>
          <p:nvPr/>
        </p:nvSpPr>
        <p:spPr>
          <a:xfrm>
            <a:off x="7848480" y="5649277"/>
            <a:ext cx="2850142" cy="369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5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Aceite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7848480" y="6095047"/>
            <a:ext cx="2668769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043"/>
              </a:lnSpc>
              <a:buNone/>
            </a:pPr>
            <a:r>
              <a:rPr lang="en-US" sz="1800" dirty="0">
                <a:solidFill>
                  <a:srgbClr val="C8CC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precisa ser verdade no fim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0896540" y="5382637"/>
            <a:ext cx="3124319" cy="1573411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22" name="Text 20"/>
          <p:cNvSpPr/>
          <p:nvPr/>
        </p:nvSpPr>
        <p:spPr>
          <a:xfrm>
            <a:off x="11163180" y="5649277"/>
            <a:ext cx="2850142" cy="369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5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11163180" y="6095047"/>
            <a:ext cx="2668769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043"/>
              </a:lnSpc>
              <a:buNone/>
            </a:pPr>
            <a:r>
              <a:rPr lang="en-US" sz="1800" dirty="0">
                <a:solidFill>
                  <a:srgbClr val="C8CC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precisa existir antes de começar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4211240" y="5382637"/>
            <a:ext cx="3124319" cy="1573411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25" name="Text 23"/>
          <p:cNvSpPr/>
          <p:nvPr/>
        </p:nvSpPr>
        <p:spPr>
          <a:xfrm>
            <a:off x="14477880" y="5649277"/>
            <a:ext cx="2850142" cy="369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5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DoD</a:t>
            </a:r>
            <a:endParaRPr lang="en-US" sz="2250" dirty="0"/>
          </a:p>
        </p:txBody>
      </p:sp>
      <p:sp>
        <p:nvSpPr>
          <p:cNvPr id="26" name="Text 24"/>
          <p:cNvSpPr/>
          <p:nvPr/>
        </p:nvSpPr>
        <p:spPr>
          <a:xfrm>
            <a:off x="14477880" y="6095047"/>
            <a:ext cx="2850142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043"/>
              </a:lnSpc>
              <a:buNone/>
            </a:pPr>
            <a:r>
              <a:rPr lang="en-US" sz="1800" dirty="0">
                <a:solidFill>
                  <a:srgbClr val="C8CC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fecha a entrega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881" y="666690"/>
            <a:ext cx="18440661" cy="735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96" kern="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Cinco épicos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761881" y="1668601"/>
            <a:ext cx="3200400" cy="7951708"/>
          </a:xfrm>
          <a:prstGeom prst="rect">
            <a:avLst/>
          </a:prstGeom>
          <a:solidFill>
            <a:srgbClr val="EEDFB6"/>
          </a:solidFill>
          <a:ln/>
        </p:spPr>
      </p:sp>
      <p:sp>
        <p:nvSpPr>
          <p:cNvPr id="4" name="Text 2"/>
          <p:cNvSpPr/>
          <p:nvPr/>
        </p:nvSpPr>
        <p:spPr>
          <a:xfrm>
            <a:off x="1009412" y="1916132"/>
            <a:ext cx="2975872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5C5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ÉPICO A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009412" y="2304752"/>
            <a:ext cx="2786498" cy="6992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770"/>
              </a:lnSpc>
              <a:buNone/>
            </a:pPr>
            <a:r>
              <a:rPr lang="en-US" sz="2325" b="1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Fundação de plataforma</a:t>
            </a:r>
            <a:endParaRPr lang="en-US" sz="2325" dirty="0"/>
          </a:p>
        </p:txBody>
      </p:sp>
      <p:sp>
        <p:nvSpPr>
          <p:cNvPr id="6" name="Text 4"/>
          <p:cNvSpPr/>
          <p:nvPr/>
        </p:nvSpPr>
        <p:spPr>
          <a:xfrm>
            <a:off x="1009412" y="3080206"/>
            <a:ext cx="2786498" cy="5956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87"/>
              </a:lnSpc>
              <a:buNone/>
            </a:pPr>
            <a:r>
              <a:rPr lang="en-US" sz="180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HU-01 · Conta AWS e padrões de nomenclatura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9412" y="3704391"/>
            <a:ext cx="2786498" cy="5956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87"/>
              </a:lnSpc>
              <a:buNone/>
            </a:pPr>
            <a:r>
              <a:rPr lang="en-US" sz="180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HU-02 · Contratos de API e estratégia de toggles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9412" y="4328576"/>
            <a:ext cx="2786498" cy="8744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87"/>
              </a:lnSpc>
              <a:buNone/>
            </a:pPr>
            <a:r>
              <a:rPr lang="en-US" sz="180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HU-03 · Gateways de negócio e BFF provisionados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9412" y="5231546"/>
            <a:ext cx="2786498" cy="5956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87"/>
              </a:lnSpc>
              <a:buNone/>
            </a:pPr>
            <a:r>
              <a:rPr lang="en-US" sz="180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HU-04 · Rede e conectividade privada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9412" y="5855732"/>
            <a:ext cx="2786498" cy="8744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87"/>
              </a:lnSpc>
              <a:buNone/>
            </a:pPr>
            <a:r>
              <a:rPr lang="en-US" sz="180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HU-05 · Runtime de containers para BFF e peça habilitadora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09412" y="6758701"/>
            <a:ext cx="2786498" cy="8744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87"/>
              </a:lnSpc>
              <a:buNone/>
            </a:pPr>
            <a:r>
              <a:rPr lang="en-US" sz="180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HU-06 · Credenciais, segredos, cache e configuração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9412" y="7661671"/>
            <a:ext cx="2786498" cy="5956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87"/>
              </a:lnSpc>
              <a:buNone/>
            </a:pPr>
            <a:r>
              <a:rPr lang="en-US" sz="180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HU-07 · Distribuição e casca do frontend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9412" y="8755558"/>
            <a:ext cx="2786498" cy="655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2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histórias · 31 pontos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152662" y="1668601"/>
            <a:ext cx="3200578" cy="7951708"/>
          </a:xfrm>
          <a:prstGeom prst="rect">
            <a:avLst/>
          </a:prstGeom>
          <a:solidFill>
            <a:srgbClr val="BFD8EA"/>
          </a:solidFill>
          <a:ln/>
        </p:spPr>
      </p:sp>
      <p:sp>
        <p:nvSpPr>
          <p:cNvPr id="15" name="Text 13"/>
          <p:cNvSpPr/>
          <p:nvPr/>
        </p:nvSpPr>
        <p:spPr>
          <a:xfrm>
            <a:off x="4400192" y="1916132"/>
            <a:ext cx="2976068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5C5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ÉPICO B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4400192" y="2304752"/>
            <a:ext cx="2786682" cy="6992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770"/>
              </a:lnSpc>
              <a:buNone/>
            </a:pPr>
            <a:r>
              <a:rPr lang="en-US" sz="2325" b="1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Habilitação de dados</a:t>
            </a:r>
            <a:endParaRPr lang="en-US" sz="2325" dirty="0"/>
          </a:p>
        </p:txBody>
      </p:sp>
      <p:sp>
        <p:nvSpPr>
          <p:cNvPr id="17" name="Text 15"/>
          <p:cNvSpPr/>
          <p:nvPr/>
        </p:nvSpPr>
        <p:spPr>
          <a:xfrm>
            <a:off x="4400192" y="3080206"/>
            <a:ext cx="2786682" cy="5956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87"/>
              </a:lnSpc>
              <a:buNone/>
            </a:pPr>
            <a:r>
              <a:rPr lang="en-US" sz="180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HU-08 · Biblioteca de HTTPS endpoints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400192" y="3704391"/>
            <a:ext cx="2786682" cy="8744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87"/>
              </a:lnSpc>
              <a:buNone/>
            </a:pPr>
            <a:r>
              <a:rPr lang="en-US" sz="180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HU-09 · Endpoints de fundos na peça habilitadora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400192" y="4607361"/>
            <a:ext cx="2786682" cy="8744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87"/>
              </a:lnSpc>
              <a:buNone/>
            </a:pPr>
            <a:r>
              <a:rPr lang="en-US" sz="180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HU-10 · Endpoints de termos na peça habilitadora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400192" y="5510331"/>
            <a:ext cx="2786682" cy="5956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87"/>
              </a:lnSpc>
              <a:buNone/>
            </a:pPr>
            <a:r>
              <a:rPr lang="en-US" sz="180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HU-11 · Endpoints de perfil na peça habilitadora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400192" y="6134516"/>
            <a:ext cx="2786682" cy="11532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87"/>
              </a:lnSpc>
              <a:buNone/>
            </a:pPr>
            <a:r>
              <a:rPr lang="en-US" sz="180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HU-12 · BFF com endpoints complementares e cobertura de testes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400192" y="8755558"/>
            <a:ext cx="2786682" cy="655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2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histórias · 31 pontos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7543621" y="1668601"/>
            <a:ext cx="3200578" cy="7951708"/>
          </a:xfrm>
          <a:prstGeom prst="rect">
            <a:avLst/>
          </a:prstGeom>
          <a:solidFill>
            <a:srgbClr val="F0BFB6"/>
          </a:solidFill>
          <a:ln/>
        </p:spPr>
      </p:sp>
      <p:sp>
        <p:nvSpPr>
          <p:cNvPr id="24" name="Text 22"/>
          <p:cNvSpPr/>
          <p:nvPr/>
        </p:nvSpPr>
        <p:spPr>
          <a:xfrm>
            <a:off x="7791152" y="1916132"/>
            <a:ext cx="2976068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5C5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ÉPICO C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7791152" y="2304752"/>
            <a:ext cx="2786682" cy="6992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770"/>
              </a:lnSpc>
              <a:buNone/>
            </a:pPr>
            <a:r>
              <a:rPr lang="en-US" sz="2325" b="1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Experiência da jornada</a:t>
            </a:r>
            <a:endParaRPr lang="en-US" sz="2325" dirty="0"/>
          </a:p>
        </p:txBody>
      </p:sp>
      <p:sp>
        <p:nvSpPr>
          <p:cNvPr id="26" name="Text 24"/>
          <p:cNvSpPr/>
          <p:nvPr/>
        </p:nvSpPr>
        <p:spPr>
          <a:xfrm>
            <a:off x="7791152" y="3080206"/>
            <a:ext cx="2786682" cy="5956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87"/>
              </a:lnSpc>
              <a:buNone/>
            </a:pPr>
            <a:r>
              <a:rPr lang="en-US" sz="180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HU-13 · Primeira etapa da jornada transacional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791152" y="3704391"/>
            <a:ext cx="2786682" cy="5956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87"/>
              </a:lnSpc>
              <a:buNone/>
            </a:pPr>
            <a:r>
              <a:rPr lang="en-US" sz="180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HU-14 · Modal de aceite de termos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791152" y="4328576"/>
            <a:ext cx="2786682" cy="5956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87"/>
              </a:lnSpc>
              <a:buNone/>
            </a:pPr>
            <a:r>
              <a:rPr lang="en-US" sz="180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HU-15 · Tagueamento da jornada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791152" y="8755558"/>
            <a:ext cx="2786682" cy="655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2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histórias · 16 pontos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0934580" y="1668601"/>
            <a:ext cx="3200578" cy="7951708"/>
          </a:xfrm>
          <a:prstGeom prst="rect">
            <a:avLst/>
          </a:prstGeom>
          <a:solidFill>
            <a:srgbClr val="C6DFCD"/>
          </a:solidFill>
          <a:ln/>
        </p:spPr>
      </p:sp>
      <p:sp>
        <p:nvSpPr>
          <p:cNvPr id="31" name="Text 29"/>
          <p:cNvSpPr/>
          <p:nvPr/>
        </p:nvSpPr>
        <p:spPr>
          <a:xfrm>
            <a:off x="11182112" y="1916132"/>
            <a:ext cx="2976068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5C5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ÉPICO D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11182112" y="2304752"/>
            <a:ext cx="2786682" cy="6992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770"/>
              </a:lnSpc>
              <a:buNone/>
            </a:pPr>
            <a:r>
              <a:rPr lang="en-US" sz="2325" b="1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Qualidade e integração</a:t>
            </a:r>
            <a:endParaRPr lang="en-US" sz="2325" dirty="0"/>
          </a:p>
        </p:txBody>
      </p:sp>
      <p:sp>
        <p:nvSpPr>
          <p:cNvPr id="33" name="Text 31"/>
          <p:cNvSpPr/>
          <p:nvPr/>
        </p:nvSpPr>
        <p:spPr>
          <a:xfrm>
            <a:off x="11182112" y="3080206"/>
            <a:ext cx="2786682" cy="5956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87"/>
              </a:lnSpc>
              <a:buNone/>
            </a:pPr>
            <a:r>
              <a:rPr lang="en-US" sz="180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HU-16 · Massas de teste e virtualização de endpoints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1182112" y="3704391"/>
            <a:ext cx="2786682" cy="8744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87"/>
              </a:lnSpc>
              <a:buNone/>
            </a:pPr>
            <a:r>
              <a:rPr lang="en-US" sz="180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HU-17 · Cenários e automação de testes (TAAC)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1182112" y="4607361"/>
            <a:ext cx="2786682" cy="5956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87"/>
              </a:lnSpc>
              <a:buNone/>
            </a:pPr>
            <a:r>
              <a:rPr lang="en-US" sz="180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HU-18 · Integração com a Peça Centralizadora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1182112" y="5231546"/>
            <a:ext cx="2786682" cy="5956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87"/>
              </a:lnSpc>
              <a:buNone/>
            </a:pPr>
            <a:r>
              <a:rPr lang="en-US" sz="180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HU-19 · Pacote de segurança e pentest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1182112" y="8755558"/>
            <a:ext cx="2786682" cy="655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2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histórias · 24 pontos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14325540" y="1668601"/>
            <a:ext cx="3200578" cy="7951708"/>
          </a:xfrm>
          <a:prstGeom prst="rect">
            <a:avLst/>
          </a:prstGeom>
          <a:solidFill>
            <a:srgbClr val="EDD9A8"/>
          </a:solidFill>
          <a:ln/>
        </p:spPr>
      </p:sp>
      <p:sp>
        <p:nvSpPr>
          <p:cNvPr id="39" name="Text 37"/>
          <p:cNvSpPr/>
          <p:nvPr/>
        </p:nvSpPr>
        <p:spPr>
          <a:xfrm>
            <a:off x="14573071" y="1916132"/>
            <a:ext cx="2976068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5C5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ÉPICO E</a:t>
            </a:r>
            <a:endParaRPr lang="en-US" sz="1650" dirty="0"/>
          </a:p>
        </p:txBody>
      </p:sp>
      <p:sp>
        <p:nvSpPr>
          <p:cNvPr id="40" name="Text 38"/>
          <p:cNvSpPr/>
          <p:nvPr/>
        </p:nvSpPr>
        <p:spPr>
          <a:xfrm>
            <a:off x="14573071" y="2304752"/>
            <a:ext cx="2976068" cy="3686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770"/>
              </a:lnSpc>
              <a:buNone/>
            </a:pPr>
            <a:r>
              <a:rPr lang="en-US" sz="2325" b="1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Observabilidade</a:t>
            </a:r>
            <a:endParaRPr lang="en-US" sz="2325" dirty="0"/>
          </a:p>
        </p:txBody>
      </p:sp>
      <p:sp>
        <p:nvSpPr>
          <p:cNvPr id="41" name="Text 39"/>
          <p:cNvSpPr/>
          <p:nvPr/>
        </p:nvSpPr>
        <p:spPr>
          <a:xfrm>
            <a:off x="14573071" y="2749629"/>
            <a:ext cx="2786682" cy="5956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87"/>
              </a:lnSpc>
              <a:buNone/>
            </a:pPr>
            <a:r>
              <a:rPr lang="en-US" sz="180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HU-20 · Telemetria e padronização de logs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14573071" y="3373814"/>
            <a:ext cx="2786682" cy="5956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87"/>
              </a:lnSpc>
              <a:buNone/>
            </a:pPr>
            <a:r>
              <a:rPr lang="en-US" sz="180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HU-21 · Dashboards e alarmes operacionais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14573071" y="8755558"/>
            <a:ext cx="2786682" cy="655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2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histórias · 10 pontos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881" y="666690"/>
            <a:ext cx="6054685" cy="735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96" kern="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Distribuição por onda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1766113" y="1021020"/>
            <a:ext cx="633600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112 pontos · 224 horas de referência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61881" y="1649670"/>
            <a:ext cx="5435679" cy="575072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5" name="Text 3"/>
          <p:cNvSpPr/>
          <p:nvPr/>
        </p:nvSpPr>
        <p:spPr>
          <a:xfrm>
            <a:off x="971371" y="1782901"/>
            <a:ext cx="2527566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5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Onda 1 · Fundação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165110" y="1782901"/>
            <a:ext cx="899160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5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36 pts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61881" y="2300823"/>
            <a:ext cx="5435679" cy="78545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761881" y="2300823"/>
            <a:ext cx="57150" cy="785455"/>
          </a:xfrm>
          <a:prstGeom prst="rect">
            <a:avLst/>
          </a:prstGeom>
          <a:solidFill>
            <a:srgbClr val="C99A2E"/>
          </a:solidFill>
          <a:ln/>
        </p:spPr>
      </p:sp>
      <p:sp>
        <p:nvSpPr>
          <p:cNvPr id="9" name="Text 7"/>
          <p:cNvSpPr/>
          <p:nvPr/>
        </p:nvSpPr>
        <p:spPr>
          <a:xfrm>
            <a:off x="971371" y="2396014"/>
            <a:ext cx="73324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HU-01</a:t>
            </a:r>
            <a:endParaRPr lang="en-US" sz="1725" dirty="0"/>
          </a:p>
        </p:txBody>
      </p:sp>
      <p:sp>
        <p:nvSpPr>
          <p:cNvPr id="10" name="Text 8"/>
          <p:cNvSpPr/>
          <p:nvPr/>
        </p:nvSpPr>
        <p:spPr>
          <a:xfrm>
            <a:off x="1761649" y="2396014"/>
            <a:ext cx="4139462" cy="6331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507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 AWS e padrões de nomenclatura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5913774" y="2396014"/>
            <a:ext cx="20764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2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725" dirty="0"/>
          </a:p>
        </p:txBody>
      </p:sp>
      <p:sp>
        <p:nvSpPr>
          <p:cNvPr id="12" name="Shape 10"/>
          <p:cNvSpPr/>
          <p:nvPr/>
        </p:nvSpPr>
        <p:spPr>
          <a:xfrm>
            <a:off x="761881" y="3162359"/>
            <a:ext cx="5435679" cy="78545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761881" y="3162359"/>
            <a:ext cx="57150" cy="785455"/>
          </a:xfrm>
          <a:prstGeom prst="rect">
            <a:avLst/>
          </a:prstGeom>
          <a:solidFill>
            <a:srgbClr val="C99A2E"/>
          </a:solidFill>
          <a:ln/>
        </p:spPr>
      </p:sp>
      <p:sp>
        <p:nvSpPr>
          <p:cNvPr id="14" name="Text 12"/>
          <p:cNvSpPr/>
          <p:nvPr/>
        </p:nvSpPr>
        <p:spPr>
          <a:xfrm>
            <a:off x="971371" y="3257550"/>
            <a:ext cx="73324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HU-02</a:t>
            </a:r>
            <a:endParaRPr lang="en-US" sz="1725" dirty="0"/>
          </a:p>
        </p:txBody>
      </p:sp>
      <p:sp>
        <p:nvSpPr>
          <p:cNvPr id="15" name="Text 13"/>
          <p:cNvSpPr/>
          <p:nvPr/>
        </p:nvSpPr>
        <p:spPr>
          <a:xfrm>
            <a:off x="1761649" y="3257550"/>
            <a:ext cx="4139462" cy="6331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507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Contratos de API e estratégia de toggles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5913774" y="3257550"/>
            <a:ext cx="20764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2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725" dirty="0"/>
          </a:p>
        </p:txBody>
      </p:sp>
      <p:sp>
        <p:nvSpPr>
          <p:cNvPr id="17" name="Shape 15"/>
          <p:cNvSpPr/>
          <p:nvPr/>
        </p:nvSpPr>
        <p:spPr>
          <a:xfrm>
            <a:off x="761881" y="4023896"/>
            <a:ext cx="5435679" cy="78545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761881" y="4023896"/>
            <a:ext cx="57150" cy="785455"/>
          </a:xfrm>
          <a:prstGeom prst="rect">
            <a:avLst/>
          </a:prstGeom>
          <a:solidFill>
            <a:srgbClr val="C99A2E"/>
          </a:solidFill>
          <a:ln/>
        </p:spPr>
      </p:sp>
      <p:sp>
        <p:nvSpPr>
          <p:cNvPr id="19" name="Text 17"/>
          <p:cNvSpPr/>
          <p:nvPr/>
        </p:nvSpPr>
        <p:spPr>
          <a:xfrm>
            <a:off x="971371" y="4119086"/>
            <a:ext cx="73324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HU-03</a:t>
            </a:r>
            <a:endParaRPr lang="en-US" sz="1725" dirty="0"/>
          </a:p>
        </p:txBody>
      </p:sp>
      <p:sp>
        <p:nvSpPr>
          <p:cNvPr id="20" name="Text 18"/>
          <p:cNvSpPr/>
          <p:nvPr/>
        </p:nvSpPr>
        <p:spPr>
          <a:xfrm>
            <a:off x="1761649" y="4119086"/>
            <a:ext cx="4139462" cy="6331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507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Gateways de negócio e BFF provisionados</a:t>
            </a:r>
            <a:endParaRPr lang="en-US" sz="1875" dirty="0"/>
          </a:p>
        </p:txBody>
      </p:sp>
      <p:sp>
        <p:nvSpPr>
          <p:cNvPr id="21" name="Text 19"/>
          <p:cNvSpPr/>
          <p:nvPr/>
        </p:nvSpPr>
        <p:spPr>
          <a:xfrm>
            <a:off x="5913774" y="4119086"/>
            <a:ext cx="20764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2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725" dirty="0"/>
          </a:p>
        </p:txBody>
      </p:sp>
      <p:sp>
        <p:nvSpPr>
          <p:cNvPr id="22" name="Shape 20"/>
          <p:cNvSpPr/>
          <p:nvPr/>
        </p:nvSpPr>
        <p:spPr>
          <a:xfrm>
            <a:off x="761881" y="4885431"/>
            <a:ext cx="5435679" cy="48791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761881" y="4885431"/>
            <a:ext cx="57150" cy="487918"/>
          </a:xfrm>
          <a:prstGeom prst="rect">
            <a:avLst/>
          </a:prstGeom>
          <a:solidFill>
            <a:srgbClr val="C99A2E"/>
          </a:solidFill>
          <a:ln/>
        </p:spPr>
      </p:sp>
      <p:sp>
        <p:nvSpPr>
          <p:cNvPr id="24" name="Text 22"/>
          <p:cNvSpPr/>
          <p:nvPr/>
        </p:nvSpPr>
        <p:spPr>
          <a:xfrm>
            <a:off x="971371" y="4980622"/>
            <a:ext cx="73324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HU-04</a:t>
            </a:r>
            <a:endParaRPr lang="en-US" sz="1725" dirty="0"/>
          </a:p>
        </p:txBody>
      </p:sp>
      <p:sp>
        <p:nvSpPr>
          <p:cNvPr id="25" name="Text 23"/>
          <p:cNvSpPr/>
          <p:nvPr/>
        </p:nvSpPr>
        <p:spPr>
          <a:xfrm>
            <a:off x="1761649" y="4980622"/>
            <a:ext cx="4420784" cy="3356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507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 e conectividade privada</a:t>
            </a:r>
            <a:endParaRPr lang="en-US" sz="1875" dirty="0"/>
          </a:p>
        </p:txBody>
      </p:sp>
      <p:sp>
        <p:nvSpPr>
          <p:cNvPr id="26" name="Text 24"/>
          <p:cNvSpPr/>
          <p:nvPr/>
        </p:nvSpPr>
        <p:spPr>
          <a:xfrm>
            <a:off x="5913774" y="4980622"/>
            <a:ext cx="20764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2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725" dirty="0"/>
          </a:p>
        </p:txBody>
      </p:sp>
      <p:sp>
        <p:nvSpPr>
          <p:cNvPr id="27" name="Shape 25"/>
          <p:cNvSpPr/>
          <p:nvPr/>
        </p:nvSpPr>
        <p:spPr>
          <a:xfrm>
            <a:off x="761881" y="5449431"/>
            <a:ext cx="5435679" cy="78545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761881" y="5449431"/>
            <a:ext cx="57150" cy="785455"/>
          </a:xfrm>
          <a:prstGeom prst="rect">
            <a:avLst/>
          </a:prstGeom>
          <a:solidFill>
            <a:srgbClr val="C99A2E"/>
          </a:solidFill>
          <a:ln/>
        </p:spPr>
      </p:sp>
      <p:sp>
        <p:nvSpPr>
          <p:cNvPr id="29" name="Text 27"/>
          <p:cNvSpPr/>
          <p:nvPr/>
        </p:nvSpPr>
        <p:spPr>
          <a:xfrm>
            <a:off x="971371" y="5544621"/>
            <a:ext cx="73324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HU-05</a:t>
            </a:r>
            <a:endParaRPr lang="en-US" sz="1725" dirty="0"/>
          </a:p>
        </p:txBody>
      </p:sp>
      <p:sp>
        <p:nvSpPr>
          <p:cNvPr id="30" name="Text 28"/>
          <p:cNvSpPr/>
          <p:nvPr/>
        </p:nvSpPr>
        <p:spPr>
          <a:xfrm>
            <a:off x="1761649" y="5544621"/>
            <a:ext cx="4139462" cy="6331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507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de containers para BFF e peça habilitadora</a:t>
            </a:r>
            <a:endParaRPr lang="en-US" sz="1875" dirty="0"/>
          </a:p>
        </p:txBody>
      </p:sp>
      <p:sp>
        <p:nvSpPr>
          <p:cNvPr id="31" name="Text 29"/>
          <p:cNvSpPr/>
          <p:nvPr/>
        </p:nvSpPr>
        <p:spPr>
          <a:xfrm>
            <a:off x="5913774" y="5544621"/>
            <a:ext cx="20764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2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725" dirty="0"/>
          </a:p>
        </p:txBody>
      </p:sp>
      <p:sp>
        <p:nvSpPr>
          <p:cNvPr id="32" name="Shape 30"/>
          <p:cNvSpPr/>
          <p:nvPr/>
        </p:nvSpPr>
        <p:spPr>
          <a:xfrm>
            <a:off x="761881" y="6310967"/>
            <a:ext cx="5435679" cy="78545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Shape 31"/>
          <p:cNvSpPr/>
          <p:nvPr/>
        </p:nvSpPr>
        <p:spPr>
          <a:xfrm>
            <a:off x="761881" y="6310967"/>
            <a:ext cx="57150" cy="785455"/>
          </a:xfrm>
          <a:prstGeom prst="rect">
            <a:avLst/>
          </a:prstGeom>
          <a:solidFill>
            <a:srgbClr val="C99A2E"/>
          </a:solidFill>
          <a:ln/>
        </p:spPr>
      </p:sp>
      <p:sp>
        <p:nvSpPr>
          <p:cNvPr id="34" name="Text 32"/>
          <p:cNvSpPr/>
          <p:nvPr/>
        </p:nvSpPr>
        <p:spPr>
          <a:xfrm>
            <a:off x="971371" y="6406157"/>
            <a:ext cx="73324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HU-06</a:t>
            </a:r>
            <a:endParaRPr lang="en-US" sz="1725" dirty="0"/>
          </a:p>
        </p:txBody>
      </p:sp>
      <p:sp>
        <p:nvSpPr>
          <p:cNvPr id="35" name="Text 33"/>
          <p:cNvSpPr/>
          <p:nvPr/>
        </p:nvSpPr>
        <p:spPr>
          <a:xfrm>
            <a:off x="1761649" y="6406157"/>
            <a:ext cx="4139462" cy="6331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507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Credenciais, segredos, cache e configuração</a:t>
            </a:r>
            <a:endParaRPr lang="en-US" sz="1875" dirty="0"/>
          </a:p>
        </p:txBody>
      </p:sp>
      <p:sp>
        <p:nvSpPr>
          <p:cNvPr id="36" name="Text 34"/>
          <p:cNvSpPr/>
          <p:nvPr/>
        </p:nvSpPr>
        <p:spPr>
          <a:xfrm>
            <a:off x="5913774" y="6406157"/>
            <a:ext cx="20764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2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725" dirty="0"/>
          </a:p>
        </p:txBody>
      </p:sp>
      <p:sp>
        <p:nvSpPr>
          <p:cNvPr id="37" name="Shape 35"/>
          <p:cNvSpPr/>
          <p:nvPr/>
        </p:nvSpPr>
        <p:spPr>
          <a:xfrm>
            <a:off x="761881" y="7172503"/>
            <a:ext cx="5435679" cy="48791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Shape 36"/>
          <p:cNvSpPr/>
          <p:nvPr/>
        </p:nvSpPr>
        <p:spPr>
          <a:xfrm>
            <a:off x="761881" y="7172503"/>
            <a:ext cx="57150" cy="487918"/>
          </a:xfrm>
          <a:prstGeom prst="rect">
            <a:avLst/>
          </a:prstGeom>
          <a:solidFill>
            <a:srgbClr val="C99A2E"/>
          </a:solidFill>
          <a:ln/>
        </p:spPr>
      </p:sp>
      <p:sp>
        <p:nvSpPr>
          <p:cNvPr id="39" name="Text 37"/>
          <p:cNvSpPr/>
          <p:nvPr/>
        </p:nvSpPr>
        <p:spPr>
          <a:xfrm>
            <a:off x="971371" y="7267694"/>
            <a:ext cx="73324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HU-07</a:t>
            </a:r>
            <a:endParaRPr lang="en-US" sz="1725" dirty="0"/>
          </a:p>
        </p:txBody>
      </p:sp>
      <p:sp>
        <p:nvSpPr>
          <p:cNvPr id="40" name="Text 38"/>
          <p:cNvSpPr/>
          <p:nvPr/>
        </p:nvSpPr>
        <p:spPr>
          <a:xfrm>
            <a:off x="1761649" y="7267694"/>
            <a:ext cx="4420784" cy="3356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507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Distribuição e casca do frontend</a:t>
            </a:r>
            <a:endParaRPr lang="en-US" sz="1875" dirty="0"/>
          </a:p>
        </p:txBody>
      </p:sp>
      <p:sp>
        <p:nvSpPr>
          <p:cNvPr id="41" name="Text 39"/>
          <p:cNvSpPr/>
          <p:nvPr/>
        </p:nvSpPr>
        <p:spPr>
          <a:xfrm>
            <a:off x="5913774" y="7267694"/>
            <a:ext cx="20764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2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725" dirty="0"/>
          </a:p>
        </p:txBody>
      </p:sp>
      <p:sp>
        <p:nvSpPr>
          <p:cNvPr id="42" name="Shape 40"/>
          <p:cNvSpPr/>
          <p:nvPr/>
        </p:nvSpPr>
        <p:spPr>
          <a:xfrm>
            <a:off x="761881" y="7736502"/>
            <a:ext cx="5435679" cy="78545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Shape 41"/>
          <p:cNvSpPr/>
          <p:nvPr/>
        </p:nvSpPr>
        <p:spPr>
          <a:xfrm>
            <a:off x="761881" y="7736502"/>
            <a:ext cx="57150" cy="785455"/>
          </a:xfrm>
          <a:prstGeom prst="rect">
            <a:avLst/>
          </a:prstGeom>
          <a:solidFill>
            <a:srgbClr val="79A98A"/>
          </a:solidFill>
          <a:ln/>
        </p:spPr>
      </p:sp>
      <p:sp>
        <p:nvSpPr>
          <p:cNvPr id="44" name="Text 42"/>
          <p:cNvSpPr/>
          <p:nvPr/>
        </p:nvSpPr>
        <p:spPr>
          <a:xfrm>
            <a:off x="971371" y="7831693"/>
            <a:ext cx="73324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HU-16</a:t>
            </a:r>
            <a:endParaRPr lang="en-US" sz="1725" dirty="0"/>
          </a:p>
        </p:txBody>
      </p:sp>
      <p:sp>
        <p:nvSpPr>
          <p:cNvPr id="45" name="Text 43"/>
          <p:cNvSpPr/>
          <p:nvPr/>
        </p:nvSpPr>
        <p:spPr>
          <a:xfrm>
            <a:off x="1761649" y="7831693"/>
            <a:ext cx="4139462" cy="6331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507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Massas de teste e virtualização de endpoints</a:t>
            </a:r>
            <a:endParaRPr lang="en-US" sz="1875" dirty="0"/>
          </a:p>
        </p:txBody>
      </p:sp>
      <p:sp>
        <p:nvSpPr>
          <p:cNvPr id="46" name="Text 44"/>
          <p:cNvSpPr/>
          <p:nvPr/>
        </p:nvSpPr>
        <p:spPr>
          <a:xfrm>
            <a:off x="5913774" y="7831693"/>
            <a:ext cx="20764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2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725" dirty="0"/>
          </a:p>
        </p:txBody>
      </p:sp>
      <p:sp>
        <p:nvSpPr>
          <p:cNvPr id="47" name="Shape 45"/>
          <p:cNvSpPr/>
          <p:nvPr/>
        </p:nvSpPr>
        <p:spPr>
          <a:xfrm>
            <a:off x="6426160" y="1649670"/>
            <a:ext cx="5435679" cy="575072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48" name="Text 46"/>
          <p:cNvSpPr/>
          <p:nvPr/>
        </p:nvSpPr>
        <p:spPr>
          <a:xfrm>
            <a:off x="6635650" y="1782901"/>
            <a:ext cx="3472898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5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Onda 2 · Desenvolvimento</a:t>
            </a:r>
            <a:endParaRPr lang="en-US" sz="2100" dirty="0"/>
          </a:p>
        </p:txBody>
      </p:sp>
      <p:sp>
        <p:nvSpPr>
          <p:cNvPr id="49" name="Text 47"/>
          <p:cNvSpPr/>
          <p:nvPr/>
        </p:nvSpPr>
        <p:spPr>
          <a:xfrm>
            <a:off x="10829389" y="1782901"/>
            <a:ext cx="899160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5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52 pts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6426160" y="2300823"/>
            <a:ext cx="5435679" cy="48791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Shape 49"/>
          <p:cNvSpPr/>
          <p:nvPr/>
        </p:nvSpPr>
        <p:spPr>
          <a:xfrm>
            <a:off x="6426160" y="2300823"/>
            <a:ext cx="57150" cy="487918"/>
          </a:xfrm>
          <a:prstGeom prst="rect">
            <a:avLst/>
          </a:prstGeom>
          <a:solidFill>
            <a:srgbClr val="5C8FB8"/>
          </a:solidFill>
          <a:ln/>
        </p:spPr>
      </p:sp>
      <p:sp>
        <p:nvSpPr>
          <p:cNvPr id="52" name="Text 50"/>
          <p:cNvSpPr/>
          <p:nvPr/>
        </p:nvSpPr>
        <p:spPr>
          <a:xfrm>
            <a:off x="6635650" y="2396014"/>
            <a:ext cx="73324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HU-08</a:t>
            </a:r>
            <a:endParaRPr lang="en-US" sz="1725" dirty="0"/>
          </a:p>
        </p:txBody>
      </p:sp>
      <p:sp>
        <p:nvSpPr>
          <p:cNvPr id="53" name="Text 51"/>
          <p:cNvSpPr/>
          <p:nvPr/>
        </p:nvSpPr>
        <p:spPr>
          <a:xfrm>
            <a:off x="7425928" y="2396014"/>
            <a:ext cx="4420784" cy="3356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507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Biblioteca de HTTPS endpoints</a:t>
            </a:r>
            <a:endParaRPr lang="en-US" sz="1875" dirty="0"/>
          </a:p>
        </p:txBody>
      </p:sp>
      <p:sp>
        <p:nvSpPr>
          <p:cNvPr id="54" name="Text 52"/>
          <p:cNvSpPr/>
          <p:nvPr/>
        </p:nvSpPr>
        <p:spPr>
          <a:xfrm>
            <a:off x="11578054" y="2396014"/>
            <a:ext cx="20764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2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725" dirty="0"/>
          </a:p>
        </p:txBody>
      </p:sp>
      <p:sp>
        <p:nvSpPr>
          <p:cNvPr id="55" name="Shape 53"/>
          <p:cNvSpPr/>
          <p:nvPr/>
        </p:nvSpPr>
        <p:spPr>
          <a:xfrm>
            <a:off x="6426160" y="2864822"/>
            <a:ext cx="5435679" cy="78545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6" name="Shape 54"/>
          <p:cNvSpPr/>
          <p:nvPr/>
        </p:nvSpPr>
        <p:spPr>
          <a:xfrm>
            <a:off x="6426160" y="2864822"/>
            <a:ext cx="57150" cy="785455"/>
          </a:xfrm>
          <a:prstGeom prst="rect">
            <a:avLst/>
          </a:prstGeom>
          <a:solidFill>
            <a:srgbClr val="5C8FB8"/>
          </a:solidFill>
          <a:ln/>
        </p:spPr>
      </p:sp>
      <p:sp>
        <p:nvSpPr>
          <p:cNvPr id="57" name="Text 55"/>
          <p:cNvSpPr/>
          <p:nvPr/>
        </p:nvSpPr>
        <p:spPr>
          <a:xfrm>
            <a:off x="6635650" y="2960013"/>
            <a:ext cx="73324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HU-09</a:t>
            </a:r>
            <a:endParaRPr lang="en-US" sz="1725" dirty="0"/>
          </a:p>
        </p:txBody>
      </p:sp>
      <p:sp>
        <p:nvSpPr>
          <p:cNvPr id="58" name="Text 56"/>
          <p:cNvSpPr/>
          <p:nvPr/>
        </p:nvSpPr>
        <p:spPr>
          <a:xfrm>
            <a:off x="7425928" y="2960013"/>
            <a:ext cx="4139462" cy="6331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507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Endpoints de fundos na peça habilitadora</a:t>
            </a:r>
            <a:endParaRPr lang="en-US" sz="1875" dirty="0"/>
          </a:p>
        </p:txBody>
      </p:sp>
      <p:sp>
        <p:nvSpPr>
          <p:cNvPr id="59" name="Text 57"/>
          <p:cNvSpPr/>
          <p:nvPr/>
        </p:nvSpPr>
        <p:spPr>
          <a:xfrm>
            <a:off x="11578054" y="2960013"/>
            <a:ext cx="20764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2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725" dirty="0"/>
          </a:p>
        </p:txBody>
      </p:sp>
      <p:sp>
        <p:nvSpPr>
          <p:cNvPr id="60" name="Shape 58"/>
          <p:cNvSpPr/>
          <p:nvPr/>
        </p:nvSpPr>
        <p:spPr>
          <a:xfrm>
            <a:off x="6426160" y="3726358"/>
            <a:ext cx="5435679" cy="78545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1" name="Shape 59"/>
          <p:cNvSpPr/>
          <p:nvPr/>
        </p:nvSpPr>
        <p:spPr>
          <a:xfrm>
            <a:off x="6426160" y="3726358"/>
            <a:ext cx="57150" cy="785455"/>
          </a:xfrm>
          <a:prstGeom prst="rect">
            <a:avLst/>
          </a:prstGeom>
          <a:solidFill>
            <a:srgbClr val="5C8FB8"/>
          </a:solidFill>
          <a:ln/>
        </p:spPr>
      </p:sp>
      <p:sp>
        <p:nvSpPr>
          <p:cNvPr id="62" name="Text 60"/>
          <p:cNvSpPr/>
          <p:nvPr/>
        </p:nvSpPr>
        <p:spPr>
          <a:xfrm>
            <a:off x="6635650" y="3821549"/>
            <a:ext cx="73324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HU-10</a:t>
            </a:r>
            <a:endParaRPr lang="en-US" sz="1725" dirty="0"/>
          </a:p>
        </p:txBody>
      </p:sp>
      <p:sp>
        <p:nvSpPr>
          <p:cNvPr id="63" name="Text 61"/>
          <p:cNvSpPr/>
          <p:nvPr/>
        </p:nvSpPr>
        <p:spPr>
          <a:xfrm>
            <a:off x="7425928" y="3821549"/>
            <a:ext cx="4139462" cy="6331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507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Endpoints de termos na peça habilitadora</a:t>
            </a:r>
            <a:endParaRPr lang="en-US" sz="1875" dirty="0"/>
          </a:p>
        </p:txBody>
      </p:sp>
      <p:sp>
        <p:nvSpPr>
          <p:cNvPr id="64" name="Text 62"/>
          <p:cNvSpPr/>
          <p:nvPr/>
        </p:nvSpPr>
        <p:spPr>
          <a:xfrm>
            <a:off x="11578054" y="3821549"/>
            <a:ext cx="20764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2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725" dirty="0"/>
          </a:p>
        </p:txBody>
      </p:sp>
      <p:sp>
        <p:nvSpPr>
          <p:cNvPr id="65" name="Shape 63"/>
          <p:cNvSpPr/>
          <p:nvPr/>
        </p:nvSpPr>
        <p:spPr>
          <a:xfrm>
            <a:off x="6426160" y="4587895"/>
            <a:ext cx="5435679" cy="78545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6" name="Shape 64"/>
          <p:cNvSpPr/>
          <p:nvPr/>
        </p:nvSpPr>
        <p:spPr>
          <a:xfrm>
            <a:off x="6426160" y="4587895"/>
            <a:ext cx="57150" cy="785455"/>
          </a:xfrm>
          <a:prstGeom prst="rect">
            <a:avLst/>
          </a:prstGeom>
          <a:solidFill>
            <a:srgbClr val="5C8FB8"/>
          </a:solidFill>
          <a:ln/>
        </p:spPr>
      </p:sp>
      <p:sp>
        <p:nvSpPr>
          <p:cNvPr id="67" name="Text 65"/>
          <p:cNvSpPr/>
          <p:nvPr/>
        </p:nvSpPr>
        <p:spPr>
          <a:xfrm>
            <a:off x="6635650" y="4683085"/>
            <a:ext cx="73324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HU-11</a:t>
            </a:r>
            <a:endParaRPr lang="en-US" sz="1725" dirty="0"/>
          </a:p>
        </p:txBody>
      </p:sp>
      <p:sp>
        <p:nvSpPr>
          <p:cNvPr id="68" name="Text 66"/>
          <p:cNvSpPr/>
          <p:nvPr/>
        </p:nvSpPr>
        <p:spPr>
          <a:xfrm>
            <a:off x="7425928" y="4683085"/>
            <a:ext cx="4139462" cy="6331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507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Endpoints de perfil na peça habilitadora</a:t>
            </a:r>
            <a:endParaRPr lang="en-US" sz="1875" dirty="0"/>
          </a:p>
        </p:txBody>
      </p:sp>
      <p:sp>
        <p:nvSpPr>
          <p:cNvPr id="69" name="Text 67"/>
          <p:cNvSpPr/>
          <p:nvPr/>
        </p:nvSpPr>
        <p:spPr>
          <a:xfrm>
            <a:off x="11578054" y="4683085"/>
            <a:ext cx="20764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2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725" dirty="0"/>
          </a:p>
        </p:txBody>
      </p:sp>
      <p:sp>
        <p:nvSpPr>
          <p:cNvPr id="70" name="Shape 68"/>
          <p:cNvSpPr/>
          <p:nvPr/>
        </p:nvSpPr>
        <p:spPr>
          <a:xfrm>
            <a:off x="6426160" y="5449431"/>
            <a:ext cx="5435679" cy="78545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1" name="Shape 69"/>
          <p:cNvSpPr/>
          <p:nvPr/>
        </p:nvSpPr>
        <p:spPr>
          <a:xfrm>
            <a:off x="6426160" y="5449431"/>
            <a:ext cx="57150" cy="785455"/>
          </a:xfrm>
          <a:prstGeom prst="rect">
            <a:avLst/>
          </a:prstGeom>
          <a:solidFill>
            <a:srgbClr val="5C8FB8"/>
          </a:solidFill>
          <a:ln/>
        </p:spPr>
      </p:sp>
      <p:sp>
        <p:nvSpPr>
          <p:cNvPr id="72" name="Text 70"/>
          <p:cNvSpPr/>
          <p:nvPr/>
        </p:nvSpPr>
        <p:spPr>
          <a:xfrm>
            <a:off x="6635650" y="5544621"/>
            <a:ext cx="73324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HU-12</a:t>
            </a:r>
            <a:endParaRPr lang="en-US" sz="1725" dirty="0"/>
          </a:p>
        </p:txBody>
      </p:sp>
      <p:sp>
        <p:nvSpPr>
          <p:cNvPr id="73" name="Text 71"/>
          <p:cNvSpPr/>
          <p:nvPr/>
        </p:nvSpPr>
        <p:spPr>
          <a:xfrm>
            <a:off x="7425928" y="5544621"/>
            <a:ext cx="4139462" cy="6331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507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BFF com endpoints complementares e cobertura de testes</a:t>
            </a:r>
            <a:endParaRPr lang="en-US" sz="1875" dirty="0"/>
          </a:p>
        </p:txBody>
      </p:sp>
      <p:sp>
        <p:nvSpPr>
          <p:cNvPr id="74" name="Text 72"/>
          <p:cNvSpPr/>
          <p:nvPr/>
        </p:nvSpPr>
        <p:spPr>
          <a:xfrm>
            <a:off x="11578054" y="5544621"/>
            <a:ext cx="20764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2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725" dirty="0"/>
          </a:p>
        </p:txBody>
      </p:sp>
      <p:sp>
        <p:nvSpPr>
          <p:cNvPr id="75" name="Shape 73"/>
          <p:cNvSpPr/>
          <p:nvPr/>
        </p:nvSpPr>
        <p:spPr>
          <a:xfrm>
            <a:off x="6426160" y="6310967"/>
            <a:ext cx="5435679" cy="78545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6" name="Shape 74"/>
          <p:cNvSpPr/>
          <p:nvPr/>
        </p:nvSpPr>
        <p:spPr>
          <a:xfrm>
            <a:off x="6426160" y="6310967"/>
            <a:ext cx="57150" cy="785455"/>
          </a:xfrm>
          <a:prstGeom prst="rect">
            <a:avLst/>
          </a:prstGeom>
          <a:solidFill>
            <a:srgbClr val="D9796B"/>
          </a:solidFill>
          <a:ln/>
        </p:spPr>
      </p:sp>
      <p:sp>
        <p:nvSpPr>
          <p:cNvPr id="77" name="Text 75"/>
          <p:cNvSpPr/>
          <p:nvPr/>
        </p:nvSpPr>
        <p:spPr>
          <a:xfrm>
            <a:off x="6635650" y="6406157"/>
            <a:ext cx="73324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HU-13</a:t>
            </a:r>
            <a:endParaRPr lang="en-US" sz="1725" dirty="0"/>
          </a:p>
        </p:txBody>
      </p:sp>
      <p:sp>
        <p:nvSpPr>
          <p:cNvPr id="78" name="Text 76"/>
          <p:cNvSpPr/>
          <p:nvPr/>
        </p:nvSpPr>
        <p:spPr>
          <a:xfrm>
            <a:off x="7425928" y="6406157"/>
            <a:ext cx="4139462" cy="6331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507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Primeira etapa da jornada transacional</a:t>
            </a:r>
            <a:endParaRPr lang="en-US" sz="1875" dirty="0"/>
          </a:p>
        </p:txBody>
      </p:sp>
      <p:sp>
        <p:nvSpPr>
          <p:cNvPr id="79" name="Text 77"/>
          <p:cNvSpPr/>
          <p:nvPr/>
        </p:nvSpPr>
        <p:spPr>
          <a:xfrm>
            <a:off x="11578054" y="6406157"/>
            <a:ext cx="20764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2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725" dirty="0"/>
          </a:p>
        </p:txBody>
      </p:sp>
      <p:sp>
        <p:nvSpPr>
          <p:cNvPr id="80" name="Shape 78"/>
          <p:cNvSpPr/>
          <p:nvPr/>
        </p:nvSpPr>
        <p:spPr>
          <a:xfrm>
            <a:off x="6426160" y="7172503"/>
            <a:ext cx="5435679" cy="48791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1" name="Shape 79"/>
          <p:cNvSpPr/>
          <p:nvPr/>
        </p:nvSpPr>
        <p:spPr>
          <a:xfrm>
            <a:off x="6426160" y="7172503"/>
            <a:ext cx="57150" cy="487918"/>
          </a:xfrm>
          <a:prstGeom prst="rect">
            <a:avLst/>
          </a:prstGeom>
          <a:solidFill>
            <a:srgbClr val="D9796B"/>
          </a:solidFill>
          <a:ln/>
        </p:spPr>
      </p:sp>
      <p:sp>
        <p:nvSpPr>
          <p:cNvPr id="82" name="Text 80"/>
          <p:cNvSpPr/>
          <p:nvPr/>
        </p:nvSpPr>
        <p:spPr>
          <a:xfrm>
            <a:off x="6635650" y="7267694"/>
            <a:ext cx="73324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HU-14</a:t>
            </a:r>
            <a:endParaRPr lang="en-US" sz="1725" dirty="0"/>
          </a:p>
        </p:txBody>
      </p:sp>
      <p:sp>
        <p:nvSpPr>
          <p:cNvPr id="83" name="Text 81"/>
          <p:cNvSpPr/>
          <p:nvPr/>
        </p:nvSpPr>
        <p:spPr>
          <a:xfrm>
            <a:off x="7425928" y="7267694"/>
            <a:ext cx="4420784" cy="3356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507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Modal de aceite de termos</a:t>
            </a:r>
            <a:endParaRPr lang="en-US" sz="1875" dirty="0"/>
          </a:p>
        </p:txBody>
      </p:sp>
      <p:sp>
        <p:nvSpPr>
          <p:cNvPr id="84" name="Text 82"/>
          <p:cNvSpPr/>
          <p:nvPr/>
        </p:nvSpPr>
        <p:spPr>
          <a:xfrm>
            <a:off x="11578054" y="7267694"/>
            <a:ext cx="20764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2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725" dirty="0"/>
          </a:p>
        </p:txBody>
      </p:sp>
      <p:sp>
        <p:nvSpPr>
          <p:cNvPr id="85" name="Shape 83"/>
          <p:cNvSpPr/>
          <p:nvPr/>
        </p:nvSpPr>
        <p:spPr>
          <a:xfrm>
            <a:off x="6426160" y="7736502"/>
            <a:ext cx="5435679" cy="48791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6" name="Shape 84"/>
          <p:cNvSpPr/>
          <p:nvPr/>
        </p:nvSpPr>
        <p:spPr>
          <a:xfrm>
            <a:off x="6426160" y="7736502"/>
            <a:ext cx="57150" cy="487918"/>
          </a:xfrm>
          <a:prstGeom prst="rect">
            <a:avLst/>
          </a:prstGeom>
          <a:solidFill>
            <a:srgbClr val="D9796B"/>
          </a:solidFill>
          <a:ln/>
        </p:spPr>
      </p:sp>
      <p:sp>
        <p:nvSpPr>
          <p:cNvPr id="87" name="Text 85"/>
          <p:cNvSpPr/>
          <p:nvPr/>
        </p:nvSpPr>
        <p:spPr>
          <a:xfrm>
            <a:off x="6635650" y="7831693"/>
            <a:ext cx="73324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HU-15</a:t>
            </a:r>
            <a:endParaRPr lang="en-US" sz="1725" dirty="0"/>
          </a:p>
        </p:txBody>
      </p:sp>
      <p:sp>
        <p:nvSpPr>
          <p:cNvPr id="88" name="Text 86"/>
          <p:cNvSpPr/>
          <p:nvPr/>
        </p:nvSpPr>
        <p:spPr>
          <a:xfrm>
            <a:off x="7425928" y="7831693"/>
            <a:ext cx="4420784" cy="3356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507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Tagueamento da jornada</a:t>
            </a:r>
            <a:endParaRPr lang="en-US" sz="1875" dirty="0"/>
          </a:p>
        </p:txBody>
      </p:sp>
      <p:sp>
        <p:nvSpPr>
          <p:cNvPr id="89" name="Text 87"/>
          <p:cNvSpPr/>
          <p:nvPr/>
        </p:nvSpPr>
        <p:spPr>
          <a:xfrm>
            <a:off x="11578054" y="7831693"/>
            <a:ext cx="20764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2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725" dirty="0"/>
          </a:p>
        </p:txBody>
      </p:sp>
      <p:sp>
        <p:nvSpPr>
          <p:cNvPr id="90" name="Shape 88"/>
          <p:cNvSpPr/>
          <p:nvPr/>
        </p:nvSpPr>
        <p:spPr>
          <a:xfrm>
            <a:off x="6426160" y="8300501"/>
            <a:ext cx="5435679" cy="48791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1" name="Shape 89"/>
          <p:cNvSpPr/>
          <p:nvPr/>
        </p:nvSpPr>
        <p:spPr>
          <a:xfrm>
            <a:off x="6426160" y="8300501"/>
            <a:ext cx="57150" cy="487918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92" name="Text 90"/>
          <p:cNvSpPr/>
          <p:nvPr/>
        </p:nvSpPr>
        <p:spPr>
          <a:xfrm>
            <a:off x="6635650" y="8395692"/>
            <a:ext cx="73324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HU-20</a:t>
            </a:r>
            <a:endParaRPr lang="en-US" sz="1725" dirty="0"/>
          </a:p>
        </p:txBody>
      </p:sp>
      <p:sp>
        <p:nvSpPr>
          <p:cNvPr id="93" name="Text 91"/>
          <p:cNvSpPr/>
          <p:nvPr/>
        </p:nvSpPr>
        <p:spPr>
          <a:xfrm>
            <a:off x="7425928" y="8395692"/>
            <a:ext cx="4420784" cy="3356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507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Telemetria e padronização de logs</a:t>
            </a:r>
            <a:endParaRPr lang="en-US" sz="1875" dirty="0"/>
          </a:p>
        </p:txBody>
      </p:sp>
      <p:sp>
        <p:nvSpPr>
          <p:cNvPr id="94" name="Text 92"/>
          <p:cNvSpPr/>
          <p:nvPr/>
        </p:nvSpPr>
        <p:spPr>
          <a:xfrm>
            <a:off x="11578054" y="8395692"/>
            <a:ext cx="20764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2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725" dirty="0"/>
          </a:p>
        </p:txBody>
      </p:sp>
      <p:sp>
        <p:nvSpPr>
          <p:cNvPr id="95" name="Shape 93"/>
          <p:cNvSpPr/>
          <p:nvPr/>
        </p:nvSpPr>
        <p:spPr>
          <a:xfrm>
            <a:off x="12090439" y="1649670"/>
            <a:ext cx="5435679" cy="575072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96" name="Text 94"/>
          <p:cNvSpPr/>
          <p:nvPr/>
        </p:nvSpPr>
        <p:spPr>
          <a:xfrm>
            <a:off x="12299929" y="1782901"/>
            <a:ext cx="3930044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5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Onda 3 · Integração e entrega</a:t>
            </a:r>
            <a:endParaRPr lang="en-US" sz="2100" dirty="0"/>
          </a:p>
        </p:txBody>
      </p:sp>
      <p:sp>
        <p:nvSpPr>
          <p:cNvPr id="97" name="Text 95"/>
          <p:cNvSpPr/>
          <p:nvPr/>
        </p:nvSpPr>
        <p:spPr>
          <a:xfrm>
            <a:off x="16493668" y="1782901"/>
            <a:ext cx="899160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5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 pts</a:t>
            </a:r>
            <a:endParaRPr lang="en-US" sz="1800" dirty="0"/>
          </a:p>
        </p:txBody>
      </p:sp>
      <p:sp>
        <p:nvSpPr>
          <p:cNvPr id="98" name="Shape 96"/>
          <p:cNvSpPr/>
          <p:nvPr/>
        </p:nvSpPr>
        <p:spPr>
          <a:xfrm>
            <a:off x="12090439" y="2300823"/>
            <a:ext cx="5435679" cy="78545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9" name="Shape 97"/>
          <p:cNvSpPr/>
          <p:nvPr/>
        </p:nvSpPr>
        <p:spPr>
          <a:xfrm>
            <a:off x="12090439" y="2300823"/>
            <a:ext cx="57150" cy="785455"/>
          </a:xfrm>
          <a:prstGeom prst="rect">
            <a:avLst/>
          </a:prstGeom>
          <a:solidFill>
            <a:srgbClr val="79A98A"/>
          </a:solidFill>
          <a:ln/>
        </p:spPr>
      </p:sp>
      <p:sp>
        <p:nvSpPr>
          <p:cNvPr id="100" name="Text 98"/>
          <p:cNvSpPr/>
          <p:nvPr/>
        </p:nvSpPr>
        <p:spPr>
          <a:xfrm>
            <a:off x="12299929" y="2396014"/>
            <a:ext cx="73324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HU-17</a:t>
            </a:r>
            <a:endParaRPr lang="en-US" sz="1725" dirty="0"/>
          </a:p>
        </p:txBody>
      </p:sp>
      <p:sp>
        <p:nvSpPr>
          <p:cNvPr id="101" name="Text 99"/>
          <p:cNvSpPr/>
          <p:nvPr/>
        </p:nvSpPr>
        <p:spPr>
          <a:xfrm>
            <a:off x="13090207" y="2396014"/>
            <a:ext cx="4139462" cy="6331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507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Cenários e automação de testes (TAAC)</a:t>
            </a:r>
            <a:endParaRPr lang="en-US" sz="1875" dirty="0"/>
          </a:p>
        </p:txBody>
      </p:sp>
      <p:sp>
        <p:nvSpPr>
          <p:cNvPr id="102" name="Text 100"/>
          <p:cNvSpPr/>
          <p:nvPr/>
        </p:nvSpPr>
        <p:spPr>
          <a:xfrm>
            <a:off x="17242332" y="2396014"/>
            <a:ext cx="20764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2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725" dirty="0"/>
          </a:p>
        </p:txBody>
      </p:sp>
      <p:sp>
        <p:nvSpPr>
          <p:cNvPr id="103" name="Shape 101"/>
          <p:cNvSpPr/>
          <p:nvPr/>
        </p:nvSpPr>
        <p:spPr>
          <a:xfrm>
            <a:off x="12090439" y="3162359"/>
            <a:ext cx="5435679" cy="48791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4" name="Shape 102"/>
          <p:cNvSpPr/>
          <p:nvPr/>
        </p:nvSpPr>
        <p:spPr>
          <a:xfrm>
            <a:off x="12090439" y="3162359"/>
            <a:ext cx="57150" cy="487918"/>
          </a:xfrm>
          <a:prstGeom prst="rect">
            <a:avLst/>
          </a:prstGeom>
          <a:solidFill>
            <a:srgbClr val="79A98A"/>
          </a:solidFill>
          <a:ln/>
        </p:spPr>
      </p:sp>
      <p:sp>
        <p:nvSpPr>
          <p:cNvPr id="105" name="Text 103"/>
          <p:cNvSpPr/>
          <p:nvPr/>
        </p:nvSpPr>
        <p:spPr>
          <a:xfrm>
            <a:off x="12299929" y="3257550"/>
            <a:ext cx="73324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HU-18</a:t>
            </a:r>
            <a:endParaRPr lang="en-US" sz="1725" dirty="0"/>
          </a:p>
        </p:txBody>
      </p:sp>
      <p:sp>
        <p:nvSpPr>
          <p:cNvPr id="106" name="Text 104"/>
          <p:cNvSpPr/>
          <p:nvPr/>
        </p:nvSpPr>
        <p:spPr>
          <a:xfrm>
            <a:off x="13090207" y="3257550"/>
            <a:ext cx="4420784" cy="3356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507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Integração com a Peça Centralizadora</a:t>
            </a:r>
            <a:endParaRPr lang="en-US" sz="1875" dirty="0"/>
          </a:p>
        </p:txBody>
      </p:sp>
      <p:sp>
        <p:nvSpPr>
          <p:cNvPr id="107" name="Text 105"/>
          <p:cNvSpPr/>
          <p:nvPr/>
        </p:nvSpPr>
        <p:spPr>
          <a:xfrm>
            <a:off x="17242332" y="3257550"/>
            <a:ext cx="20764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2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725" dirty="0"/>
          </a:p>
        </p:txBody>
      </p:sp>
      <p:sp>
        <p:nvSpPr>
          <p:cNvPr id="108" name="Shape 106"/>
          <p:cNvSpPr/>
          <p:nvPr/>
        </p:nvSpPr>
        <p:spPr>
          <a:xfrm>
            <a:off x="12090439" y="3726358"/>
            <a:ext cx="5435679" cy="48791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9" name="Shape 107"/>
          <p:cNvSpPr/>
          <p:nvPr/>
        </p:nvSpPr>
        <p:spPr>
          <a:xfrm>
            <a:off x="12090439" y="3726358"/>
            <a:ext cx="57150" cy="487918"/>
          </a:xfrm>
          <a:prstGeom prst="rect">
            <a:avLst/>
          </a:prstGeom>
          <a:solidFill>
            <a:srgbClr val="79A98A"/>
          </a:solidFill>
          <a:ln/>
        </p:spPr>
      </p:sp>
      <p:sp>
        <p:nvSpPr>
          <p:cNvPr id="110" name="Text 108"/>
          <p:cNvSpPr/>
          <p:nvPr/>
        </p:nvSpPr>
        <p:spPr>
          <a:xfrm>
            <a:off x="12299929" y="3821549"/>
            <a:ext cx="73324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HU-19</a:t>
            </a:r>
            <a:endParaRPr lang="en-US" sz="1725" dirty="0"/>
          </a:p>
        </p:txBody>
      </p:sp>
      <p:sp>
        <p:nvSpPr>
          <p:cNvPr id="111" name="Text 109"/>
          <p:cNvSpPr/>
          <p:nvPr/>
        </p:nvSpPr>
        <p:spPr>
          <a:xfrm>
            <a:off x="13090207" y="3821549"/>
            <a:ext cx="4420784" cy="3356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507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Pacote de segurança e pentest</a:t>
            </a:r>
            <a:endParaRPr lang="en-US" sz="1875" dirty="0"/>
          </a:p>
        </p:txBody>
      </p:sp>
      <p:sp>
        <p:nvSpPr>
          <p:cNvPr id="112" name="Text 110"/>
          <p:cNvSpPr/>
          <p:nvPr/>
        </p:nvSpPr>
        <p:spPr>
          <a:xfrm>
            <a:off x="17242332" y="3821549"/>
            <a:ext cx="20764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2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725" dirty="0"/>
          </a:p>
        </p:txBody>
      </p:sp>
      <p:sp>
        <p:nvSpPr>
          <p:cNvPr id="113" name="Shape 111"/>
          <p:cNvSpPr/>
          <p:nvPr/>
        </p:nvSpPr>
        <p:spPr>
          <a:xfrm>
            <a:off x="12090439" y="4290357"/>
            <a:ext cx="5435679" cy="48791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4" name="Shape 112"/>
          <p:cNvSpPr/>
          <p:nvPr/>
        </p:nvSpPr>
        <p:spPr>
          <a:xfrm>
            <a:off x="12090439" y="4290357"/>
            <a:ext cx="57150" cy="487918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115" name="Text 113"/>
          <p:cNvSpPr/>
          <p:nvPr/>
        </p:nvSpPr>
        <p:spPr>
          <a:xfrm>
            <a:off x="12299929" y="4385548"/>
            <a:ext cx="73324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HU-21</a:t>
            </a:r>
            <a:endParaRPr lang="en-US" sz="1725" dirty="0"/>
          </a:p>
        </p:txBody>
      </p:sp>
      <p:sp>
        <p:nvSpPr>
          <p:cNvPr id="116" name="Text 114"/>
          <p:cNvSpPr/>
          <p:nvPr/>
        </p:nvSpPr>
        <p:spPr>
          <a:xfrm>
            <a:off x="13090207" y="4385548"/>
            <a:ext cx="4420784" cy="3356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507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Dashboards e alarmes operacionais</a:t>
            </a:r>
            <a:endParaRPr lang="en-US" sz="1875" dirty="0"/>
          </a:p>
        </p:txBody>
      </p:sp>
      <p:sp>
        <p:nvSpPr>
          <p:cNvPr id="117" name="Text 115"/>
          <p:cNvSpPr/>
          <p:nvPr/>
        </p:nvSpPr>
        <p:spPr>
          <a:xfrm>
            <a:off x="17242332" y="4385548"/>
            <a:ext cx="20764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2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7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881" y="666690"/>
            <a:ext cx="990481" cy="422910"/>
          </a:xfrm>
          <a:prstGeom prst="rect">
            <a:avLst/>
          </a:prstGeom>
          <a:solidFill>
            <a:srgbClr val="C99A2E"/>
          </a:solidFill>
          <a:ln/>
        </p:spPr>
      </p:sp>
      <p:sp>
        <p:nvSpPr>
          <p:cNvPr id="3" name="Text 1"/>
          <p:cNvSpPr/>
          <p:nvPr/>
        </p:nvSpPr>
        <p:spPr>
          <a:xfrm>
            <a:off x="914281" y="723840"/>
            <a:ext cx="761881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2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HU-01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923812" y="740985"/>
            <a:ext cx="4194667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· FUNDAÇÃO DE PLATAFORMA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61881" y="1222831"/>
            <a:ext cx="11895432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279"/>
              </a:lnSpc>
              <a:buNone/>
            </a:pPr>
            <a:r>
              <a:rPr lang="en-US" sz="3900" b="1" spc="-78" kern="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 AWS e padrões de nomenclatura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12147411" y="742771"/>
            <a:ext cx="624661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80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ONDA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147411" y="1051381"/>
            <a:ext cx="62466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3114853" y="742771"/>
            <a:ext cx="1264206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80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PERFIL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114853" y="1051381"/>
            <a:ext cx="126420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SRE / Infra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4721839" y="742771"/>
            <a:ext cx="898981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80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PONTOS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721839" y="1051381"/>
            <a:ext cx="89898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5963601" y="742771"/>
            <a:ext cx="1718768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80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963601" y="1051381"/>
            <a:ext cx="1718768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PR-02, PR-03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761881" y="2034183"/>
            <a:ext cx="8267819" cy="2457093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15" name="Text 13"/>
          <p:cNvSpPr/>
          <p:nvPr/>
        </p:nvSpPr>
        <p:spPr>
          <a:xfrm>
            <a:off x="1066562" y="2338864"/>
            <a:ext cx="842430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9AA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DOR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066562" y="2746415"/>
            <a:ext cx="7888211" cy="1478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154"/>
              </a:lnSpc>
              <a:buNone/>
            </a:pPr>
            <a:r>
              <a:rPr lang="en-US" sz="2025" dirty="0">
                <a:solidFill>
                  <a:srgbClr val="F5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existe uma conta AWS dedicada nem convenção de nomes acordada. Cada peça criada agora nasce em ambiente compartilhado e com nome improvisado, o que gera retrabalho de migração e dificulta rastrear custo por produto.</a:t>
            </a:r>
            <a:endParaRPr lang="en-US" sz="2025" dirty="0"/>
          </a:p>
        </p:txBody>
      </p:sp>
      <p:sp>
        <p:nvSpPr>
          <p:cNvPr id="17" name="Shape 15"/>
          <p:cNvSpPr/>
          <p:nvPr/>
        </p:nvSpPr>
        <p:spPr>
          <a:xfrm>
            <a:off x="9258299" y="2034183"/>
            <a:ext cx="8267819" cy="2457093"/>
          </a:xfrm>
          <a:prstGeom prst="rect">
            <a:avLst/>
          </a:prstGeom>
          <a:solidFill>
            <a:srgbClr val="EEDFB6"/>
          </a:solidFill>
          <a:ln/>
        </p:spPr>
      </p:sp>
      <p:sp>
        <p:nvSpPr>
          <p:cNvPr id="18" name="Text 16"/>
          <p:cNvSpPr/>
          <p:nvPr/>
        </p:nvSpPr>
        <p:spPr>
          <a:xfrm>
            <a:off x="9562980" y="2338864"/>
            <a:ext cx="842430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5C5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HISTÓRIA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9562980" y="2746415"/>
            <a:ext cx="7888211" cy="1156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518"/>
              </a:lnSpc>
              <a:buNone/>
            </a:pPr>
            <a:r>
              <a:rPr lang="en-US" sz="21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time de plataforma, quero uma conta AWS dedicada e um padrão de nomes acordado para que todos os recursos da jornada nasçam isolados, rastreáveis e com custo atribuível.</a:t>
            </a:r>
            <a:endParaRPr lang="en-US" sz="2175" dirty="0"/>
          </a:p>
        </p:txBody>
      </p:sp>
      <p:sp>
        <p:nvSpPr>
          <p:cNvPr id="20" name="Shape 18"/>
          <p:cNvSpPr/>
          <p:nvPr/>
        </p:nvSpPr>
        <p:spPr>
          <a:xfrm>
            <a:off x="761881" y="4757916"/>
            <a:ext cx="6271855" cy="486239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761881" y="4757916"/>
            <a:ext cx="6271855" cy="57150"/>
          </a:xfrm>
          <a:prstGeom prst="rect">
            <a:avLst/>
          </a:prstGeom>
          <a:solidFill>
            <a:srgbClr val="C99A2E"/>
          </a:solidFill>
          <a:ln/>
        </p:spPr>
      </p:sp>
      <p:sp>
        <p:nvSpPr>
          <p:cNvPr id="22" name="Text 20"/>
          <p:cNvSpPr/>
          <p:nvPr/>
        </p:nvSpPr>
        <p:spPr>
          <a:xfrm>
            <a:off x="1047631" y="5100816"/>
            <a:ext cx="627039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CRITÉRIOS DE ACEITE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047631" y="5622667"/>
            <a:ext cx="85725" cy="85725"/>
          </a:xfrm>
          <a:prstGeom prst="rect">
            <a:avLst/>
          </a:prstGeom>
          <a:solidFill>
            <a:srgbClr val="C99A2E"/>
          </a:solidFill>
          <a:ln/>
        </p:spPr>
      </p:sp>
      <p:sp>
        <p:nvSpPr>
          <p:cNvPr id="24" name="Text 22"/>
          <p:cNvSpPr/>
          <p:nvPr/>
        </p:nvSpPr>
        <p:spPr>
          <a:xfrm>
            <a:off x="1266587" y="5527476"/>
            <a:ext cx="5645841" cy="666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conta YB3 está criada e com acessos concedidos aos perfis do squad</a:t>
            </a:r>
            <a:endParaRPr lang="en-US" sz="1875" dirty="0"/>
          </a:p>
        </p:txBody>
      </p:sp>
      <p:sp>
        <p:nvSpPr>
          <p:cNvPr id="25" name="Shape 23"/>
          <p:cNvSpPr/>
          <p:nvPr/>
        </p:nvSpPr>
        <p:spPr>
          <a:xfrm>
            <a:off x="1047631" y="6365260"/>
            <a:ext cx="85725" cy="85725"/>
          </a:xfrm>
          <a:prstGeom prst="rect">
            <a:avLst/>
          </a:prstGeom>
          <a:solidFill>
            <a:srgbClr val="C99A2E"/>
          </a:solidFill>
          <a:ln/>
        </p:spPr>
      </p:sp>
      <p:sp>
        <p:nvSpPr>
          <p:cNvPr id="26" name="Text 24"/>
          <p:cNvSpPr/>
          <p:nvPr/>
        </p:nvSpPr>
        <p:spPr>
          <a:xfrm>
            <a:off x="1266587" y="6270069"/>
            <a:ext cx="5645841" cy="666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documento de padrão de nomes cobre gateways, containers, repositórios, segredos e buckets</a:t>
            </a:r>
            <a:endParaRPr lang="en-US" sz="1875" dirty="0"/>
          </a:p>
        </p:txBody>
      </p:sp>
      <p:sp>
        <p:nvSpPr>
          <p:cNvPr id="27" name="Shape 25"/>
          <p:cNvSpPr/>
          <p:nvPr/>
        </p:nvSpPr>
        <p:spPr>
          <a:xfrm>
            <a:off x="1047631" y="7107852"/>
            <a:ext cx="85725" cy="85725"/>
          </a:xfrm>
          <a:prstGeom prst="rect">
            <a:avLst/>
          </a:prstGeom>
          <a:solidFill>
            <a:srgbClr val="C99A2E"/>
          </a:solidFill>
          <a:ln/>
        </p:spPr>
      </p:sp>
      <p:sp>
        <p:nvSpPr>
          <p:cNvPr id="28" name="Text 26"/>
          <p:cNvSpPr/>
          <p:nvPr/>
        </p:nvSpPr>
        <p:spPr>
          <a:xfrm>
            <a:off x="1266587" y="7012661"/>
            <a:ext cx="5645841" cy="666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padrão está aplicado nos primeiros recursos criados</a:t>
            </a:r>
            <a:endParaRPr lang="en-US" sz="1875" dirty="0"/>
          </a:p>
        </p:txBody>
      </p:sp>
      <p:sp>
        <p:nvSpPr>
          <p:cNvPr id="29" name="Shape 27"/>
          <p:cNvSpPr/>
          <p:nvPr/>
        </p:nvSpPr>
        <p:spPr>
          <a:xfrm>
            <a:off x="1047631" y="7850445"/>
            <a:ext cx="85725" cy="85725"/>
          </a:xfrm>
          <a:prstGeom prst="rect">
            <a:avLst/>
          </a:prstGeom>
          <a:solidFill>
            <a:srgbClr val="C99A2E"/>
          </a:solidFill>
          <a:ln/>
        </p:spPr>
      </p:sp>
      <p:sp>
        <p:nvSpPr>
          <p:cNvPr id="30" name="Text 28"/>
          <p:cNvSpPr/>
          <p:nvPr/>
        </p:nvSpPr>
        <p:spPr>
          <a:xfrm>
            <a:off x="1266587" y="7755255"/>
            <a:ext cx="6029539" cy="352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Tags de custo estão definidas e obrigatórias</a:t>
            </a:r>
            <a:endParaRPr lang="en-US" sz="1875" dirty="0"/>
          </a:p>
        </p:txBody>
      </p:sp>
      <p:sp>
        <p:nvSpPr>
          <p:cNvPr id="31" name="Shape 29"/>
          <p:cNvSpPr/>
          <p:nvPr/>
        </p:nvSpPr>
        <p:spPr>
          <a:xfrm>
            <a:off x="7262336" y="4757916"/>
            <a:ext cx="5017591" cy="486239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7262336" y="4757916"/>
            <a:ext cx="5017591" cy="57150"/>
          </a:xfrm>
          <a:prstGeom prst="rect">
            <a:avLst/>
          </a:prstGeom>
          <a:solidFill>
            <a:srgbClr val="9AA3AE"/>
          </a:solidFill>
          <a:ln/>
        </p:spPr>
      </p:sp>
      <p:sp>
        <p:nvSpPr>
          <p:cNvPr id="33" name="Text 31"/>
          <p:cNvSpPr/>
          <p:nvPr/>
        </p:nvSpPr>
        <p:spPr>
          <a:xfrm>
            <a:off x="7548086" y="5100816"/>
            <a:ext cx="48907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DEFINITION OF READY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7548086" y="5622667"/>
            <a:ext cx="85725" cy="85725"/>
          </a:xfrm>
          <a:prstGeom prst="rect">
            <a:avLst/>
          </a:prstGeom>
          <a:solidFill>
            <a:srgbClr val="9AA3AE"/>
          </a:solidFill>
          <a:ln/>
        </p:spPr>
      </p:sp>
      <p:sp>
        <p:nvSpPr>
          <p:cNvPr id="35" name="Text 33"/>
          <p:cNvSpPr/>
          <p:nvPr/>
        </p:nvSpPr>
        <p:spPr>
          <a:xfrm>
            <a:off x="7767042" y="5527476"/>
            <a:ext cx="4353949" cy="666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Solicitação de conta aberta com o time de cloud</a:t>
            </a:r>
            <a:endParaRPr lang="en-US" sz="1875" dirty="0"/>
          </a:p>
        </p:txBody>
      </p:sp>
      <p:sp>
        <p:nvSpPr>
          <p:cNvPr id="36" name="Shape 34"/>
          <p:cNvSpPr/>
          <p:nvPr/>
        </p:nvSpPr>
        <p:spPr>
          <a:xfrm>
            <a:off x="7548086" y="6365260"/>
            <a:ext cx="85725" cy="85725"/>
          </a:xfrm>
          <a:prstGeom prst="rect">
            <a:avLst/>
          </a:prstGeom>
          <a:solidFill>
            <a:srgbClr val="9AA3AE"/>
          </a:solidFill>
          <a:ln/>
        </p:spPr>
      </p:sp>
      <p:sp>
        <p:nvSpPr>
          <p:cNvPr id="37" name="Text 35"/>
          <p:cNvSpPr/>
          <p:nvPr/>
        </p:nvSpPr>
        <p:spPr>
          <a:xfrm>
            <a:off x="7767042" y="6270069"/>
            <a:ext cx="4353949" cy="666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 de perfis e níveis de acesso definida</a:t>
            </a:r>
            <a:endParaRPr lang="en-US" sz="1875" dirty="0"/>
          </a:p>
        </p:txBody>
      </p:sp>
      <p:sp>
        <p:nvSpPr>
          <p:cNvPr id="38" name="Shape 36"/>
          <p:cNvSpPr/>
          <p:nvPr/>
        </p:nvSpPr>
        <p:spPr>
          <a:xfrm>
            <a:off x="7548086" y="7107852"/>
            <a:ext cx="85725" cy="85725"/>
          </a:xfrm>
          <a:prstGeom prst="rect">
            <a:avLst/>
          </a:prstGeom>
          <a:solidFill>
            <a:srgbClr val="9AA3AE"/>
          </a:solidFill>
          <a:ln/>
        </p:spPr>
      </p:sp>
      <p:sp>
        <p:nvSpPr>
          <p:cNvPr id="39" name="Text 37"/>
          <p:cNvSpPr/>
          <p:nvPr/>
        </p:nvSpPr>
        <p:spPr>
          <a:xfrm>
            <a:off x="7767042" y="7012661"/>
            <a:ext cx="4353949" cy="666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Convenção de nomes rascunhada e revisada pelo arquiteto</a:t>
            </a:r>
            <a:endParaRPr lang="en-US" sz="1875" dirty="0"/>
          </a:p>
        </p:txBody>
      </p:sp>
      <p:sp>
        <p:nvSpPr>
          <p:cNvPr id="40" name="Shape 38"/>
          <p:cNvSpPr/>
          <p:nvPr/>
        </p:nvSpPr>
        <p:spPr>
          <a:xfrm>
            <a:off x="12508527" y="4757916"/>
            <a:ext cx="5017591" cy="486239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Shape 39"/>
          <p:cNvSpPr/>
          <p:nvPr/>
        </p:nvSpPr>
        <p:spPr>
          <a:xfrm>
            <a:off x="12508527" y="4757916"/>
            <a:ext cx="5017591" cy="57150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42" name="Text 40"/>
          <p:cNvSpPr/>
          <p:nvPr/>
        </p:nvSpPr>
        <p:spPr>
          <a:xfrm>
            <a:off x="12794277" y="5100816"/>
            <a:ext cx="48907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DEFINITION OF DONE</a:t>
            </a:r>
            <a:endParaRPr lang="en-US" sz="1650" dirty="0"/>
          </a:p>
        </p:txBody>
      </p:sp>
      <p:sp>
        <p:nvSpPr>
          <p:cNvPr id="43" name="Shape 41"/>
          <p:cNvSpPr/>
          <p:nvPr/>
        </p:nvSpPr>
        <p:spPr>
          <a:xfrm>
            <a:off x="12794277" y="5622667"/>
            <a:ext cx="85725" cy="85725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44" name="Text 42"/>
          <p:cNvSpPr/>
          <p:nvPr/>
        </p:nvSpPr>
        <p:spPr>
          <a:xfrm>
            <a:off x="13013232" y="5527476"/>
            <a:ext cx="4353949" cy="666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Acesso validado por pelo menos dois perfis diferentes</a:t>
            </a:r>
            <a:endParaRPr lang="en-US" sz="1875" dirty="0"/>
          </a:p>
        </p:txBody>
      </p:sp>
      <p:sp>
        <p:nvSpPr>
          <p:cNvPr id="45" name="Shape 43"/>
          <p:cNvSpPr/>
          <p:nvPr/>
        </p:nvSpPr>
        <p:spPr>
          <a:xfrm>
            <a:off x="12794277" y="6365260"/>
            <a:ext cx="85725" cy="85725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46" name="Text 44"/>
          <p:cNvSpPr/>
          <p:nvPr/>
        </p:nvSpPr>
        <p:spPr>
          <a:xfrm>
            <a:off x="13013232" y="6270069"/>
            <a:ext cx="4353949" cy="666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Padrão publicado no repositório de documentação</a:t>
            </a:r>
            <a:endParaRPr lang="en-US" sz="1875" dirty="0"/>
          </a:p>
        </p:txBody>
      </p:sp>
      <p:sp>
        <p:nvSpPr>
          <p:cNvPr id="47" name="Shape 45"/>
          <p:cNvSpPr/>
          <p:nvPr/>
        </p:nvSpPr>
        <p:spPr>
          <a:xfrm>
            <a:off x="12794277" y="7107852"/>
            <a:ext cx="85725" cy="85725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48" name="Text 46"/>
          <p:cNvSpPr/>
          <p:nvPr/>
        </p:nvSpPr>
        <p:spPr>
          <a:xfrm>
            <a:off x="13013232" y="7012661"/>
            <a:ext cx="4353949" cy="666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Nenhum recurso da jornada fora do padrão</a:t>
            </a:r>
            <a:endParaRPr lang="en-US" sz="18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881" y="666690"/>
            <a:ext cx="990481" cy="422910"/>
          </a:xfrm>
          <a:prstGeom prst="rect">
            <a:avLst/>
          </a:prstGeom>
          <a:solidFill>
            <a:srgbClr val="C99A2E"/>
          </a:solidFill>
          <a:ln/>
        </p:spPr>
      </p:sp>
      <p:sp>
        <p:nvSpPr>
          <p:cNvPr id="3" name="Text 1"/>
          <p:cNvSpPr/>
          <p:nvPr/>
        </p:nvSpPr>
        <p:spPr>
          <a:xfrm>
            <a:off x="914281" y="723840"/>
            <a:ext cx="761881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2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HU-02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923812" y="740985"/>
            <a:ext cx="4194667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· FUNDAÇÃO DE PLATAFORMA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61881" y="1222831"/>
            <a:ext cx="10722607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279"/>
              </a:lnSpc>
              <a:buNone/>
            </a:pPr>
            <a:r>
              <a:rPr lang="en-US" sz="3900" b="1" spc="-78" kern="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Contratos de API e estratégia de toggles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11081206" y="742771"/>
            <a:ext cx="624661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80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ONDA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081206" y="1051381"/>
            <a:ext cx="62466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048648" y="742771"/>
            <a:ext cx="2488668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80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PERFIL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048648" y="1051381"/>
            <a:ext cx="2488668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+ Frontend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4730054" y="742771"/>
            <a:ext cx="898981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80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PONTOS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730054" y="1051381"/>
            <a:ext cx="89898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5971817" y="742771"/>
            <a:ext cx="1709731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80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971817" y="1051381"/>
            <a:ext cx="170973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PR-01, PR-04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761881" y="2034183"/>
            <a:ext cx="8267819" cy="2508528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15" name="Text 13"/>
          <p:cNvSpPr/>
          <p:nvPr/>
        </p:nvSpPr>
        <p:spPr>
          <a:xfrm>
            <a:off x="1066562" y="2338864"/>
            <a:ext cx="842430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9AA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DOR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066562" y="2746415"/>
            <a:ext cx="7888211" cy="1478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154"/>
              </a:lnSpc>
              <a:buNone/>
            </a:pPr>
            <a:r>
              <a:rPr lang="en-US" sz="2025" dirty="0">
                <a:solidFill>
                  <a:srgbClr val="F5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e frontend precisam começar ao mesmo tempo, mas sem contrato fechado cada lado assume um formato de resposta diferente e a divergência só aparece na integração, no fim do projeto.</a:t>
            </a:r>
            <a:endParaRPr lang="en-US" sz="2025" dirty="0"/>
          </a:p>
        </p:txBody>
      </p:sp>
      <p:sp>
        <p:nvSpPr>
          <p:cNvPr id="17" name="Shape 15"/>
          <p:cNvSpPr/>
          <p:nvPr/>
        </p:nvSpPr>
        <p:spPr>
          <a:xfrm>
            <a:off x="9258299" y="2034183"/>
            <a:ext cx="8267819" cy="2508528"/>
          </a:xfrm>
          <a:prstGeom prst="rect">
            <a:avLst/>
          </a:prstGeom>
          <a:solidFill>
            <a:srgbClr val="EEDFB6"/>
          </a:solidFill>
          <a:ln/>
        </p:spPr>
      </p:sp>
      <p:sp>
        <p:nvSpPr>
          <p:cNvPr id="18" name="Text 16"/>
          <p:cNvSpPr/>
          <p:nvPr/>
        </p:nvSpPr>
        <p:spPr>
          <a:xfrm>
            <a:off x="9562980" y="2338864"/>
            <a:ext cx="842430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5C5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HISTÓRIA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9562980" y="2746415"/>
            <a:ext cx="7888211" cy="15297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518"/>
              </a:lnSpc>
              <a:buNone/>
            </a:pPr>
            <a:r>
              <a:rPr lang="en-US" sz="21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squad, quero os contratos dos endpoints publicados e versionados e a estratégia de toggles definida para que backend e frontend trabalhem em paralelo sem risco de retrabalho na integração.</a:t>
            </a:r>
            <a:endParaRPr lang="en-US" sz="2175" dirty="0"/>
          </a:p>
        </p:txBody>
      </p:sp>
      <p:sp>
        <p:nvSpPr>
          <p:cNvPr id="20" name="Shape 18"/>
          <p:cNvSpPr/>
          <p:nvPr/>
        </p:nvSpPr>
        <p:spPr>
          <a:xfrm>
            <a:off x="761881" y="4809351"/>
            <a:ext cx="6271855" cy="481095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761881" y="4809351"/>
            <a:ext cx="6271855" cy="57150"/>
          </a:xfrm>
          <a:prstGeom prst="rect">
            <a:avLst/>
          </a:prstGeom>
          <a:solidFill>
            <a:srgbClr val="C99A2E"/>
          </a:solidFill>
          <a:ln/>
        </p:spPr>
      </p:sp>
      <p:sp>
        <p:nvSpPr>
          <p:cNvPr id="22" name="Text 20"/>
          <p:cNvSpPr/>
          <p:nvPr/>
        </p:nvSpPr>
        <p:spPr>
          <a:xfrm>
            <a:off x="1047631" y="5152251"/>
            <a:ext cx="627039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CRITÉRIOS DE ACEITE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047631" y="5674102"/>
            <a:ext cx="85725" cy="85725"/>
          </a:xfrm>
          <a:prstGeom prst="rect">
            <a:avLst/>
          </a:prstGeom>
          <a:solidFill>
            <a:srgbClr val="C99A2E"/>
          </a:solidFill>
          <a:ln/>
        </p:spPr>
      </p:sp>
      <p:sp>
        <p:nvSpPr>
          <p:cNvPr id="24" name="Text 22"/>
          <p:cNvSpPr/>
          <p:nvPr/>
        </p:nvSpPr>
        <p:spPr>
          <a:xfrm>
            <a:off x="1266587" y="5578911"/>
            <a:ext cx="5645841" cy="666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 publicado no repositório, com schema de request, response e erros</a:t>
            </a:r>
            <a:endParaRPr lang="en-US" sz="1875" dirty="0"/>
          </a:p>
        </p:txBody>
      </p:sp>
      <p:sp>
        <p:nvSpPr>
          <p:cNvPr id="25" name="Shape 23"/>
          <p:cNvSpPr/>
          <p:nvPr/>
        </p:nvSpPr>
        <p:spPr>
          <a:xfrm>
            <a:off x="1047631" y="6416694"/>
            <a:ext cx="85725" cy="85725"/>
          </a:xfrm>
          <a:prstGeom prst="rect">
            <a:avLst/>
          </a:prstGeom>
          <a:solidFill>
            <a:srgbClr val="C99A2E"/>
          </a:solidFill>
          <a:ln/>
        </p:spPr>
      </p:sp>
      <p:sp>
        <p:nvSpPr>
          <p:cNvPr id="26" name="Text 24"/>
          <p:cNvSpPr/>
          <p:nvPr/>
        </p:nvSpPr>
        <p:spPr>
          <a:xfrm>
            <a:off x="1266587" y="6321504"/>
            <a:ext cx="5645841" cy="666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 revisado e aprovado por backend, frontend e QA</a:t>
            </a:r>
            <a:endParaRPr lang="en-US" sz="1875" dirty="0"/>
          </a:p>
        </p:txBody>
      </p:sp>
      <p:sp>
        <p:nvSpPr>
          <p:cNvPr id="27" name="Shape 25"/>
          <p:cNvSpPr/>
          <p:nvPr/>
        </p:nvSpPr>
        <p:spPr>
          <a:xfrm>
            <a:off x="1047631" y="7159287"/>
            <a:ext cx="85725" cy="85725"/>
          </a:xfrm>
          <a:prstGeom prst="rect">
            <a:avLst/>
          </a:prstGeom>
          <a:solidFill>
            <a:srgbClr val="C99A2E"/>
          </a:solidFill>
          <a:ln/>
        </p:spPr>
      </p:sp>
      <p:sp>
        <p:nvSpPr>
          <p:cNvPr id="28" name="Text 26"/>
          <p:cNvSpPr/>
          <p:nvPr/>
        </p:nvSpPr>
        <p:spPr>
          <a:xfrm>
            <a:off x="1266587" y="7064097"/>
            <a:ext cx="5645841" cy="666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 de toggles definida, com nome, escopo e critério de ativação</a:t>
            </a:r>
            <a:endParaRPr lang="en-US" sz="1875" dirty="0"/>
          </a:p>
        </p:txBody>
      </p:sp>
      <p:sp>
        <p:nvSpPr>
          <p:cNvPr id="29" name="Shape 27"/>
          <p:cNvSpPr/>
          <p:nvPr/>
        </p:nvSpPr>
        <p:spPr>
          <a:xfrm>
            <a:off x="1047631" y="7901880"/>
            <a:ext cx="85725" cy="85725"/>
          </a:xfrm>
          <a:prstGeom prst="rect">
            <a:avLst/>
          </a:prstGeom>
          <a:solidFill>
            <a:srgbClr val="C99A2E"/>
          </a:solidFill>
          <a:ln/>
        </p:spPr>
      </p:sp>
      <p:sp>
        <p:nvSpPr>
          <p:cNvPr id="30" name="Text 28"/>
          <p:cNvSpPr/>
          <p:nvPr/>
        </p:nvSpPr>
        <p:spPr>
          <a:xfrm>
            <a:off x="1266587" y="7806690"/>
            <a:ext cx="6029539" cy="352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Estratégia de rollback por toggle documentada</a:t>
            </a:r>
            <a:endParaRPr lang="en-US" sz="1875" dirty="0"/>
          </a:p>
        </p:txBody>
      </p:sp>
      <p:sp>
        <p:nvSpPr>
          <p:cNvPr id="31" name="Shape 29"/>
          <p:cNvSpPr/>
          <p:nvPr/>
        </p:nvSpPr>
        <p:spPr>
          <a:xfrm>
            <a:off x="7262336" y="4809351"/>
            <a:ext cx="5017591" cy="481095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7262336" y="4809351"/>
            <a:ext cx="5017591" cy="57150"/>
          </a:xfrm>
          <a:prstGeom prst="rect">
            <a:avLst/>
          </a:prstGeom>
          <a:solidFill>
            <a:srgbClr val="9AA3AE"/>
          </a:solidFill>
          <a:ln/>
        </p:spPr>
      </p:sp>
      <p:sp>
        <p:nvSpPr>
          <p:cNvPr id="33" name="Text 31"/>
          <p:cNvSpPr/>
          <p:nvPr/>
        </p:nvSpPr>
        <p:spPr>
          <a:xfrm>
            <a:off x="7548086" y="5152251"/>
            <a:ext cx="48907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DEFINITION OF READY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7548086" y="5674102"/>
            <a:ext cx="85725" cy="85725"/>
          </a:xfrm>
          <a:prstGeom prst="rect">
            <a:avLst/>
          </a:prstGeom>
          <a:solidFill>
            <a:srgbClr val="9AA3AE"/>
          </a:solidFill>
          <a:ln/>
        </p:spPr>
      </p:sp>
      <p:sp>
        <p:nvSpPr>
          <p:cNvPr id="35" name="Text 33"/>
          <p:cNvSpPr/>
          <p:nvPr/>
        </p:nvSpPr>
        <p:spPr>
          <a:xfrm>
            <a:off x="7767042" y="5578911"/>
            <a:ext cx="4649849" cy="352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Endpoints analisados e mapeados</a:t>
            </a:r>
            <a:endParaRPr lang="en-US" sz="1875" dirty="0"/>
          </a:p>
        </p:txBody>
      </p:sp>
      <p:sp>
        <p:nvSpPr>
          <p:cNvPr id="36" name="Shape 34"/>
          <p:cNvSpPr/>
          <p:nvPr/>
        </p:nvSpPr>
        <p:spPr>
          <a:xfrm>
            <a:off x="7548086" y="6102548"/>
            <a:ext cx="85725" cy="85725"/>
          </a:xfrm>
          <a:prstGeom prst="rect">
            <a:avLst/>
          </a:prstGeom>
          <a:solidFill>
            <a:srgbClr val="9AA3AE"/>
          </a:solidFill>
          <a:ln/>
        </p:spPr>
      </p:sp>
      <p:sp>
        <p:nvSpPr>
          <p:cNvPr id="37" name="Text 35"/>
          <p:cNvSpPr/>
          <p:nvPr/>
        </p:nvSpPr>
        <p:spPr>
          <a:xfrm>
            <a:off x="7767042" y="6007358"/>
            <a:ext cx="4353949" cy="666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Peça Centralizadora consultada sobre campos disponíveis</a:t>
            </a:r>
            <a:endParaRPr lang="en-US" sz="1875" dirty="0"/>
          </a:p>
        </p:txBody>
      </p:sp>
      <p:sp>
        <p:nvSpPr>
          <p:cNvPr id="38" name="Shape 36"/>
          <p:cNvSpPr/>
          <p:nvPr/>
        </p:nvSpPr>
        <p:spPr>
          <a:xfrm>
            <a:off x="7548086" y="6845141"/>
            <a:ext cx="85725" cy="85725"/>
          </a:xfrm>
          <a:prstGeom prst="rect">
            <a:avLst/>
          </a:prstGeom>
          <a:solidFill>
            <a:srgbClr val="9AA3AE"/>
          </a:solidFill>
          <a:ln/>
        </p:spPr>
      </p:sp>
      <p:sp>
        <p:nvSpPr>
          <p:cNvPr id="39" name="Text 37"/>
          <p:cNvSpPr/>
          <p:nvPr/>
        </p:nvSpPr>
        <p:spPr>
          <a:xfrm>
            <a:off x="7767042" y="6749950"/>
            <a:ext cx="4649849" cy="352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Padrão de nomes (HU-01) definido</a:t>
            </a:r>
            <a:endParaRPr lang="en-US" sz="1875" dirty="0"/>
          </a:p>
        </p:txBody>
      </p:sp>
      <p:sp>
        <p:nvSpPr>
          <p:cNvPr id="40" name="Shape 38"/>
          <p:cNvSpPr/>
          <p:nvPr/>
        </p:nvSpPr>
        <p:spPr>
          <a:xfrm>
            <a:off x="12508527" y="4809351"/>
            <a:ext cx="5017591" cy="481095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Shape 39"/>
          <p:cNvSpPr/>
          <p:nvPr/>
        </p:nvSpPr>
        <p:spPr>
          <a:xfrm>
            <a:off x="12508527" y="4809351"/>
            <a:ext cx="5017591" cy="57150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42" name="Text 40"/>
          <p:cNvSpPr/>
          <p:nvPr/>
        </p:nvSpPr>
        <p:spPr>
          <a:xfrm>
            <a:off x="12794277" y="5152251"/>
            <a:ext cx="48907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DEFINITION OF DONE</a:t>
            </a:r>
            <a:endParaRPr lang="en-US" sz="1650" dirty="0"/>
          </a:p>
        </p:txBody>
      </p:sp>
      <p:sp>
        <p:nvSpPr>
          <p:cNvPr id="43" name="Shape 41"/>
          <p:cNvSpPr/>
          <p:nvPr/>
        </p:nvSpPr>
        <p:spPr>
          <a:xfrm>
            <a:off x="12794277" y="5674102"/>
            <a:ext cx="85725" cy="85725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44" name="Text 42"/>
          <p:cNvSpPr/>
          <p:nvPr/>
        </p:nvSpPr>
        <p:spPr>
          <a:xfrm>
            <a:off x="13013232" y="5578911"/>
            <a:ext cx="4353949" cy="666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 versionado e consumido pela virtualização (HU-16)</a:t>
            </a:r>
            <a:endParaRPr lang="en-US" sz="1875" dirty="0"/>
          </a:p>
        </p:txBody>
      </p:sp>
      <p:sp>
        <p:nvSpPr>
          <p:cNvPr id="45" name="Shape 43"/>
          <p:cNvSpPr/>
          <p:nvPr/>
        </p:nvSpPr>
        <p:spPr>
          <a:xfrm>
            <a:off x="12794277" y="6416694"/>
            <a:ext cx="85725" cy="85725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46" name="Text 44"/>
          <p:cNvSpPr/>
          <p:nvPr/>
        </p:nvSpPr>
        <p:spPr>
          <a:xfrm>
            <a:off x="13013232" y="6321504"/>
            <a:ext cx="4353949" cy="666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Toggles cadastrados na ferramenta de configuração</a:t>
            </a:r>
            <a:endParaRPr lang="en-US" sz="1875" dirty="0"/>
          </a:p>
        </p:txBody>
      </p:sp>
      <p:sp>
        <p:nvSpPr>
          <p:cNvPr id="47" name="Shape 45"/>
          <p:cNvSpPr/>
          <p:nvPr/>
        </p:nvSpPr>
        <p:spPr>
          <a:xfrm>
            <a:off x="12794277" y="7159287"/>
            <a:ext cx="85725" cy="85725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48" name="Text 46"/>
          <p:cNvSpPr/>
          <p:nvPr/>
        </p:nvSpPr>
        <p:spPr>
          <a:xfrm>
            <a:off x="13013232" y="7064097"/>
            <a:ext cx="4649849" cy="352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campos marcados como "a definir"</a:t>
            </a:r>
            <a:endParaRPr lang="en-US" sz="18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881" y="666690"/>
            <a:ext cx="990481" cy="422910"/>
          </a:xfrm>
          <a:prstGeom prst="rect">
            <a:avLst/>
          </a:prstGeom>
          <a:solidFill>
            <a:srgbClr val="C99A2E"/>
          </a:solidFill>
          <a:ln/>
        </p:spPr>
      </p:sp>
      <p:sp>
        <p:nvSpPr>
          <p:cNvPr id="3" name="Text 1"/>
          <p:cNvSpPr/>
          <p:nvPr/>
        </p:nvSpPr>
        <p:spPr>
          <a:xfrm>
            <a:off x="914281" y="723840"/>
            <a:ext cx="761881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2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HU-03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923812" y="740985"/>
            <a:ext cx="4194667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· FUNDAÇÃO DE PLATAFORMA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61881" y="1222831"/>
            <a:ext cx="7279331" cy="11275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279"/>
              </a:lnSpc>
              <a:buNone/>
            </a:pPr>
            <a:r>
              <a:rPr lang="en-US" sz="3900" b="1" spc="-78" kern="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Gateways de negócio e BFF provisionados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8400692" y="742771"/>
            <a:ext cx="624661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80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ONDA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400692" y="1051381"/>
            <a:ext cx="62466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9368135" y="742771"/>
            <a:ext cx="2674906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80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PERFIL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368135" y="1051381"/>
            <a:ext cx="267490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SRE / Infra + Backend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2218848" y="742771"/>
            <a:ext cx="898981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80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PONTOS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218848" y="1051381"/>
            <a:ext cx="89898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3460610" y="742771"/>
            <a:ext cx="4472059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80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460610" y="1051381"/>
            <a:ext cx="4472059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BE-01, BE-02, BE-03, BE-04, BE-06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761881" y="2578893"/>
            <a:ext cx="8267819" cy="2135624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15" name="Text 13"/>
          <p:cNvSpPr/>
          <p:nvPr/>
        </p:nvSpPr>
        <p:spPr>
          <a:xfrm>
            <a:off x="1066562" y="2883575"/>
            <a:ext cx="842430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9AA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DOR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066562" y="3291126"/>
            <a:ext cx="7888211" cy="1118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154"/>
              </a:lnSpc>
              <a:buNone/>
            </a:pPr>
            <a:r>
              <a:rPr lang="en-US" sz="2025" dirty="0">
                <a:solidFill>
                  <a:srgbClr val="F5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os gateways não há porta de entrada para a jornada. Hoje as chamadas não têm ponto de controle de autenticação, throttling nem versionamento de contrato.</a:t>
            </a:r>
            <a:endParaRPr lang="en-US" sz="2025" dirty="0"/>
          </a:p>
        </p:txBody>
      </p:sp>
      <p:sp>
        <p:nvSpPr>
          <p:cNvPr id="17" name="Shape 15"/>
          <p:cNvSpPr/>
          <p:nvPr/>
        </p:nvSpPr>
        <p:spPr>
          <a:xfrm>
            <a:off x="9258299" y="2578893"/>
            <a:ext cx="8267819" cy="2135624"/>
          </a:xfrm>
          <a:prstGeom prst="rect">
            <a:avLst/>
          </a:prstGeom>
          <a:solidFill>
            <a:srgbClr val="EEDFB6"/>
          </a:solidFill>
          <a:ln/>
        </p:spPr>
      </p:sp>
      <p:sp>
        <p:nvSpPr>
          <p:cNvPr id="18" name="Text 16"/>
          <p:cNvSpPr/>
          <p:nvPr/>
        </p:nvSpPr>
        <p:spPr>
          <a:xfrm>
            <a:off x="9562980" y="2883575"/>
            <a:ext cx="842430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5C5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HISTÓRIA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9562980" y="3291126"/>
            <a:ext cx="7888211" cy="1156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518"/>
              </a:lnSpc>
              <a:buNone/>
            </a:pPr>
            <a:r>
              <a:rPr lang="en-US" sz="21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time de plataforma, quero os gateways de negócio e de BFF provisionados com seus contratos versionados para que a jornada tenha uma porta de entrada controlada e auditável.</a:t>
            </a:r>
            <a:endParaRPr lang="en-US" sz="2175" dirty="0"/>
          </a:p>
        </p:txBody>
      </p:sp>
      <p:sp>
        <p:nvSpPr>
          <p:cNvPr id="20" name="Shape 18"/>
          <p:cNvSpPr/>
          <p:nvPr/>
        </p:nvSpPr>
        <p:spPr>
          <a:xfrm>
            <a:off x="761881" y="4981158"/>
            <a:ext cx="6271855" cy="463915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761881" y="4981158"/>
            <a:ext cx="6271855" cy="57150"/>
          </a:xfrm>
          <a:prstGeom prst="rect">
            <a:avLst/>
          </a:prstGeom>
          <a:solidFill>
            <a:srgbClr val="C99A2E"/>
          </a:solidFill>
          <a:ln/>
        </p:spPr>
      </p:sp>
      <p:sp>
        <p:nvSpPr>
          <p:cNvPr id="22" name="Text 20"/>
          <p:cNvSpPr/>
          <p:nvPr/>
        </p:nvSpPr>
        <p:spPr>
          <a:xfrm>
            <a:off x="1047631" y="5324058"/>
            <a:ext cx="627039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CRITÉRIOS DE ACEITE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047631" y="5845909"/>
            <a:ext cx="85725" cy="85725"/>
          </a:xfrm>
          <a:prstGeom prst="rect">
            <a:avLst/>
          </a:prstGeom>
          <a:solidFill>
            <a:srgbClr val="C99A2E"/>
          </a:solidFill>
          <a:ln/>
        </p:spPr>
      </p:sp>
      <p:sp>
        <p:nvSpPr>
          <p:cNvPr id="24" name="Text 22"/>
          <p:cNvSpPr/>
          <p:nvPr/>
        </p:nvSpPr>
        <p:spPr>
          <a:xfrm>
            <a:off x="1266587" y="5750718"/>
            <a:ext cx="5645841" cy="666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Quatro repositórios criados a partir do template: infra e contrato para cada gateway</a:t>
            </a:r>
            <a:endParaRPr lang="en-US" sz="1875" dirty="0"/>
          </a:p>
        </p:txBody>
      </p:sp>
      <p:sp>
        <p:nvSpPr>
          <p:cNvPr id="25" name="Shape 23"/>
          <p:cNvSpPr/>
          <p:nvPr/>
        </p:nvSpPr>
        <p:spPr>
          <a:xfrm>
            <a:off x="1047631" y="6588502"/>
            <a:ext cx="85725" cy="85725"/>
          </a:xfrm>
          <a:prstGeom prst="rect">
            <a:avLst/>
          </a:prstGeom>
          <a:solidFill>
            <a:srgbClr val="C99A2E"/>
          </a:solidFill>
          <a:ln/>
        </p:spPr>
      </p:sp>
      <p:sp>
        <p:nvSpPr>
          <p:cNvPr id="26" name="Text 24"/>
          <p:cNvSpPr/>
          <p:nvPr/>
        </p:nvSpPr>
        <p:spPr>
          <a:xfrm>
            <a:off x="1266587" y="6493311"/>
            <a:ext cx="5645841" cy="666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Pipelines executando com sucesso em ambiente de desenvolvimento</a:t>
            </a:r>
            <a:endParaRPr lang="en-US" sz="1875" dirty="0"/>
          </a:p>
        </p:txBody>
      </p:sp>
      <p:sp>
        <p:nvSpPr>
          <p:cNvPr id="27" name="Shape 25"/>
          <p:cNvSpPr/>
          <p:nvPr/>
        </p:nvSpPr>
        <p:spPr>
          <a:xfrm>
            <a:off x="1047631" y="7331094"/>
            <a:ext cx="85725" cy="85725"/>
          </a:xfrm>
          <a:prstGeom prst="rect">
            <a:avLst/>
          </a:prstGeom>
          <a:solidFill>
            <a:srgbClr val="C99A2E"/>
          </a:solidFill>
          <a:ln/>
        </p:spPr>
      </p:sp>
      <p:sp>
        <p:nvSpPr>
          <p:cNvPr id="28" name="Text 26"/>
          <p:cNvSpPr/>
          <p:nvPr/>
        </p:nvSpPr>
        <p:spPr>
          <a:xfrm>
            <a:off x="1266587" y="7235904"/>
            <a:ext cx="6029539" cy="352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Caronte configurado no gateway BFF</a:t>
            </a:r>
            <a:endParaRPr lang="en-US" sz="1875" dirty="0"/>
          </a:p>
        </p:txBody>
      </p:sp>
      <p:sp>
        <p:nvSpPr>
          <p:cNvPr id="29" name="Shape 27"/>
          <p:cNvSpPr/>
          <p:nvPr/>
        </p:nvSpPr>
        <p:spPr>
          <a:xfrm>
            <a:off x="1047631" y="7759541"/>
            <a:ext cx="85725" cy="85725"/>
          </a:xfrm>
          <a:prstGeom prst="rect">
            <a:avLst/>
          </a:prstGeom>
          <a:solidFill>
            <a:srgbClr val="C99A2E"/>
          </a:solidFill>
          <a:ln/>
        </p:spPr>
      </p:sp>
      <p:sp>
        <p:nvSpPr>
          <p:cNvPr id="30" name="Text 28"/>
          <p:cNvSpPr/>
          <p:nvPr/>
        </p:nvSpPr>
        <p:spPr>
          <a:xfrm>
            <a:off x="1266587" y="7664350"/>
            <a:ext cx="5645841" cy="666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Chamada de teste atravessa o gateway e retorna o esperado</a:t>
            </a:r>
            <a:endParaRPr lang="en-US" sz="1875" dirty="0"/>
          </a:p>
        </p:txBody>
      </p:sp>
      <p:sp>
        <p:nvSpPr>
          <p:cNvPr id="31" name="Shape 29"/>
          <p:cNvSpPr/>
          <p:nvPr/>
        </p:nvSpPr>
        <p:spPr>
          <a:xfrm>
            <a:off x="7262336" y="4981158"/>
            <a:ext cx="5017591" cy="463915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7262336" y="4981158"/>
            <a:ext cx="5017591" cy="57150"/>
          </a:xfrm>
          <a:prstGeom prst="rect">
            <a:avLst/>
          </a:prstGeom>
          <a:solidFill>
            <a:srgbClr val="9AA3AE"/>
          </a:solidFill>
          <a:ln/>
        </p:spPr>
      </p:sp>
      <p:sp>
        <p:nvSpPr>
          <p:cNvPr id="33" name="Text 31"/>
          <p:cNvSpPr/>
          <p:nvPr/>
        </p:nvSpPr>
        <p:spPr>
          <a:xfrm>
            <a:off x="7548086" y="5324058"/>
            <a:ext cx="48907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DEFINITION OF READY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7548086" y="5845909"/>
            <a:ext cx="85725" cy="85725"/>
          </a:xfrm>
          <a:prstGeom prst="rect">
            <a:avLst/>
          </a:prstGeom>
          <a:solidFill>
            <a:srgbClr val="9AA3AE"/>
          </a:solidFill>
          <a:ln/>
        </p:spPr>
      </p:sp>
      <p:sp>
        <p:nvSpPr>
          <p:cNvPr id="35" name="Text 33"/>
          <p:cNvSpPr/>
          <p:nvPr/>
        </p:nvSpPr>
        <p:spPr>
          <a:xfrm>
            <a:off x="7767042" y="5750718"/>
            <a:ext cx="4649849" cy="352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 AWS disponível (HU-01)</a:t>
            </a:r>
            <a:endParaRPr lang="en-US" sz="1875" dirty="0"/>
          </a:p>
        </p:txBody>
      </p:sp>
      <p:sp>
        <p:nvSpPr>
          <p:cNvPr id="36" name="Shape 34"/>
          <p:cNvSpPr/>
          <p:nvPr/>
        </p:nvSpPr>
        <p:spPr>
          <a:xfrm>
            <a:off x="7548086" y="6274355"/>
            <a:ext cx="85725" cy="85725"/>
          </a:xfrm>
          <a:prstGeom prst="rect">
            <a:avLst/>
          </a:prstGeom>
          <a:solidFill>
            <a:srgbClr val="9AA3AE"/>
          </a:solidFill>
          <a:ln/>
        </p:spPr>
      </p:sp>
      <p:sp>
        <p:nvSpPr>
          <p:cNvPr id="37" name="Text 35"/>
          <p:cNvSpPr/>
          <p:nvPr/>
        </p:nvSpPr>
        <p:spPr>
          <a:xfrm>
            <a:off x="7767042" y="6179165"/>
            <a:ext cx="4649849" cy="352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 de API publicado (HU-02)</a:t>
            </a:r>
            <a:endParaRPr lang="en-US" sz="1875" dirty="0"/>
          </a:p>
        </p:txBody>
      </p:sp>
      <p:sp>
        <p:nvSpPr>
          <p:cNvPr id="38" name="Shape 36"/>
          <p:cNvSpPr/>
          <p:nvPr/>
        </p:nvSpPr>
        <p:spPr>
          <a:xfrm>
            <a:off x="7548086" y="6702802"/>
            <a:ext cx="85725" cy="85725"/>
          </a:xfrm>
          <a:prstGeom prst="rect">
            <a:avLst/>
          </a:prstGeom>
          <a:solidFill>
            <a:srgbClr val="9AA3AE"/>
          </a:solidFill>
          <a:ln/>
        </p:spPr>
      </p:sp>
      <p:sp>
        <p:nvSpPr>
          <p:cNvPr id="39" name="Text 37"/>
          <p:cNvSpPr/>
          <p:nvPr/>
        </p:nvSpPr>
        <p:spPr>
          <a:xfrm>
            <a:off x="7767042" y="6607611"/>
            <a:ext cx="4353949" cy="666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de repositório acessível ao squad</a:t>
            </a:r>
            <a:endParaRPr lang="en-US" sz="1875" dirty="0"/>
          </a:p>
        </p:txBody>
      </p:sp>
      <p:sp>
        <p:nvSpPr>
          <p:cNvPr id="40" name="Shape 38"/>
          <p:cNvSpPr/>
          <p:nvPr/>
        </p:nvSpPr>
        <p:spPr>
          <a:xfrm>
            <a:off x="12508527" y="4981158"/>
            <a:ext cx="5017591" cy="463915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Shape 39"/>
          <p:cNvSpPr/>
          <p:nvPr/>
        </p:nvSpPr>
        <p:spPr>
          <a:xfrm>
            <a:off x="12508527" y="4981158"/>
            <a:ext cx="5017591" cy="57150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42" name="Text 40"/>
          <p:cNvSpPr/>
          <p:nvPr/>
        </p:nvSpPr>
        <p:spPr>
          <a:xfrm>
            <a:off x="12794277" y="5324058"/>
            <a:ext cx="48907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DEFINITION OF DONE</a:t>
            </a:r>
            <a:endParaRPr lang="en-US" sz="1650" dirty="0"/>
          </a:p>
        </p:txBody>
      </p:sp>
      <p:sp>
        <p:nvSpPr>
          <p:cNvPr id="43" name="Shape 41"/>
          <p:cNvSpPr/>
          <p:nvPr/>
        </p:nvSpPr>
        <p:spPr>
          <a:xfrm>
            <a:off x="12794277" y="5845909"/>
            <a:ext cx="85725" cy="85725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44" name="Text 42"/>
          <p:cNvSpPr/>
          <p:nvPr/>
        </p:nvSpPr>
        <p:spPr>
          <a:xfrm>
            <a:off x="13013232" y="5750718"/>
            <a:ext cx="4649849" cy="352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Pipelines verdes nos quatro repositórios</a:t>
            </a:r>
            <a:endParaRPr lang="en-US" sz="1875" dirty="0"/>
          </a:p>
        </p:txBody>
      </p:sp>
      <p:sp>
        <p:nvSpPr>
          <p:cNvPr id="45" name="Shape 43"/>
          <p:cNvSpPr/>
          <p:nvPr/>
        </p:nvSpPr>
        <p:spPr>
          <a:xfrm>
            <a:off x="12794277" y="6274355"/>
            <a:ext cx="85725" cy="85725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46" name="Text 44"/>
          <p:cNvSpPr/>
          <p:nvPr/>
        </p:nvSpPr>
        <p:spPr>
          <a:xfrm>
            <a:off x="13013232" y="6179165"/>
            <a:ext cx="4649849" cy="352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 de smoke test respondendo</a:t>
            </a:r>
            <a:endParaRPr lang="en-US" sz="1875" dirty="0"/>
          </a:p>
        </p:txBody>
      </p:sp>
      <p:sp>
        <p:nvSpPr>
          <p:cNvPr id="47" name="Shape 45"/>
          <p:cNvSpPr/>
          <p:nvPr/>
        </p:nvSpPr>
        <p:spPr>
          <a:xfrm>
            <a:off x="12794277" y="6702802"/>
            <a:ext cx="85725" cy="85725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48" name="Text 46"/>
          <p:cNvSpPr/>
          <p:nvPr/>
        </p:nvSpPr>
        <p:spPr>
          <a:xfrm>
            <a:off x="13013232" y="6607611"/>
            <a:ext cx="4649849" cy="352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Configuração revisada em code review</a:t>
            </a:r>
            <a:endParaRPr lang="en-US" sz="18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881" y="666690"/>
            <a:ext cx="990481" cy="422910"/>
          </a:xfrm>
          <a:prstGeom prst="rect">
            <a:avLst/>
          </a:prstGeom>
          <a:solidFill>
            <a:srgbClr val="C99A2E"/>
          </a:solidFill>
          <a:ln/>
        </p:spPr>
      </p:sp>
      <p:sp>
        <p:nvSpPr>
          <p:cNvPr id="3" name="Text 1"/>
          <p:cNvSpPr/>
          <p:nvPr/>
        </p:nvSpPr>
        <p:spPr>
          <a:xfrm>
            <a:off x="914281" y="723840"/>
            <a:ext cx="761881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2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HU-04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923812" y="740985"/>
            <a:ext cx="4194667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· FUNDAÇÃO DE PLATAFORMA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61881" y="1222831"/>
            <a:ext cx="12825441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279"/>
              </a:lnSpc>
              <a:buNone/>
            </a:pPr>
            <a:r>
              <a:rPr lang="en-US" sz="3900" b="1" spc="-78" kern="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 e conectividade privada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12992873" y="742771"/>
            <a:ext cx="624661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80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ONDA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992873" y="1051381"/>
            <a:ext cx="62466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3960315" y="742771"/>
            <a:ext cx="1264206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80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PERFIL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960315" y="1051381"/>
            <a:ext cx="126420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SRE / Infra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5567302" y="742771"/>
            <a:ext cx="898981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80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PONTOS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5567302" y="1051381"/>
            <a:ext cx="89898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6809065" y="742771"/>
            <a:ext cx="793254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80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809065" y="1051381"/>
            <a:ext cx="793254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BE-05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761881" y="2034183"/>
            <a:ext cx="8267819" cy="2135624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15" name="Text 13"/>
          <p:cNvSpPr/>
          <p:nvPr/>
        </p:nvSpPr>
        <p:spPr>
          <a:xfrm>
            <a:off x="1066562" y="2338864"/>
            <a:ext cx="842430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9AA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DOR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066562" y="2746415"/>
            <a:ext cx="7888211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154"/>
              </a:lnSpc>
              <a:buNone/>
            </a:pPr>
            <a:r>
              <a:rPr lang="en-US" sz="2025" dirty="0">
                <a:solidFill>
                  <a:srgbClr val="F5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NLB, ALB e VPC Link o gateway não alcança os containers em rede privada, e expor os serviços publicamente não é opção.</a:t>
            </a:r>
            <a:endParaRPr lang="en-US" sz="2025" dirty="0"/>
          </a:p>
        </p:txBody>
      </p:sp>
      <p:sp>
        <p:nvSpPr>
          <p:cNvPr id="17" name="Shape 15"/>
          <p:cNvSpPr/>
          <p:nvPr/>
        </p:nvSpPr>
        <p:spPr>
          <a:xfrm>
            <a:off x="9258299" y="2034183"/>
            <a:ext cx="8267819" cy="2135624"/>
          </a:xfrm>
          <a:prstGeom prst="rect">
            <a:avLst/>
          </a:prstGeom>
          <a:solidFill>
            <a:srgbClr val="EEDFB6"/>
          </a:solidFill>
          <a:ln/>
        </p:spPr>
      </p:sp>
      <p:sp>
        <p:nvSpPr>
          <p:cNvPr id="18" name="Text 16"/>
          <p:cNvSpPr/>
          <p:nvPr/>
        </p:nvSpPr>
        <p:spPr>
          <a:xfrm>
            <a:off x="9562980" y="2338864"/>
            <a:ext cx="842430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5C5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HISTÓRIA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9562980" y="2746415"/>
            <a:ext cx="7888211" cy="1156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518"/>
              </a:lnSpc>
              <a:buNone/>
            </a:pPr>
            <a:r>
              <a:rPr lang="en-US" sz="21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time de plataforma, quero a camada de rede provisionada para que o gateway alcance os containers sem exposição pública.</a:t>
            </a:r>
            <a:endParaRPr lang="en-US" sz="2175" dirty="0"/>
          </a:p>
        </p:txBody>
      </p:sp>
      <p:sp>
        <p:nvSpPr>
          <p:cNvPr id="20" name="Shape 18"/>
          <p:cNvSpPr/>
          <p:nvPr/>
        </p:nvSpPr>
        <p:spPr>
          <a:xfrm>
            <a:off x="761881" y="4436447"/>
            <a:ext cx="6271855" cy="518386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761881" y="4436447"/>
            <a:ext cx="6271855" cy="57150"/>
          </a:xfrm>
          <a:prstGeom prst="rect">
            <a:avLst/>
          </a:prstGeom>
          <a:solidFill>
            <a:srgbClr val="C99A2E"/>
          </a:solidFill>
          <a:ln/>
        </p:spPr>
      </p:sp>
      <p:sp>
        <p:nvSpPr>
          <p:cNvPr id="22" name="Text 20"/>
          <p:cNvSpPr/>
          <p:nvPr/>
        </p:nvSpPr>
        <p:spPr>
          <a:xfrm>
            <a:off x="1047631" y="4779347"/>
            <a:ext cx="627039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CRITÉRIOS DE ACEITE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047631" y="5301198"/>
            <a:ext cx="85725" cy="85725"/>
          </a:xfrm>
          <a:prstGeom prst="rect">
            <a:avLst/>
          </a:prstGeom>
          <a:solidFill>
            <a:srgbClr val="C99A2E"/>
          </a:solidFill>
          <a:ln/>
        </p:spPr>
      </p:sp>
      <p:sp>
        <p:nvSpPr>
          <p:cNvPr id="24" name="Text 22"/>
          <p:cNvSpPr/>
          <p:nvPr/>
        </p:nvSpPr>
        <p:spPr>
          <a:xfrm>
            <a:off x="1266587" y="5206007"/>
            <a:ext cx="5645841" cy="666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NLB, ALB e VPC Link provisionados via repositório de infraestrutura</a:t>
            </a:r>
            <a:endParaRPr lang="en-US" sz="1875" dirty="0"/>
          </a:p>
        </p:txBody>
      </p:sp>
      <p:sp>
        <p:nvSpPr>
          <p:cNvPr id="25" name="Shape 23"/>
          <p:cNvSpPr/>
          <p:nvPr/>
        </p:nvSpPr>
        <p:spPr>
          <a:xfrm>
            <a:off x="1047631" y="6043791"/>
            <a:ext cx="85725" cy="85725"/>
          </a:xfrm>
          <a:prstGeom prst="rect">
            <a:avLst/>
          </a:prstGeom>
          <a:solidFill>
            <a:srgbClr val="C99A2E"/>
          </a:solidFill>
          <a:ln/>
        </p:spPr>
      </p:sp>
      <p:sp>
        <p:nvSpPr>
          <p:cNvPr id="26" name="Text 24"/>
          <p:cNvSpPr/>
          <p:nvPr/>
        </p:nvSpPr>
        <p:spPr>
          <a:xfrm>
            <a:off x="1266587" y="5948600"/>
            <a:ext cx="5645841" cy="666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 do gateway até o container validada em ambiente de desenvolvimento</a:t>
            </a:r>
            <a:endParaRPr lang="en-US" sz="1875" dirty="0"/>
          </a:p>
        </p:txBody>
      </p:sp>
      <p:sp>
        <p:nvSpPr>
          <p:cNvPr id="27" name="Shape 25"/>
          <p:cNvSpPr/>
          <p:nvPr/>
        </p:nvSpPr>
        <p:spPr>
          <a:xfrm>
            <a:off x="1047631" y="6786383"/>
            <a:ext cx="85725" cy="85725"/>
          </a:xfrm>
          <a:prstGeom prst="rect">
            <a:avLst/>
          </a:prstGeom>
          <a:solidFill>
            <a:srgbClr val="C99A2E"/>
          </a:solidFill>
          <a:ln/>
        </p:spPr>
      </p:sp>
      <p:sp>
        <p:nvSpPr>
          <p:cNvPr id="28" name="Text 26"/>
          <p:cNvSpPr/>
          <p:nvPr/>
        </p:nvSpPr>
        <p:spPr>
          <a:xfrm>
            <a:off x="1266587" y="6691193"/>
            <a:ext cx="6029539" cy="352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groups restritos ao tráfego necessário</a:t>
            </a:r>
            <a:endParaRPr lang="en-US" sz="1875" dirty="0"/>
          </a:p>
        </p:txBody>
      </p:sp>
      <p:sp>
        <p:nvSpPr>
          <p:cNvPr id="29" name="Shape 27"/>
          <p:cNvSpPr/>
          <p:nvPr/>
        </p:nvSpPr>
        <p:spPr>
          <a:xfrm>
            <a:off x="7262336" y="4436447"/>
            <a:ext cx="5017591" cy="518386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7262336" y="4436447"/>
            <a:ext cx="5017591" cy="57150"/>
          </a:xfrm>
          <a:prstGeom prst="rect">
            <a:avLst/>
          </a:prstGeom>
          <a:solidFill>
            <a:srgbClr val="9AA3AE"/>
          </a:solidFill>
          <a:ln/>
        </p:spPr>
      </p:sp>
      <p:sp>
        <p:nvSpPr>
          <p:cNvPr id="31" name="Text 29"/>
          <p:cNvSpPr/>
          <p:nvPr/>
        </p:nvSpPr>
        <p:spPr>
          <a:xfrm>
            <a:off x="7548086" y="4779347"/>
            <a:ext cx="48907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DEFINITION OF READY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7548086" y="5301198"/>
            <a:ext cx="85725" cy="85725"/>
          </a:xfrm>
          <a:prstGeom prst="rect">
            <a:avLst/>
          </a:prstGeom>
          <a:solidFill>
            <a:srgbClr val="9AA3AE"/>
          </a:solidFill>
          <a:ln/>
        </p:spPr>
      </p:sp>
      <p:sp>
        <p:nvSpPr>
          <p:cNvPr id="33" name="Text 31"/>
          <p:cNvSpPr/>
          <p:nvPr/>
        </p:nvSpPr>
        <p:spPr>
          <a:xfrm>
            <a:off x="7767042" y="5206007"/>
            <a:ext cx="4649849" cy="352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Gateways provisionados (HU-03)</a:t>
            </a:r>
            <a:endParaRPr lang="en-US" sz="1875" dirty="0"/>
          </a:p>
        </p:txBody>
      </p:sp>
      <p:sp>
        <p:nvSpPr>
          <p:cNvPr id="34" name="Shape 32"/>
          <p:cNvSpPr/>
          <p:nvPr/>
        </p:nvSpPr>
        <p:spPr>
          <a:xfrm>
            <a:off x="7548086" y="5729644"/>
            <a:ext cx="85725" cy="85725"/>
          </a:xfrm>
          <a:prstGeom prst="rect">
            <a:avLst/>
          </a:prstGeom>
          <a:solidFill>
            <a:srgbClr val="9AA3AE"/>
          </a:solidFill>
          <a:ln/>
        </p:spPr>
      </p:sp>
      <p:sp>
        <p:nvSpPr>
          <p:cNvPr id="35" name="Text 33"/>
          <p:cNvSpPr/>
          <p:nvPr/>
        </p:nvSpPr>
        <p:spPr>
          <a:xfrm>
            <a:off x="7767042" y="5634454"/>
            <a:ext cx="4353949" cy="666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Desenho de rede aprovado pela arquitetura</a:t>
            </a:r>
            <a:endParaRPr lang="en-US" sz="1875" dirty="0"/>
          </a:p>
        </p:txBody>
      </p:sp>
      <p:sp>
        <p:nvSpPr>
          <p:cNvPr id="36" name="Shape 34"/>
          <p:cNvSpPr/>
          <p:nvPr/>
        </p:nvSpPr>
        <p:spPr>
          <a:xfrm>
            <a:off x="12508527" y="4436447"/>
            <a:ext cx="5017591" cy="518386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Shape 35"/>
          <p:cNvSpPr/>
          <p:nvPr/>
        </p:nvSpPr>
        <p:spPr>
          <a:xfrm>
            <a:off x="12508527" y="4436447"/>
            <a:ext cx="5017591" cy="57150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38" name="Text 36"/>
          <p:cNvSpPr/>
          <p:nvPr/>
        </p:nvSpPr>
        <p:spPr>
          <a:xfrm>
            <a:off x="12794277" y="4779347"/>
            <a:ext cx="48907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DEFINITION OF DONE</a:t>
            </a:r>
            <a:endParaRPr lang="en-US" sz="1650" dirty="0"/>
          </a:p>
        </p:txBody>
      </p:sp>
      <p:sp>
        <p:nvSpPr>
          <p:cNvPr id="39" name="Shape 37"/>
          <p:cNvSpPr/>
          <p:nvPr/>
        </p:nvSpPr>
        <p:spPr>
          <a:xfrm>
            <a:off x="12794277" y="5301198"/>
            <a:ext cx="85725" cy="85725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40" name="Text 38"/>
          <p:cNvSpPr/>
          <p:nvPr/>
        </p:nvSpPr>
        <p:spPr>
          <a:xfrm>
            <a:off x="13013232" y="5206007"/>
            <a:ext cx="4353949" cy="666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 de conectividade executado e registrado</a:t>
            </a:r>
            <a:endParaRPr lang="en-US" sz="1875" dirty="0"/>
          </a:p>
        </p:txBody>
      </p:sp>
      <p:sp>
        <p:nvSpPr>
          <p:cNvPr id="41" name="Shape 39"/>
          <p:cNvSpPr/>
          <p:nvPr/>
        </p:nvSpPr>
        <p:spPr>
          <a:xfrm>
            <a:off x="12794277" y="6043791"/>
            <a:ext cx="85725" cy="85725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42" name="Text 40"/>
          <p:cNvSpPr/>
          <p:nvPr/>
        </p:nvSpPr>
        <p:spPr>
          <a:xfrm>
            <a:off x="13013232" y="5948600"/>
            <a:ext cx="4353949" cy="666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Nenhum recurso com acesso público não intencional</a:t>
            </a:r>
            <a:endParaRPr lang="en-US" sz="18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881" y="666690"/>
            <a:ext cx="990481" cy="422910"/>
          </a:xfrm>
          <a:prstGeom prst="rect">
            <a:avLst/>
          </a:prstGeom>
          <a:solidFill>
            <a:srgbClr val="C99A2E"/>
          </a:solidFill>
          <a:ln/>
        </p:spPr>
      </p:sp>
      <p:sp>
        <p:nvSpPr>
          <p:cNvPr id="3" name="Text 1"/>
          <p:cNvSpPr/>
          <p:nvPr/>
        </p:nvSpPr>
        <p:spPr>
          <a:xfrm>
            <a:off x="914281" y="723840"/>
            <a:ext cx="761881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2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HU-05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923812" y="740985"/>
            <a:ext cx="4194667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· FUNDAÇÃO DE PLATAFORMA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61881" y="1222831"/>
            <a:ext cx="10300735" cy="11275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279"/>
              </a:lnSpc>
              <a:buNone/>
            </a:pPr>
            <a:r>
              <a:rPr lang="en-US" sz="3900" b="1" spc="-78" kern="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de containers para BFF e peça habilitadora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11334094" y="742771"/>
            <a:ext cx="624661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80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ONDA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334094" y="1051381"/>
            <a:ext cx="62466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301536" y="742771"/>
            <a:ext cx="1264206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80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PERFIL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301536" y="1051381"/>
            <a:ext cx="126420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SRE / Infra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3908523" y="742771"/>
            <a:ext cx="898981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80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PONTOS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908523" y="1051381"/>
            <a:ext cx="89898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5150286" y="742771"/>
            <a:ext cx="2613416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80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150286" y="1051381"/>
            <a:ext cx="261341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BE-09, BE-10, BE-11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761881" y="2578893"/>
            <a:ext cx="8267819" cy="2135624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15" name="Text 13"/>
          <p:cNvSpPr/>
          <p:nvPr/>
        </p:nvSpPr>
        <p:spPr>
          <a:xfrm>
            <a:off x="1066562" y="2883575"/>
            <a:ext cx="842430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9AA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DOR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066562" y="3291126"/>
            <a:ext cx="7888211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154"/>
              </a:lnSpc>
              <a:buNone/>
            </a:pPr>
            <a:r>
              <a:rPr lang="en-US" sz="2025" dirty="0">
                <a:solidFill>
                  <a:srgbClr val="F5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há onde executar as aplicações. Sem cluster e containers, todo o desenvolvimento de backend fica sem ambiente de verificação.</a:t>
            </a:r>
            <a:endParaRPr lang="en-US" sz="2025" dirty="0"/>
          </a:p>
        </p:txBody>
      </p:sp>
      <p:sp>
        <p:nvSpPr>
          <p:cNvPr id="17" name="Shape 15"/>
          <p:cNvSpPr/>
          <p:nvPr/>
        </p:nvSpPr>
        <p:spPr>
          <a:xfrm>
            <a:off x="9258299" y="2578893"/>
            <a:ext cx="8267819" cy="2135624"/>
          </a:xfrm>
          <a:prstGeom prst="rect">
            <a:avLst/>
          </a:prstGeom>
          <a:solidFill>
            <a:srgbClr val="EEDFB6"/>
          </a:solidFill>
          <a:ln/>
        </p:spPr>
      </p:sp>
      <p:sp>
        <p:nvSpPr>
          <p:cNvPr id="18" name="Text 16"/>
          <p:cNvSpPr/>
          <p:nvPr/>
        </p:nvSpPr>
        <p:spPr>
          <a:xfrm>
            <a:off x="9562980" y="2883575"/>
            <a:ext cx="842430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5C5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HISTÓRIA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9562980" y="3291126"/>
            <a:ext cx="7888211" cy="1156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518"/>
              </a:lnSpc>
              <a:buNone/>
            </a:pPr>
            <a:r>
              <a:rPr lang="en-US" sz="21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time de backend, quero o cluster ECS e os containers Fargate do BFF e da peça habilitadora provisionados para que as aplicações tenham onde rodar desde o primeiro commit.</a:t>
            </a:r>
            <a:endParaRPr lang="en-US" sz="2175" dirty="0"/>
          </a:p>
        </p:txBody>
      </p:sp>
      <p:sp>
        <p:nvSpPr>
          <p:cNvPr id="20" name="Shape 18"/>
          <p:cNvSpPr/>
          <p:nvPr/>
        </p:nvSpPr>
        <p:spPr>
          <a:xfrm>
            <a:off x="761881" y="4981158"/>
            <a:ext cx="6271855" cy="463915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761881" y="4981158"/>
            <a:ext cx="6271855" cy="57150"/>
          </a:xfrm>
          <a:prstGeom prst="rect">
            <a:avLst/>
          </a:prstGeom>
          <a:solidFill>
            <a:srgbClr val="C99A2E"/>
          </a:solidFill>
          <a:ln/>
        </p:spPr>
      </p:sp>
      <p:sp>
        <p:nvSpPr>
          <p:cNvPr id="22" name="Text 20"/>
          <p:cNvSpPr/>
          <p:nvPr/>
        </p:nvSpPr>
        <p:spPr>
          <a:xfrm>
            <a:off x="1047631" y="5324058"/>
            <a:ext cx="627039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CRITÉRIOS DE ACEITE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047631" y="5845909"/>
            <a:ext cx="85725" cy="85725"/>
          </a:xfrm>
          <a:prstGeom prst="rect">
            <a:avLst/>
          </a:prstGeom>
          <a:solidFill>
            <a:srgbClr val="C99A2E"/>
          </a:solidFill>
          <a:ln/>
        </p:spPr>
      </p:sp>
      <p:sp>
        <p:nvSpPr>
          <p:cNvPr id="24" name="Text 22"/>
          <p:cNvSpPr/>
          <p:nvPr/>
        </p:nvSpPr>
        <p:spPr>
          <a:xfrm>
            <a:off x="1266587" y="5750718"/>
            <a:ext cx="5645841" cy="666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ECS ativo, com autoscaling e limites definidos</a:t>
            </a:r>
            <a:endParaRPr lang="en-US" sz="1875" dirty="0"/>
          </a:p>
        </p:txBody>
      </p:sp>
      <p:sp>
        <p:nvSpPr>
          <p:cNvPr id="25" name="Shape 23"/>
          <p:cNvSpPr/>
          <p:nvPr/>
        </p:nvSpPr>
        <p:spPr>
          <a:xfrm>
            <a:off x="1047631" y="6588502"/>
            <a:ext cx="85725" cy="85725"/>
          </a:xfrm>
          <a:prstGeom prst="rect">
            <a:avLst/>
          </a:prstGeom>
          <a:solidFill>
            <a:srgbClr val="C99A2E"/>
          </a:solidFill>
          <a:ln/>
        </p:spPr>
      </p:sp>
      <p:sp>
        <p:nvSpPr>
          <p:cNvPr id="26" name="Text 24"/>
          <p:cNvSpPr/>
          <p:nvPr/>
        </p:nvSpPr>
        <p:spPr>
          <a:xfrm>
            <a:off x="1266587" y="6493311"/>
            <a:ext cx="6029539" cy="352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 do BFF sobe e responde ao health check</a:t>
            </a:r>
            <a:endParaRPr lang="en-US" sz="1875" dirty="0"/>
          </a:p>
        </p:txBody>
      </p:sp>
      <p:sp>
        <p:nvSpPr>
          <p:cNvPr id="27" name="Shape 25"/>
          <p:cNvSpPr/>
          <p:nvPr/>
        </p:nvSpPr>
        <p:spPr>
          <a:xfrm>
            <a:off x="1047631" y="7016948"/>
            <a:ext cx="85725" cy="85725"/>
          </a:xfrm>
          <a:prstGeom prst="rect">
            <a:avLst/>
          </a:prstGeom>
          <a:solidFill>
            <a:srgbClr val="C99A2E"/>
          </a:solidFill>
          <a:ln/>
        </p:spPr>
      </p:sp>
      <p:sp>
        <p:nvSpPr>
          <p:cNvPr id="28" name="Text 26"/>
          <p:cNvSpPr/>
          <p:nvPr/>
        </p:nvSpPr>
        <p:spPr>
          <a:xfrm>
            <a:off x="1266587" y="6921758"/>
            <a:ext cx="5645841" cy="666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 da peça habilitadora sobe e responde ao health check</a:t>
            </a:r>
            <a:endParaRPr lang="en-US" sz="1875" dirty="0"/>
          </a:p>
        </p:txBody>
      </p:sp>
      <p:sp>
        <p:nvSpPr>
          <p:cNvPr id="29" name="Shape 27"/>
          <p:cNvSpPr/>
          <p:nvPr/>
        </p:nvSpPr>
        <p:spPr>
          <a:xfrm>
            <a:off x="1047631" y="7759541"/>
            <a:ext cx="85725" cy="85725"/>
          </a:xfrm>
          <a:prstGeom prst="rect">
            <a:avLst/>
          </a:prstGeom>
          <a:solidFill>
            <a:srgbClr val="C99A2E"/>
          </a:solidFill>
          <a:ln/>
        </p:spPr>
      </p:sp>
      <p:sp>
        <p:nvSpPr>
          <p:cNvPr id="30" name="Text 28"/>
          <p:cNvSpPr/>
          <p:nvPr/>
        </p:nvSpPr>
        <p:spPr>
          <a:xfrm>
            <a:off x="1266587" y="7664350"/>
            <a:ext cx="6029539" cy="352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automatizado pelo pipeline</a:t>
            </a:r>
            <a:endParaRPr lang="en-US" sz="1875" dirty="0"/>
          </a:p>
        </p:txBody>
      </p:sp>
      <p:sp>
        <p:nvSpPr>
          <p:cNvPr id="31" name="Shape 29"/>
          <p:cNvSpPr/>
          <p:nvPr/>
        </p:nvSpPr>
        <p:spPr>
          <a:xfrm>
            <a:off x="7262336" y="4981158"/>
            <a:ext cx="5017591" cy="463915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7262336" y="4981158"/>
            <a:ext cx="5017591" cy="57150"/>
          </a:xfrm>
          <a:prstGeom prst="rect">
            <a:avLst/>
          </a:prstGeom>
          <a:solidFill>
            <a:srgbClr val="9AA3AE"/>
          </a:solidFill>
          <a:ln/>
        </p:spPr>
      </p:sp>
      <p:sp>
        <p:nvSpPr>
          <p:cNvPr id="33" name="Text 31"/>
          <p:cNvSpPr/>
          <p:nvPr/>
        </p:nvSpPr>
        <p:spPr>
          <a:xfrm>
            <a:off x="7548086" y="5324058"/>
            <a:ext cx="48907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DEFINITION OF READY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7548086" y="5845909"/>
            <a:ext cx="85725" cy="85725"/>
          </a:xfrm>
          <a:prstGeom prst="rect">
            <a:avLst/>
          </a:prstGeom>
          <a:solidFill>
            <a:srgbClr val="9AA3AE"/>
          </a:solidFill>
          <a:ln/>
        </p:spPr>
      </p:sp>
      <p:sp>
        <p:nvSpPr>
          <p:cNvPr id="35" name="Text 33"/>
          <p:cNvSpPr/>
          <p:nvPr/>
        </p:nvSpPr>
        <p:spPr>
          <a:xfrm>
            <a:off x="7767042" y="5750718"/>
            <a:ext cx="4649849" cy="352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 provisionada (HU-04)</a:t>
            </a:r>
            <a:endParaRPr lang="en-US" sz="1875" dirty="0"/>
          </a:p>
        </p:txBody>
      </p:sp>
      <p:sp>
        <p:nvSpPr>
          <p:cNvPr id="36" name="Shape 34"/>
          <p:cNvSpPr/>
          <p:nvPr/>
        </p:nvSpPr>
        <p:spPr>
          <a:xfrm>
            <a:off x="7548086" y="6274355"/>
            <a:ext cx="85725" cy="85725"/>
          </a:xfrm>
          <a:prstGeom prst="rect">
            <a:avLst/>
          </a:prstGeom>
          <a:solidFill>
            <a:srgbClr val="9AA3AE"/>
          </a:solidFill>
          <a:ln/>
        </p:spPr>
      </p:sp>
      <p:sp>
        <p:nvSpPr>
          <p:cNvPr id="37" name="Text 35"/>
          <p:cNvSpPr/>
          <p:nvPr/>
        </p:nvSpPr>
        <p:spPr>
          <a:xfrm>
            <a:off x="7767042" y="6179165"/>
            <a:ext cx="4649849" cy="352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Imagem base e runtime definidos</a:t>
            </a:r>
            <a:endParaRPr lang="en-US" sz="1875" dirty="0"/>
          </a:p>
        </p:txBody>
      </p:sp>
      <p:sp>
        <p:nvSpPr>
          <p:cNvPr id="38" name="Shape 36"/>
          <p:cNvSpPr/>
          <p:nvPr/>
        </p:nvSpPr>
        <p:spPr>
          <a:xfrm>
            <a:off x="7548086" y="6702802"/>
            <a:ext cx="85725" cy="85725"/>
          </a:xfrm>
          <a:prstGeom prst="rect">
            <a:avLst/>
          </a:prstGeom>
          <a:solidFill>
            <a:srgbClr val="9AA3AE"/>
          </a:solidFill>
          <a:ln/>
        </p:spPr>
      </p:sp>
      <p:sp>
        <p:nvSpPr>
          <p:cNvPr id="39" name="Text 37"/>
          <p:cNvSpPr/>
          <p:nvPr/>
        </p:nvSpPr>
        <p:spPr>
          <a:xfrm>
            <a:off x="7767042" y="6607611"/>
            <a:ext cx="4649849" cy="352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Padrão de health check acordado</a:t>
            </a:r>
            <a:endParaRPr lang="en-US" sz="1875" dirty="0"/>
          </a:p>
        </p:txBody>
      </p:sp>
      <p:sp>
        <p:nvSpPr>
          <p:cNvPr id="40" name="Shape 38"/>
          <p:cNvSpPr/>
          <p:nvPr/>
        </p:nvSpPr>
        <p:spPr>
          <a:xfrm>
            <a:off x="12508527" y="4981158"/>
            <a:ext cx="5017591" cy="463915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Shape 39"/>
          <p:cNvSpPr/>
          <p:nvPr/>
        </p:nvSpPr>
        <p:spPr>
          <a:xfrm>
            <a:off x="12508527" y="4981158"/>
            <a:ext cx="5017591" cy="57150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42" name="Text 40"/>
          <p:cNvSpPr/>
          <p:nvPr/>
        </p:nvSpPr>
        <p:spPr>
          <a:xfrm>
            <a:off x="12794277" y="5324058"/>
            <a:ext cx="48907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DEFINITION OF DONE</a:t>
            </a:r>
            <a:endParaRPr lang="en-US" sz="1650" dirty="0"/>
          </a:p>
        </p:txBody>
      </p:sp>
      <p:sp>
        <p:nvSpPr>
          <p:cNvPr id="43" name="Shape 41"/>
          <p:cNvSpPr/>
          <p:nvPr/>
        </p:nvSpPr>
        <p:spPr>
          <a:xfrm>
            <a:off x="12794277" y="5845909"/>
            <a:ext cx="85725" cy="85725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44" name="Text 42"/>
          <p:cNvSpPr/>
          <p:nvPr/>
        </p:nvSpPr>
        <p:spPr>
          <a:xfrm>
            <a:off x="13013232" y="5750718"/>
            <a:ext cx="4353949" cy="666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executado do pipeline sem intervenção manual</a:t>
            </a:r>
            <a:endParaRPr lang="en-US" sz="1875" dirty="0"/>
          </a:p>
        </p:txBody>
      </p:sp>
      <p:sp>
        <p:nvSpPr>
          <p:cNvPr id="45" name="Shape 43"/>
          <p:cNvSpPr/>
          <p:nvPr/>
        </p:nvSpPr>
        <p:spPr>
          <a:xfrm>
            <a:off x="12794277" y="6588502"/>
            <a:ext cx="85725" cy="85725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46" name="Text 44"/>
          <p:cNvSpPr/>
          <p:nvPr/>
        </p:nvSpPr>
        <p:spPr>
          <a:xfrm>
            <a:off x="13013232" y="6493311"/>
            <a:ext cx="4649849" cy="352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checks estáveis por 24 horas</a:t>
            </a:r>
            <a:endParaRPr lang="en-US" sz="1875" dirty="0"/>
          </a:p>
        </p:txBody>
      </p:sp>
      <p:sp>
        <p:nvSpPr>
          <p:cNvPr id="47" name="Shape 45"/>
          <p:cNvSpPr/>
          <p:nvPr/>
        </p:nvSpPr>
        <p:spPr>
          <a:xfrm>
            <a:off x="12794277" y="7016948"/>
            <a:ext cx="85725" cy="85725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48" name="Text 46"/>
          <p:cNvSpPr/>
          <p:nvPr/>
        </p:nvSpPr>
        <p:spPr>
          <a:xfrm>
            <a:off x="13013232" y="6921758"/>
            <a:ext cx="4649849" cy="352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Rollback testado</a:t>
            </a:r>
            <a:endParaRPr lang="en-US" sz="18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881" y="666690"/>
            <a:ext cx="990481" cy="422910"/>
          </a:xfrm>
          <a:prstGeom prst="rect">
            <a:avLst/>
          </a:prstGeom>
          <a:solidFill>
            <a:srgbClr val="C99A2E"/>
          </a:solidFill>
          <a:ln/>
        </p:spPr>
      </p:sp>
      <p:sp>
        <p:nvSpPr>
          <p:cNvPr id="3" name="Text 1"/>
          <p:cNvSpPr/>
          <p:nvPr/>
        </p:nvSpPr>
        <p:spPr>
          <a:xfrm>
            <a:off x="914281" y="723840"/>
            <a:ext cx="761881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2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HU-06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923812" y="740985"/>
            <a:ext cx="4194667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· FUNDAÇÃO DE PLATAFORMA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61881" y="1222831"/>
            <a:ext cx="8183085" cy="11275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279"/>
              </a:lnSpc>
              <a:buNone/>
            </a:pPr>
            <a:r>
              <a:rPr lang="en-US" sz="3900" b="1" spc="-78" kern="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Credenciais, segredos, cache e configuração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9278123" y="742771"/>
            <a:ext cx="624661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80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ONDA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278123" y="1051381"/>
            <a:ext cx="62466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0245565" y="742771"/>
            <a:ext cx="2674906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80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PERFIL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245565" y="1051381"/>
            <a:ext cx="267490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SRE / Infra + Backend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3096279" y="742771"/>
            <a:ext cx="898981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80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PONTOS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096279" y="1051381"/>
            <a:ext cx="89898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4338041" y="742771"/>
            <a:ext cx="3506885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80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338041" y="1051381"/>
            <a:ext cx="350688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BE-07, BE-08, BE-13, BE-14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761881" y="2578893"/>
            <a:ext cx="8267819" cy="2508528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15" name="Text 13"/>
          <p:cNvSpPr/>
          <p:nvPr/>
        </p:nvSpPr>
        <p:spPr>
          <a:xfrm>
            <a:off x="1066562" y="2883575"/>
            <a:ext cx="842430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9AA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DOR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066562" y="3291126"/>
            <a:ext cx="7888211" cy="1478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154"/>
              </a:lnSpc>
              <a:buNone/>
            </a:pPr>
            <a:r>
              <a:rPr lang="en-US" sz="2025" dirty="0">
                <a:solidFill>
                  <a:srgbClr val="F5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aplicações precisam de credenciais e segredos para acessar dependências, e hoje não há nem aplicação registrada no portal de credenciais nem cofre configurado. Sem cache, cada chamada repetida vai até a origem.</a:t>
            </a:r>
            <a:endParaRPr lang="en-US" sz="2025" dirty="0"/>
          </a:p>
        </p:txBody>
      </p:sp>
      <p:sp>
        <p:nvSpPr>
          <p:cNvPr id="17" name="Shape 15"/>
          <p:cNvSpPr/>
          <p:nvPr/>
        </p:nvSpPr>
        <p:spPr>
          <a:xfrm>
            <a:off x="9258299" y="2578893"/>
            <a:ext cx="8267819" cy="2508528"/>
          </a:xfrm>
          <a:prstGeom prst="rect">
            <a:avLst/>
          </a:prstGeom>
          <a:solidFill>
            <a:srgbClr val="EEDFB6"/>
          </a:solidFill>
          <a:ln/>
        </p:spPr>
      </p:sp>
      <p:sp>
        <p:nvSpPr>
          <p:cNvPr id="18" name="Text 16"/>
          <p:cNvSpPr/>
          <p:nvPr/>
        </p:nvSpPr>
        <p:spPr>
          <a:xfrm>
            <a:off x="9562980" y="2883575"/>
            <a:ext cx="842430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5C5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HISTÓRIA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9562980" y="3291126"/>
            <a:ext cx="7888211" cy="15297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518"/>
              </a:lnSpc>
              <a:buNone/>
            </a:pPr>
            <a:r>
              <a:rPr lang="en-US" sz="21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time de backend, quero credenciais, segredos, cache e configuração provisionados para que as aplicações acessem suas dependências com segurança e sem repetir chamadas desnecessárias.</a:t>
            </a:r>
            <a:endParaRPr lang="en-US" sz="2175" dirty="0"/>
          </a:p>
        </p:txBody>
      </p:sp>
      <p:sp>
        <p:nvSpPr>
          <p:cNvPr id="20" name="Shape 18"/>
          <p:cNvSpPr/>
          <p:nvPr/>
        </p:nvSpPr>
        <p:spPr>
          <a:xfrm>
            <a:off x="761881" y="5354062"/>
            <a:ext cx="6271855" cy="426624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761881" y="5354062"/>
            <a:ext cx="6271855" cy="57150"/>
          </a:xfrm>
          <a:prstGeom prst="rect">
            <a:avLst/>
          </a:prstGeom>
          <a:solidFill>
            <a:srgbClr val="C99A2E"/>
          </a:solidFill>
          <a:ln/>
        </p:spPr>
      </p:sp>
      <p:sp>
        <p:nvSpPr>
          <p:cNvPr id="22" name="Text 20"/>
          <p:cNvSpPr/>
          <p:nvPr/>
        </p:nvSpPr>
        <p:spPr>
          <a:xfrm>
            <a:off x="1047631" y="5696962"/>
            <a:ext cx="627039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CRITÉRIOS DE ACEITE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047631" y="6218813"/>
            <a:ext cx="85725" cy="85725"/>
          </a:xfrm>
          <a:prstGeom prst="rect">
            <a:avLst/>
          </a:prstGeom>
          <a:solidFill>
            <a:srgbClr val="C99A2E"/>
          </a:solidFill>
          <a:ln/>
        </p:spPr>
      </p:sp>
      <p:sp>
        <p:nvSpPr>
          <p:cNvPr id="24" name="Text 22"/>
          <p:cNvSpPr/>
          <p:nvPr/>
        </p:nvSpPr>
        <p:spPr>
          <a:xfrm>
            <a:off x="1266587" y="6123622"/>
            <a:ext cx="5645841" cy="666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Aplicação criada no portal de credenciais com os scopes aprovados</a:t>
            </a:r>
            <a:endParaRPr lang="en-US" sz="1875" dirty="0"/>
          </a:p>
        </p:txBody>
      </p:sp>
      <p:sp>
        <p:nvSpPr>
          <p:cNvPr id="25" name="Shape 23"/>
          <p:cNvSpPr/>
          <p:nvPr/>
        </p:nvSpPr>
        <p:spPr>
          <a:xfrm>
            <a:off x="1047631" y="6961405"/>
            <a:ext cx="85725" cy="85725"/>
          </a:xfrm>
          <a:prstGeom prst="rect">
            <a:avLst/>
          </a:prstGeom>
          <a:solidFill>
            <a:srgbClr val="C99A2E"/>
          </a:solidFill>
          <a:ln/>
        </p:spPr>
      </p:sp>
      <p:sp>
        <p:nvSpPr>
          <p:cNvPr id="26" name="Text 24"/>
          <p:cNvSpPr/>
          <p:nvPr/>
        </p:nvSpPr>
        <p:spPr>
          <a:xfrm>
            <a:off x="1266587" y="6866215"/>
            <a:ext cx="5645841" cy="666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Repositório de Secrets Manager criado e consumido pelas aplicações</a:t>
            </a:r>
            <a:endParaRPr lang="en-US" sz="1875" dirty="0"/>
          </a:p>
        </p:txBody>
      </p:sp>
      <p:sp>
        <p:nvSpPr>
          <p:cNvPr id="27" name="Shape 25"/>
          <p:cNvSpPr/>
          <p:nvPr/>
        </p:nvSpPr>
        <p:spPr>
          <a:xfrm>
            <a:off x="1047631" y="7703998"/>
            <a:ext cx="85725" cy="85725"/>
          </a:xfrm>
          <a:prstGeom prst="rect">
            <a:avLst/>
          </a:prstGeom>
          <a:solidFill>
            <a:srgbClr val="C99A2E"/>
          </a:solidFill>
          <a:ln/>
        </p:spPr>
      </p:sp>
      <p:sp>
        <p:nvSpPr>
          <p:cNvPr id="28" name="Text 26"/>
          <p:cNvSpPr/>
          <p:nvPr/>
        </p:nvSpPr>
        <p:spPr>
          <a:xfrm>
            <a:off x="1266587" y="7608808"/>
            <a:ext cx="6029539" cy="352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Valkey provisionado e validado</a:t>
            </a:r>
            <a:endParaRPr lang="en-US" sz="1875" dirty="0"/>
          </a:p>
        </p:txBody>
      </p:sp>
      <p:sp>
        <p:nvSpPr>
          <p:cNvPr id="29" name="Shape 27"/>
          <p:cNvSpPr/>
          <p:nvPr/>
        </p:nvSpPr>
        <p:spPr>
          <a:xfrm>
            <a:off x="1047631" y="8132444"/>
            <a:ext cx="85725" cy="85725"/>
          </a:xfrm>
          <a:prstGeom prst="rect">
            <a:avLst/>
          </a:prstGeom>
          <a:solidFill>
            <a:srgbClr val="C99A2E"/>
          </a:solidFill>
          <a:ln/>
        </p:spPr>
      </p:sp>
      <p:sp>
        <p:nvSpPr>
          <p:cNvPr id="30" name="Text 28"/>
          <p:cNvSpPr/>
          <p:nvPr/>
        </p:nvSpPr>
        <p:spPr>
          <a:xfrm>
            <a:off x="1266587" y="8037254"/>
            <a:ext cx="6029539" cy="352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Quickconfig aplicado no portal manager</a:t>
            </a:r>
            <a:endParaRPr lang="en-US" sz="1875" dirty="0"/>
          </a:p>
        </p:txBody>
      </p:sp>
      <p:sp>
        <p:nvSpPr>
          <p:cNvPr id="31" name="Shape 29"/>
          <p:cNvSpPr/>
          <p:nvPr/>
        </p:nvSpPr>
        <p:spPr>
          <a:xfrm>
            <a:off x="1047631" y="8560891"/>
            <a:ext cx="85725" cy="85725"/>
          </a:xfrm>
          <a:prstGeom prst="rect">
            <a:avLst/>
          </a:prstGeom>
          <a:solidFill>
            <a:srgbClr val="C99A2E"/>
          </a:solidFill>
          <a:ln/>
        </p:spPr>
      </p:sp>
      <p:sp>
        <p:nvSpPr>
          <p:cNvPr id="32" name="Text 30"/>
          <p:cNvSpPr/>
          <p:nvPr/>
        </p:nvSpPr>
        <p:spPr>
          <a:xfrm>
            <a:off x="1266587" y="8465701"/>
            <a:ext cx="5645841" cy="666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Nenhum segredo em código ou variável de ambiente em texto puro</a:t>
            </a:r>
            <a:endParaRPr lang="en-US" sz="1875" dirty="0"/>
          </a:p>
        </p:txBody>
      </p:sp>
      <p:sp>
        <p:nvSpPr>
          <p:cNvPr id="33" name="Shape 31"/>
          <p:cNvSpPr/>
          <p:nvPr/>
        </p:nvSpPr>
        <p:spPr>
          <a:xfrm>
            <a:off x="7262336" y="5354062"/>
            <a:ext cx="5017591" cy="426624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Shape 32"/>
          <p:cNvSpPr/>
          <p:nvPr/>
        </p:nvSpPr>
        <p:spPr>
          <a:xfrm>
            <a:off x="7262336" y="5354062"/>
            <a:ext cx="5017591" cy="57150"/>
          </a:xfrm>
          <a:prstGeom prst="rect">
            <a:avLst/>
          </a:prstGeom>
          <a:solidFill>
            <a:srgbClr val="9AA3AE"/>
          </a:solidFill>
          <a:ln/>
        </p:spPr>
      </p:sp>
      <p:sp>
        <p:nvSpPr>
          <p:cNvPr id="35" name="Text 33"/>
          <p:cNvSpPr/>
          <p:nvPr/>
        </p:nvSpPr>
        <p:spPr>
          <a:xfrm>
            <a:off x="7548086" y="5696962"/>
            <a:ext cx="48907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DEFINITION OF READY</a:t>
            </a:r>
            <a:endParaRPr lang="en-US" sz="1650" dirty="0"/>
          </a:p>
        </p:txBody>
      </p:sp>
      <p:sp>
        <p:nvSpPr>
          <p:cNvPr id="36" name="Shape 34"/>
          <p:cNvSpPr/>
          <p:nvPr/>
        </p:nvSpPr>
        <p:spPr>
          <a:xfrm>
            <a:off x="7548086" y="6218813"/>
            <a:ext cx="85725" cy="85725"/>
          </a:xfrm>
          <a:prstGeom prst="rect">
            <a:avLst/>
          </a:prstGeom>
          <a:solidFill>
            <a:srgbClr val="9AA3AE"/>
          </a:solidFill>
          <a:ln/>
        </p:spPr>
      </p:sp>
      <p:sp>
        <p:nvSpPr>
          <p:cNvPr id="37" name="Text 35"/>
          <p:cNvSpPr/>
          <p:nvPr/>
        </p:nvSpPr>
        <p:spPr>
          <a:xfrm>
            <a:off x="7767042" y="6123622"/>
            <a:ext cx="4353949" cy="666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 AWS e padrão de nomes definidos (HU-01)</a:t>
            </a:r>
            <a:endParaRPr lang="en-US" sz="1875" dirty="0"/>
          </a:p>
        </p:txBody>
      </p:sp>
      <p:sp>
        <p:nvSpPr>
          <p:cNvPr id="38" name="Shape 36"/>
          <p:cNvSpPr/>
          <p:nvPr/>
        </p:nvSpPr>
        <p:spPr>
          <a:xfrm>
            <a:off x="7548086" y="6961405"/>
            <a:ext cx="85725" cy="85725"/>
          </a:xfrm>
          <a:prstGeom prst="rect">
            <a:avLst/>
          </a:prstGeom>
          <a:solidFill>
            <a:srgbClr val="9AA3AE"/>
          </a:solidFill>
          <a:ln/>
        </p:spPr>
      </p:sp>
      <p:sp>
        <p:nvSpPr>
          <p:cNvPr id="39" name="Text 37"/>
          <p:cNvSpPr/>
          <p:nvPr/>
        </p:nvSpPr>
        <p:spPr>
          <a:xfrm>
            <a:off x="7767042" y="6866215"/>
            <a:ext cx="4353949" cy="666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Scopes necessários levantados com a equipe de segurança</a:t>
            </a:r>
            <a:endParaRPr lang="en-US" sz="1875" dirty="0"/>
          </a:p>
        </p:txBody>
      </p:sp>
      <p:sp>
        <p:nvSpPr>
          <p:cNvPr id="40" name="Shape 38"/>
          <p:cNvSpPr/>
          <p:nvPr/>
        </p:nvSpPr>
        <p:spPr>
          <a:xfrm>
            <a:off x="7548086" y="7703998"/>
            <a:ext cx="85725" cy="85725"/>
          </a:xfrm>
          <a:prstGeom prst="rect">
            <a:avLst/>
          </a:prstGeom>
          <a:solidFill>
            <a:srgbClr val="9AA3AE"/>
          </a:solidFill>
          <a:ln/>
        </p:spPr>
      </p:sp>
      <p:sp>
        <p:nvSpPr>
          <p:cNvPr id="41" name="Text 39"/>
          <p:cNvSpPr/>
          <p:nvPr/>
        </p:nvSpPr>
        <p:spPr>
          <a:xfrm>
            <a:off x="7767042" y="7608808"/>
            <a:ext cx="4649849" cy="352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Política de expiração de cache definida</a:t>
            </a:r>
            <a:endParaRPr lang="en-US" sz="1875" dirty="0"/>
          </a:p>
        </p:txBody>
      </p:sp>
      <p:sp>
        <p:nvSpPr>
          <p:cNvPr id="42" name="Shape 40"/>
          <p:cNvSpPr/>
          <p:nvPr/>
        </p:nvSpPr>
        <p:spPr>
          <a:xfrm>
            <a:off x="12508527" y="5354062"/>
            <a:ext cx="5017591" cy="426624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Shape 41"/>
          <p:cNvSpPr/>
          <p:nvPr/>
        </p:nvSpPr>
        <p:spPr>
          <a:xfrm>
            <a:off x="12508527" y="5354062"/>
            <a:ext cx="5017591" cy="57150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44" name="Text 42"/>
          <p:cNvSpPr/>
          <p:nvPr/>
        </p:nvSpPr>
        <p:spPr>
          <a:xfrm>
            <a:off x="12794277" y="5696962"/>
            <a:ext cx="48907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DEFINITION OF DONE</a:t>
            </a:r>
            <a:endParaRPr lang="en-US" sz="1650" dirty="0"/>
          </a:p>
        </p:txBody>
      </p:sp>
      <p:sp>
        <p:nvSpPr>
          <p:cNvPr id="45" name="Shape 43"/>
          <p:cNvSpPr/>
          <p:nvPr/>
        </p:nvSpPr>
        <p:spPr>
          <a:xfrm>
            <a:off x="12794277" y="6218813"/>
            <a:ext cx="85725" cy="85725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46" name="Text 44"/>
          <p:cNvSpPr/>
          <p:nvPr/>
        </p:nvSpPr>
        <p:spPr>
          <a:xfrm>
            <a:off x="13013232" y="6123622"/>
            <a:ext cx="4649849" cy="352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Rotação de segredos documentada</a:t>
            </a:r>
            <a:endParaRPr lang="en-US" sz="1875" dirty="0"/>
          </a:p>
        </p:txBody>
      </p:sp>
      <p:sp>
        <p:nvSpPr>
          <p:cNvPr id="47" name="Shape 45"/>
          <p:cNvSpPr/>
          <p:nvPr/>
        </p:nvSpPr>
        <p:spPr>
          <a:xfrm>
            <a:off x="12794277" y="6647259"/>
            <a:ext cx="85725" cy="85725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48" name="Text 46"/>
          <p:cNvSpPr/>
          <p:nvPr/>
        </p:nvSpPr>
        <p:spPr>
          <a:xfrm>
            <a:off x="13013232" y="6552069"/>
            <a:ext cx="4353949" cy="666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Aplicações lendo segredos do cofre em ambiente de desenvolvimento</a:t>
            </a:r>
            <a:endParaRPr lang="en-US" sz="1875" dirty="0"/>
          </a:p>
        </p:txBody>
      </p:sp>
      <p:sp>
        <p:nvSpPr>
          <p:cNvPr id="49" name="Shape 47"/>
          <p:cNvSpPr/>
          <p:nvPr/>
        </p:nvSpPr>
        <p:spPr>
          <a:xfrm>
            <a:off x="12794277" y="7389852"/>
            <a:ext cx="85725" cy="85725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50" name="Text 48"/>
          <p:cNvSpPr/>
          <p:nvPr/>
        </p:nvSpPr>
        <p:spPr>
          <a:xfrm>
            <a:off x="13013232" y="7294661"/>
            <a:ext cx="4649849" cy="352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Métricas de hit e miss do cache visíveis</a:t>
            </a:r>
            <a:endParaRPr lang="en-US" sz="18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881" y="666690"/>
            <a:ext cx="990481" cy="422910"/>
          </a:xfrm>
          <a:prstGeom prst="rect">
            <a:avLst/>
          </a:prstGeom>
          <a:solidFill>
            <a:srgbClr val="C99A2E"/>
          </a:solidFill>
          <a:ln/>
        </p:spPr>
      </p:sp>
      <p:sp>
        <p:nvSpPr>
          <p:cNvPr id="3" name="Text 1"/>
          <p:cNvSpPr/>
          <p:nvPr/>
        </p:nvSpPr>
        <p:spPr>
          <a:xfrm>
            <a:off x="914281" y="723840"/>
            <a:ext cx="761881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2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HU-07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923812" y="740985"/>
            <a:ext cx="4194667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· FUNDAÇÃO DE PLATAFORMA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61881" y="1222831"/>
            <a:ext cx="10556212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279"/>
              </a:lnSpc>
              <a:buNone/>
            </a:pPr>
            <a:r>
              <a:rPr lang="en-US" sz="3900" b="1" spc="-78" kern="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Distribuição e casca do frontend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10929936" y="742771"/>
            <a:ext cx="624661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80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ONDA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29936" y="1051381"/>
            <a:ext cx="62466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1897380" y="742771"/>
            <a:ext cx="2710267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80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PERFIL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97380" y="1051381"/>
            <a:ext cx="2710267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SRE / Infra + Frontend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4780240" y="742771"/>
            <a:ext cx="898981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80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PONTOS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780240" y="1051381"/>
            <a:ext cx="89898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6022001" y="742771"/>
            <a:ext cx="1654528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80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022001" y="1051381"/>
            <a:ext cx="1654528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FE-01, FE-02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761881" y="2034183"/>
            <a:ext cx="8267819" cy="2508528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15" name="Text 13"/>
          <p:cNvSpPr/>
          <p:nvPr/>
        </p:nvSpPr>
        <p:spPr>
          <a:xfrm>
            <a:off x="1066562" y="2338864"/>
            <a:ext cx="842430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9AA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DOR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066562" y="2746415"/>
            <a:ext cx="7888211" cy="1118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154"/>
              </a:lnSpc>
              <a:buNone/>
            </a:pPr>
            <a:r>
              <a:rPr lang="en-US" sz="2025" dirty="0">
                <a:solidFill>
                  <a:srgbClr val="F5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existe onde publicar o frontend nem casca de microfrontend registrada no host, então nenhum componente pode ser visto fora da máquina do desenvolvedor.</a:t>
            </a:r>
            <a:endParaRPr lang="en-US" sz="2025" dirty="0"/>
          </a:p>
        </p:txBody>
      </p:sp>
      <p:sp>
        <p:nvSpPr>
          <p:cNvPr id="17" name="Shape 15"/>
          <p:cNvSpPr/>
          <p:nvPr/>
        </p:nvSpPr>
        <p:spPr>
          <a:xfrm>
            <a:off x="9258299" y="2034183"/>
            <a:ext cx="8267819" cy="2508528"/>
          </a:xfrm>
          <a:prstGeom prst="rect">
            <a:avLst/>
          </a:prstGeom>
          <a:solidFill>
            <a:srgbClr val="EEDFB6"/>
          </a:solidFill>
          <a:ln/>
        </p:spPr>
      </p:sp>
      <p:sp>
        <p:nvSpPr>
          <p:cNvPr id="18" name="Text 16"/>
          <p:cNvSpPr/>
          <p:nvPr/>
        </p:nvSpPr>
        <p:spPr>
          <a:xfrm>
            <a:off x="9562980" y="2338864"/>
            <a:ext cx="842430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5C5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HISTÓRIA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9562980" y="2746415"/>
            <a:ext cx="7888211" cy="15297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518"/>
              </a:lnSpc>
              <a:buNone/>
            </a:pPr>
            <a:r>
              <a:rPr lang="en-US" sz="21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time de frontend, quero o CloudFront, o bucket S3 e o microfrontend Angular publicados para que qualquer componente desenvolvido seja acessível em ambiente compartilhado.</a:t>
            </a:r>
            <a:endParaRPr lang="en-US" sz="2175" dirty="0"/>
          </a:p>
        </p:txBody>
      </p:sp>
      <p:sp>
        <p:nvSpPr>
          <p:cNvPr id="20" name="Shape 18"/>
          <p:cNvSpPr/>
          <p:nvPr/>
        </p:nvSpPr>
        <p:spPr>
          <a:xfrm>
            <a:off x="761881" y="4809351"/>
            <a:ext cx="6271855" cy="481095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761881" y="4809351"/>
            <a:ext cx="6271855" cy="57150"/>
          </a:xfrm>
          <a:prstGeom prst="rect">
            <a:avLst/>
          </a:prstGeom>
          <a:solidFill>
            <a:srgbClr val="C99A2E"/>
          </a:solidFill>
          <a:ln/>
        </p:spPr>
      </p:sp>
      <p:sp>
        <p:nvSpPr>
          <p:cNvPr id="22" name="Text 20"/>
          <p:cNvSpPr/>
          <p:nvPr/>
        </p:nvSpPr>
        <p:spPr>
          <a:xfrm>
            <a:off x="1047631" y="5152251"/>
            <a:ext cx="627039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CRITÉRIOS DE ACEITE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047631" y="5674102"/>
            <a:ext cx="85725" cy="85725"/>
          </a:xfrm>
          <a:prstGeom prst="rect">
            <a:avLst/>
          </a:prstGeom>
          <a:solidFill>
            <a:srgbClr val="C99A2E"/>
          </a:solidFill>
          <a:ln/>
        </p:spPr>
      </p:sp>
      <p:sp>
        <p:nvSpPr>
          <p:cNvPr id="24" name="Text 22"/>
          <p:cNvSpPr/>
          <p:nvPr/>
        </p:nvSpPr>
        <p:spPr>
          <a:xfrm>
            <a:off x="1266587" y="5578911"/>
            <a:ext cx="5645841" cy="666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Distribuição CloudFront ativa apontando para o bucket S3 versionado</a:t>
            </a:r>
            <a:endParaRPr lang="en-US" sz="1875" dirty="0"/>
          </a:p>
        </p:txBody>
      </p:sp>
      <p:sp>
        <p:nvSpPr>
          <p:cNvPr id="25" name="Shape 23"/>
          <p:cNvSpPr/>
          <p:nvPr/>
        </p:nvSpPr>
        <p:spPr>
          <a:xfrm>
            <a:off x="1047631" y="6416694"/>
            <a:ext cx="85725" cy="85725"/>
          </a:xfrm>
          <a:prstGeom prst="rect">
            <a:avLst/>
          </a:prstGeom>
          <a:solidFill>
            <a:srgbClr val="C99A2E"/>
          </a:solidFill>
          <a:ln/>
        </p:spPr>
      </p:sp>
      <p:sp>
        <p:nvSpPr>
          <p:cNvPr id="26" name="Text 24"/>
          <p:cNvSpPr/>
          <p:nvPr/>
        </p:nvSpPr>
        <p:spPr>
          <a:xfrm>
            <a:off x="1266587" y="6321504"/>
            <a:ext cx="5645841" cy="666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Microfrontend Angular carregando no host via Module Federation</a:t>
            </a:r>
            <a:endParaRPr lang="en-US" sz="1875" dirty="0"/>
          </a:p>
        </p:txBody>
      </p:sp>
      <p:sp>
        <p:nvSpPr>
          <p:cNvPr id="27" name="Shape 25"/>
          <p:cNvSpPr/>
          <p:nvPr/>
        </p:nvSpPr>
        <p:spPr>
          <a:xfrm>
            <a:off x="1047631" y="7159287"/>
            <a:ext cx="85725" cy="85725"/>
          </a:xfrm>
          <a:prstGeom prst="rect">
            <a:avLst/>
          </a:prstGeom>
          <a:solidFill>
            <a:srgbClr val="C99A2E"/>
          </a:solidFill>
          <a:ln/>
        </p:spPr>
      </p:sp>
      <p:sp>
        <p:nvSpPr>
          <p:cNvPr id="28" name="Text 26"/>
          <p:cNvSpPr/>
          <p:nvPr/>
        </p:nvSpPr>
        <p:spPr>
          <a:xfrm>
            <a:off x="1266587" y="7064097"/>
            <a:ext cx="6029539" cy="352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automatizado pelo pipeline</a:t>
            </a:r>
            <a:endParaRPr lang="en-US" sz="1875" dirty="0"/>
          </a:p>
        </p:txBody>
      </p:sp>
      <p:sp>
        <p:nvSpPr>
          <p:cNvPr id="29" name="Shape 27"/>
          <p:cNvSpPr/>
          <p:nvPr/>
        </p:nvSpPr>
        <p:spPr>
          <a:xfrm>
            <a:off x="1047631" y="7587733"/>
            <a:ext cx="85725" cy="85725"/>
          </a:xfrm>
          <a:prstGeom prst="rect">
            <a:avLst/>
          </a:prstGeom>
          <a:solidFill>
            <a:srgbClr val="C99A2E"/>
          </a:solidFill>
          <a:ln/>
        </p:spPr>
      </p:sp>
      <p:sp>
        <p:nvSpPr>
          <p:cNvPr id="30" name="Text 28"/>
          <p:cNvSpPr/>
          <p:nvPr/>
        </p:nvSpPr>
        <p:spPr>
          <a:xfrm>
            <a:off x="1266587" y="7492543"/>
            <a:ext cx="6029539" cy="352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Política de cache e invalidação definida</a:t>
            </a:r>
            <a:endParaRPr lang="en-US" sz="1875" dirty="0"/>
          </a:p>
        </p:txBody>
      </p:sp>
      <p:sp>
        <p:nvSpPr>
          <p:cNvPr id="31" name="Shape 29"/>
          <p:cNvSpPr/>
          <p:nvPr/>
        </p:nvSpPr>
        <p:spPr>
          <a:xfrm>
            <a:off x="7262336" y="4809351"/>
            <a:ext cx="5017591" cy="481095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7262336" y="4809351"/>
            <a:ext cx="5017591" cy="57150"/>
          </a:xfrm>
          <a:prstGeom prst="rect">
            <a:avLst/>
          </a:prstGeom>
          <a:solidFill>
            <a:srgbClr val="9AA3AE"/>
          </a:solidFill>
          <a:ln/>
        </p:spPr>
      </p:sp>
      <p:sp>
        <p:nvSpPr>
          <p:cNvPr id="33" name="Text 31"/>
          <p:cNvSpPr/>
          <p:nvPr/>
        </p:nvSpPr>
        <p:spPr>
          <a:xfrm>
            <a:off x="7548086" y="5152251"/>
            <a:ext cx="48907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DEFINITION OF READY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7548086" y="5674102"/>
            <a:ext cx="85725" cy="85725"/>
          </a:xfrm>
          <a:prstGeom prst="rect">
            <a:avLst/>
          </a:prstGeom>
          <a:solidFill>
            <a:srgbClr val="9AA3AE"/>
          </a:solidFill>
          <a:ln/>
        </p:spPr>
      </p:sp>
      <p:sp>
        <p:nvSpPr>
          <p:cNvPr id="35" name="Text 33"/>
          <p:cNvSpPr/>
          <p:nvPr/>
        </p:nvSpPr>
        <p:spPr>
          <a:xfrm>
            <a:off x="7767042" y="5578911"/>
            <a:ext cx="4649849" cy="352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 AWS disponível (HU-01)</a:t>
            </a:r>
            <a:endParaRPr lang="en-US" sz="1875" dirty="0"/>
          </a:p>
        </p:txBody>
      </p:sp>
      <p:sp>
        <p:nvSpPr>
          <p:cNvPr id="36" name="Shape 34"/>
          <p:cNvSpPr/>
          <p:nvPr/>
        </p:nvSpPr>
        <p:spPr>
          <a:xfrm>
            <a:off x="7548086" y="6102548"/>
            <a:ext cx="85725" cy="85725"/>
          </a:xfrm>
          <a:prstGeom prst="rect">
            <a:avLst/>
          </a:prstGeom>
          <a:solidFill>
            <a:srgbClr val="9AA3AE"/>
          </a:solidFill>
          <a:ln/>
        </p:spPr>
      </p:sp>
      <p:sp>
        <p:nvSpPr>
          <p:cNvPr id="37" name="Text 35"/>
          <p:cNvSpPr/>
          <p:nvPr/>
        </p:nvSpPr>
        <p:spPr>
          <a:xfrm>
            <a:off x="7767042" y="6007358"/>
            <a:ext cx="4353949" cy="666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de microfrontends identificado e contato definido</a:t>
            </a:r>
            <a:endParaRPr lang="en-US" sz="1875" dirty="0"/>
          </a:p>
        </p:txBody>
      </p:sp>
      <p:sp>
        <p:nvSpPr>
          <p:cNvPr id="38" name="Shape 36"/>
          <p:cNvSpPr/>
          <p:nvPr/>
        </p:nvSpPr>
        <p:spPr>
          <a:xfrm>
            <a:off x="7548086" y="6845141"/>
            <a:ext cx="85725" cy="85725"/>
          </a:xfrm>
          <a:prstGeom prst="rect">
            <a:avLst/>
          </a:prstGeom>
          <a:solidFill>
            <a:srgbClr val="9AA3AE"/>
          </a:solidFill>
          <a:ln/>
        </p:spPr>
      </p:sp>
      <p:sp>
        <p:nvSpPr>
          <p:cNvPr id="39" name="Text 37"/>
          <p:cNvSpPr/>
          <p:nvPr/>
        </p:nvSpPr>
        <p:spPr>
          <a:xfrm>
            <a:off x="7767042" y="6749950"/>
            <a:ext cx="4353949" cy="666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Versão do Angular e do Module Federation acordadas</a:t>
            </a:r>
            <a:endParaRPr lang="en-US" sz="1875" dirty="0"/>
          </a:p>
        </p:txBody>
      </p:sp>
      <p:sp>
        <p:nvSpPr>
          <p:cNvPr id="40" name="Shape 38"/>
          <p:cNvSpPr/>
          <p:nvPr/>
        </p:nvSpPr>
        <p:spPr>
          <a:xfrm>
            <a:off x="12508527" y="4809351"/>
            <a:ext cx="5017591" cy="481095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Shape 39"/>
          <p:cNvSpPr/>
          <p:nvPr/>
        </p:nvSpPr>
        <p:spPr>
          <a:xfrm>
            <a:off x="12508527" y="4809351"/>
            <a:ext cx="5017591" cy="57150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42" name="Text 40"/>
          <p:cNvSpPr/>
          <p:nvPr/>
        </p:nvSpPr>
        <p:spPr>
          <a:xfrm>
            <a:off x="12794277" y="5152251"/>
            <a:ext cx="48907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DEFINITION OF DONE</a:t>
            </a:r>
            <a:endParaRPr lang="en-US" sz="1650" dirty="0"/>
          </a:p>
        </p:txBody>
      </p:sp>
      <p:sp>
        <p:nvSpPr>
          <p:cNvPr id="43" name="Shape 41"/>
          <p:cNvSpPr/>
          <p:nvPr/>
        </p:nvSpPr>
        <p:spPr>
          <a:xfrm>
            <a:off x="12794277" y="5674102"/>
            <a:ext cx="85725" cy="85725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44" name="Text 42"/>
          <p:cNvSpPr/>
          <p:nvPr/>
        </p:nvSpPr>
        <p:spPr>
          <a:xfrm>
            <a:off x="13013232" y="5578911"/>
            <a:ext cx="4353949" cy="666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Página de exemplo publicada e acessível</a:t>
            </a:r>
            <a:endParaRPr lang="en-US" sz="1875" dirty="0"/>
          </a:p>
        </p:txBody>
      </p:sp>
      <p:sp>
        <p:nvSpPr>
          <p:cNvPr id="45" name="Shape 43"/>
          <p:cNvSpPr/>
          <p:nvPr/>
        </p:nvSpPr>
        <p:spPr>
          <a:xfrm>
            <a:off x="12794277" y="6416694"/>
            <a:ext cx="85725" cy="85725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46" name="Text 44"/>
          <p:cNvSpPr/>
          <p:nvPr/>
        </p:nvSpPr>
        <p:spPr>
          <a:xfrm>
            <a:off x="13013232" y="6321504"/>
            <a:ext cx="4649849" cy="352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Invalidação de cache testada</a:t>
            </a:r>
            <a:endParaRPr lang="en-US" sz="1875" dirty="0"/>
          </a:p>
        </p:txBody>
      </p:sp>
      <p:sp>
        <p:nvSpPr>
          <p:cNvPr id="47" name="Shape 45"/>
          <p:cNvSpPr/>
          <p:nvPr/>
        </p:nvSpPr>
        <p:spPr>
          <a:xfrm>
            <a:off x="12794277" y="6845141"/>
            <a:ext cx="85725" cy="85725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48" name="Text 46"/>
          <p:cNvSpPr/>
          <p:nvPr/>
        </p:nvSpPr>
        <p:spPr>
          <a:xfrm>
            <a:off x="13013232" y="6749950"/>
            <a:ext cx="4649849" cy="352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de deploy verde</a:t>
            </a:r>
            <a:endParaRPr lang="en-US" sz="18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881" y="666690"/>
            <a:ext cx="990481" cy="422910"/>
          </a:xfrm>
          <a:prstGeom prst="rect">
            <a:avLst/>
          </a:prstGeom>
          <a:solidFill>
            <a:srgbClr val="5C8FB8"/>
          </a:solidFill>
          <a:ln/>
        </p:spPr>
      </p:sp>
      <p:sp>
        <p:nvSpPr>
          <p:cNvPr id="3" name="Text 1"/>
          <p:cNvSpPr/>
          <p:nvPr/>
        </p:nvSpPr>
        <p:spPr>
          <a:xfrm>
            <a:off x="914281" y="723840"/>
            <a:ext cx="761881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2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HU-08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923812" y="740985"/>
            <a:ext cx="3871894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· HABILITAÇÃO DE DADOS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61881" y="1222831"/>
            <a:ext cx="12139427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279"/>
              </a:lnSpc>
              <a:buNone/>
            </a:pPr>
            <a:r>
              <a:rPr lang="en-US" sz="3900" b="1" spc="-78" kern="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Biblioteca de HTTPS endpoints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12369224" y="742771"/>
            <a:ext cx="624661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80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ONDA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69224" y="1051381"/>
            <a:ext cx="62466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3336666" y="742771"/>
            <a:ext cx="1062752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80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PERFIL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336666" y="1051381"/>
            <a:ext cx="1062752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4742199" y="742771"/>
            <a:ext cx="898981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80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PONTOS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742199" y="1051381"/>
            <a:ext cx="89898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5983962" y="742771"/>
            <a:ext cx="1696373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80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983962" y="1051381"/>
            <a:ext cx="169637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BE-12, BE-15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761881" y="2034183"/>
            <a:ext cx="8267819" cy="2508528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15" name="Text 13"/>
          <p:cNvSpPr/>
          <p:nvPr/>
        </p:nvSpPr>
        <p:spPr>
          <a:xfrm>
            <a:off x="1066562" y="2338864"/>
            <a:ext cx="842430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9AA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DOR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066562" y="2746415"/>
            <a:ext cx="7888211" cy="1118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154"/>
              </a:lnSpc>
              <a:buNone/>
            </a:pPr>
            <a:r>
              <a:rPr lang="en-US" sz="2025" dirty="0">
                <a:solidFill>
                  <a:srgbClr val="F5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aplicação implementaria sua própria camada de chamada HTTPS, duplicando tratamento de erro, timeout e retry — e divergindo com o tempo.</a:t>
            </a:r>
            <a:endParaRPr lang="en-US" sz="2025" dirty="0"/>
          </a:p>
        </p:txBody>
      </p:sp>
      <p:sp>
        <p:nvSpPr>
          <p:cNvPr id="17" name="Shape 15"/>
          <p:cNvSpPr/>
          <p:nvPr/>
        </p:nvSpPr>
        <p:spPr>
          <a:xfrm>
            <a:off x="9258299" y="2034183"/>
            <a:ext cx="8267819" cy="2508528"/>
          </a:xfrm>
          <a:prstGeom prst="rect">
            <a:avLst/>
          </a:prstGeom>
          <a:solidFill>
            <a:srgbClr val="BFD8EA"/>
          </a:solidFill>
          <a:ln/>
        </p:spPr>
      </p:sp>
      <p:sp>
        <p:nvSpPr>
          <p:cNvPr id="18" name="Text 16"/>
          <p:cNvSpPr/>
          <p:nvPr/>
        </p:nvSpPr>
        <p:spPr>
          <a:xfrm>
            <a:off x="9562980" y="2338864"/>
            <a:ext cx="842430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5C5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HISTÓRIA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9562980" y="2746415"/>
            <a:ext cx="7888211" cy="15297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518"/>
              </a:lnSpc>
              <a:buNone/>
            </a:pPr>
            <a:r>
              <a:rPr lang="en-US" sz="21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time de backend, quero uma biblioteca compartilhada de HTTPS endpoints publicada no Artifactory para que BFF e peça habilitadora usem a mesma política de timeout, retry e tratamento de erro.</a:t>
            </a:r>
            <a:endParaRPr lang="en-US" sz="2175" dirty="0"/>
          </a:p>
        </p:txBody>
      </p:sp>
      <p:sp>
        <p:nvSpPr>
          <p:cNvPr id="20" name="Shape 18"/>
          <p:cNvSpPr/>
          <p:nvPr/>
        </p:nvSpPr>
        <p:spPr>
          <a:xfrm>
            <a:off x="761881" y="4809351"/>
            <a:ext cx="6271855" cy="481095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761881" y="4809351"/>
            <a:ext cx="6271855" cy="57150"/>
          </a:xfrm>
          <a:prstGeom prst="rect">
            <a:avLst/>
          </a:prstGeom>
          <a:solidFill>
            <a:srgbClr val="5C8FB8"/>
          </a:solidFill>
          <a:ln/>
        </p:spPr>
      </p:sp>
      <p:sp>
        <p:nvSpPr>
          <p:cNvPr id="22" name="Text 20"/>
          <p:cNvSpPr/>
          <p:nvPr/>
        </p:nvSpPr>
        <p:spPr>
          <a:xfrm>
            <a:off x="1047631" y="5152251"/>
            <a:ext cx="627039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CRITÉRIOS DE ACEITE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047631" y="5674102"/>
            <a:ext cx="85725" cy="85725"/>
          </a:xfrm>
          <a:prstGeom prst="rect">
            <a:avLst/>
          </a:prstGeom>
          <a:solidFill>
            <a:srgbClr val="5C8FB8"/>
          </a:solidFill>
          <a:ln/>
        </p:spPr>
      </p:sp>
      <p:sp>
        <p:nvSpPr>
          <p:cNvPr id="24" name="Text 22"/>
          <p:cNvSpPr/>
          <p:nvPr/>
        </p:nvSpPr>
        <p:spPr>
          <a:xfrm>
            <a:off x="1266587" y="5578911"/>
            <a:ext cx="6029539" cy="352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Repositório criado e publicado no Artifactory</a:t>
            </a:r>
            <a:endParaRPr lang="en-US" sz="1875" dirty="0"/>
          </a:p>
        </p:txBody>
      </p:sp>
      <p:sp>
        <p:nvSpPr>
          <p:cNvPr id="25" name="Shape 23"/>
          <p:cNvSpPr/>
          <p:nvPr/>
        </p:nvSpPr>
        <p:spPr>
          <a:xfrm>
            <a:off x="1047631" y="6102548"/>
            <a:ext cx="85725" cy="85725"/>
          </a:xfrm>
          <a:prstGeom prst="rect">
            <a:avLst/>
          </a:prstGeom>
          <a:solidFill>
            <a:srgbClr val="5C8FB8"/>
          </a:solidFill>
          <a:ln/>
        </p:spPr>
      </p:sp>
      <p:sp>
        <p:nvSpPr>
          <p:cNvPr id="26" name="Text 24"/>
          <p:cNvSpPr/>
          <p:nvPr/>
        </p:nvSpPr>
        <p:spPr>
          <a:xfrm>
            <a:off x="1266587" y="6007358"/>
            <a:ext cx="5645841" cy="666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Biblioteca com timeout, retry e tratamento de erro padronizados</a:t>
            </a:r>
            <a:endParaRPr lang="en-US" sz="1875" dirty="0"/>
          </a:p>
        </p:txBody>
      </p:sp>
      <p:sp>
        <p:nvSpPr>
          <p:cNvPr id="27" name="Shape 25"/>
          <p:cNvSpPr/>
          <p:nvPr/>
        </p:nvSpPr>
        <p:spPr>
          <a:xfrm>
            <a:off x="1047631" y="6845141"/>
            <a:ext cx="85725" cy="85725"/>
          </a:xfrm>
          <a:prstGeom prst="rect">
            <a:avLst/>
          </a:prstGeom>
          <a:solidFill>
            <a:srgbClr val="5C8FB8"/>
          </a:solidFill>
          <a:ln/>
        </p:spPr>
      </p:sp>
      <p:sp>
        <p:nvSpPr>
          <p:cNvPr id="28" name="Text 26"/>
          <p:cNvSpPr/>
          <p:nvPr/>
        </p:nvSpPr>
        <p:spPr>
          <a:xfrm>
            <a:off x="1266587" y="6749950"/>
            <a:ext cx="6029539" cy="352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Versionamento semântico aplicado</a:t>
            </a:r>
            <a:endParaRPr lang="en-US" sz="1875" dirty="0"/>
          </a:p>
        </p:txBody>
      </p:sp>
      <p:sp>
        <p:nvSpPr>
          <p:cNvPr id="29" name="Shape 27"/>
          <p:cNvSpPr/>
          <p:nvPr/>
        </p:nvSpPr>
        <p:spPr>
          <a:xfrm>
            <a:off x="1047631" y="7273587"/>
            <a:ext cx="85725" cy="85725"/>
          </a:xfrm>
          <a:prstGeom prst="rect">
            <a:avLst/>
          </a:prstGeom>
          <a:solidFill>
            <a:srgbClr val="5C8FB8"/>
          </a:solidFill>
          <a:ln/>
        </p:spPr>
      </p:sp>
      <p:sp>
        <p:nvSpPr>
          <p:cNvPr id="30" name="Text 28"/>
          <p:cNvSpPr/>
          <p:nvPr/>
        </p:nvSpPr>
        <p:spPr>
          <a:xfrm>
            <a:off x="1266587" y="7178397"/>
            <a:ext cx="6029539" cy="352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Consumida por pelo menos uma aplicação</a:t>
            </a:r>
            <a:endParaRPr lang="en-US" sz="1875" dirty="0"/>
          </a:p>
        </p:txBody>
      </p:sp>
      <p:sp>
        <p:nvSpPr>
          <p:cNvPr id="31" name="Shape 29"/>
          <p:cNvSpPr/>
          <p:nvPr/>
        </p:nvSpPr>
        <p:spPr>
          <a:xfrm>
            <a:off x="7262336" y="4809351"/>
            <a:ext cx="5017591" cy="481095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7262336" y="4809351"/>
            <a:ext cx="5017591" cy="57150"/>
          </a:xfrm>
          <a:prstGeom prst="rect">
            <a:avLst/>
          </a:prstGeom>
          <a:solidFill>
            <a:srgbClr val="9AA3AE"/>
          </a:solidFill>
          <a:ln/>
        </p:spPr>
      </p:sp>
      <p:sp>
        <p:nvSpPr>
          <p:cNvPr id="33" name="Text 31"/>
          <p:cNvSpPr/>
          <p:nvPr/>
        </p:nvSpPr>
        <p:spPr>
          <a:xfrm>
            <a:off x="7548086" y="5152251"/>
            <a:ext cx="48907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DEFINITION OF READY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7548086" y="5674102"/>
            <a:ext cx="85725" cy="85725"/>
          </a:xfrm>
          <a:prstGeom prst="rect">
            <a:avLst/>
          </a:prstGeom>
          <a:solidFill>
            <a:srgbClr val="9AA3AE"/>
          </a:solidFill>
          <a:ln/>
        </p:spPr>
      </p:sp>
      <p:sp>
        <p:nvSpPr>
          <p:cNvPr id="35" name="Text 33"/>
          <p:cNvSpPr/>
          <p:nvPr/>
        </p:nvSpPr>
        <p:spPr>
          <a:xfrm>
            <a:off x="7767042" y="5578911"/>
            <a:ext cx="4649849" cy="352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Padrão de nomes definido (HU-01)</a:t>
            </a:r>
            <a:endParaRPr lang="en-US" sz="1875" dirty="0"/>
          </a:p>
        </p:txBody>
      </p:sp>
      <p:sp>
        <p:nvSpPr>
          <p:cNvPr id="36" name="Shape 34"/>
          <p:cNvSpPr/>
          <p:nvPr/>
        </p:nvSpPr>
        <p:spPr>
          <a:xfrm>
            <a:off x="7548086" y="6102548"/>
            <a:ext cx="85725" cy="85725"/>
          </a:xfrm>
          <a:prstGeom prst="rect">
            <a:avLst/>
          </a:prstGeom>
          <a:solidFill>
            <a:srgbClr val="9AA3AE"/>
          </a:solidFill>
          <a:ln/>
        </p:spPr>
      </p:sp>
      <p:sp>
        <p:nvSpPr>
          <p:cNvPr id="37" name="Text 35"/>
          <p:cNvSpPr/>
          <p:nvPr/>
        </p:nvSpPr>
        <p:spPr>
          <a:xfrm>
            <a:off x="7767042" y="6007358"/>
            <a:ext cx="4353949" cy="666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Política de retry e timeout acordada com arquitetura</a:t>
            </a:r>
            <a:endParaRPr lang="en-US" sz="1875" dirty="0"/>
          </a:p>
        </p:txBody>
      </p:sp>
      <p:sp>
        <p:nvSpPr>
          <p:cNvPr id="38" name="Shape 36"/>
          <p:cNvSpPr/>
          <p:nvPr/>
        </p:nvSpPr>
        <p:spPr>
          <a:xfrm>
            <a:off x="7548086" y="6845141"/>
            <a:ext cx="85725" cy="85725"/>
          </a:xfrm>
          <a:prstGeom prst="rect">
            <a:avLst/>
          </a:prstGeom>
          <a:solidFill>
            <a:srgbClr val="9AA3AE"/>
          </a:solidFill>
          <a:ln/>
        </p:spPr>
      </p:sp>
      <p:sp>
        <p:nvSpPr>
          <p:cNvPr id="39" name="Text 37"/>
          <p:cNvSpPr/>
          <p:nvPr/>
        </p:nvSpPr>
        <p:spPr>
          <a:xfrm>
            <a:off x="7767042" y="6749950"/>
            <a:ext cx="4353949" cy="666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Acesso de publicação no Artifactory liberado</a:t>
            </a:r>
            <a:endParaRPr lang="en-US" sz="1875" dirty="0"/>
          </a:p>
        </p:txBody>
      </p:sp>
      <p:sp>
        <p:nvSpPr>
          <p:cNvPr id="40" name="Shape 38"/>
          <p:cNvSpPr/>
          <p:nvPr/>
        </p:nvSpPr>
        <p:spPr>
          <a:xfrm>
            <a:off x="12508527" y="4809351"/>
            <a:ext cx="5017591" cy="481095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Shape 39"/>
          <p:cNvSpPr/>
          <p:nvPr/>
        </p:nvSpPr>
        <p:spPr>
          <a:xfrm>
            <a:off x="12508527" y="4809351"/>
            <a:ext cx="5017591" cy="57150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42" name="Text 40"/>
          <p:cNvSpPr/>
          <p:nvPr/>
        </p:nvSpPr>
        <p:spPr>
          <a:xfrm>
            <a:off x="12794277" y="5152251"/>
            <a:ext cx="48907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DEFINITION OF DONE</a:t>
            </a:r>
            <a:endParaRPr lang="en-US" sz="1650" dirty="0"/>
          </a:p>
        </p:txBody>
      </p:sp>
      <p:sp>
        <p:nvSpPr>
          <p:cNvPr id="43" name="Shape 41"/>
          <p:cNvSpPr/>
          <p:nvPr/>
        </p:nvSpPr>
        <p:spPr>
          <a:xfrm>
            <a:off x="12794277" y="5674102"/>
            <a:ext cx="85725" cy="85725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44" name="Text 42"/>
          <p:cNvSpPr/>
          <p:nvPr/>
        </p:nvSpPr>
        <p:spPr>
          <a:xfrm>
            <a:off x="13013232" y="5578911"/>
            <a:ext cx="4649849" cy="352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Versão estável publicada</a:t>
            </a:r>
            <a:endParaRPr lang="en-US" sz="1875" dirty="0"/>
          </a:p>
        </p:txBody>
      </p:sp>
      <p:sp>
        <p:nvSpPr>
          <p:cNvPr id="45" name="Shape 43"/>
          <p:cNvSpPr/>
          <p:nvPr/>
        </p:nvSpPr>
        <p:spPr>
          <a:xfrm>
            <a:off x="12794277" y="6102548"/>
            <a:ext cx="85725" cy="85725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46" name="Text 44"/>
          <p:cNvSpPr/>
          <p:nvPr/>
        </p:nvSpPr>
        <p:spPr>
          <a:xfrm>
            <a:off x="13013232" y="6007358"/>
            <a:ext cx="4353949" cy="666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Testes unitários da biblioteca acima de 90%</a:t>
            </a:r>
            <a:endParaRPr lang="en-US" sz="1875" dirty="0"/>
          </a:p>
        </p:txBody>
      </p:sp>
      <p:sp>
        <p:nvSpPr>
          <p:cNvPr id="47" name="Shape 45"/>
          <p:cNvSpPr/>
          <p:nvPr/>
        </p:nvSpPr>
        <p:spPr>
          <a:xfrm>
            <a:off x="12794277" y="6845141"/>
            <a:ext cx="85725" cy="85725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48" name="Text 46"/>
          <p:cNvSpPr/>
          <p:nvPr/>
        </p:nvSpPr>
        <p:spPr>
          <a:xfrm>
            <a:off x="13013232" y="6749950"/>
            <a:ext cx="4649849" cy="352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README com exemplo de uso</a:t>
            </a:r>
            <a:endParaRPr lang="en-US" sz="18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881" y="666690"/>
            <a:ext cx="990481" cy="422910"/>
          </a:xfrm>
          <a:prstGeom prst="rect">
            <a:avLst/>
          </a:prstGeom>
          <a:solidFill>
            <a:srgbClr val="5C8FB8"/>
          </a:solidFill>
          <a:ln/>
        </p:spPr>
      </p:sp>
      <p:sp>
        <p:nvSpPr>
          <p:cNvPr id="3" name="Text 1"/>
          <p:cNvSpPr/>
          <p:nvPr/>
        </p:nvSpPr>
        <p:spPr>
          <a:xfrm>
            <a:off x="914281" y="723840"/>
            <a:ext cx="761881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2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HU-09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923812" y="740985"/>
            <a:ext cx="3871894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· HABILITAÇÃO DE DADOS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61881" y="1222831"/>
            <a:ext cx="13053916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279"/>
              </a:lnSpc>
              <a:buNone/>
            </a:pPr>
            <a:r>
              <a:rPr lang="en-US" sz="3900" b="1" spc="-78" kern="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Endpoints de fundos na peça habilitadora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13200578" y="742771"/>
            <a:ext cx="624661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80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ONDA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200578" y="1051381"/>
            <a:ext cx="62466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4168020" y="742771"/>
            <a:ext cx="1062752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80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PERFIL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168020" y="1051381"/>
            <a:ext cx="1062752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5573553" y="742771"/>
            <a:ext cx="898981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80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PONTOS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5573553" y="1051381"/>
            <a:ext cx="89898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6815315" y="742771"/>
            <a:ext cx="787003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80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815315" y="1051381"/>
            <a:ext cx="78700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BE-16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761881" y="2034183"/>
            <a:ext cx="8267819" cy="2135624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15" name="Text 13"/>
          <p:cNvSpPr/>
          <p:nvPr/>
        </p:nvSpPr>
        <p:spPr>
          <a:xfrm>
            <a:off x="1066562" y="2338864"/>
            <a:ext cx="842430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9AA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DOR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066562" y="2746415"/>
            <a:ext cx="7888211" cy="1118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154"/>
              </a:lnSpc>
              <a:buNone/>
            </a:pPr>
            <a:r>
              <a:rPr lang="en-US" sz="2025" dirty="0">
                <a:solidFill>
                  <a:srgbClr val="F5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jornada não consegue apresentar os fundos disponíveis ao cliente porque não existe endpoint que exponha esses dados no formato esperado pela tela.</a:t>
            </a:r>
            <a:endParaRPr lang="en-US" sz="2025" dirty="0"/>
          </a:p>
        </p:txBody>
      </p:sp>
      <p:sp>
        <p:nvSpPr>
          <p:cNvPr id="17" name="Shape 15"/>
          <p:cNvSpPr/>
          <p:nvPr/>
        </p:nvSpPr>
        <p:spPr>
          <a:xfrm>
            <a:off x="9258299" y="2034183"/>
            <a:ext cx="8267819" cy="2135624"/>
          </a:xfrm>
          <a:prstGeom prst="rect">
            <a:avLst/>
          </a:prstGeom>
          <a:solidFill>
            <a:srgbClr val="BFD8EA"/>
          </a:solidFill>
          <a:ln/>
        </p:spPr>
      </p:sp>
      <p:sp>
        <p:nvSpPr>
          <p:cNvPr id="18" name="Text 16"/>
          <p:cNvSpPr/>
          <p:nvPr/>
        </p:nvSpPr>
        <p:spPr>
          <a:xfrm>
            <a:off x="9562980" y="2338864"/>
            <a:ext cx="842430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5C5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HISTÓRIA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9562980" y="2746415"/>
            <a:ext cx="7888211" cy="1156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518"/>
              </a:lnSpc>
              <a:buNone/>
            </a:pPr>
            <a:r>
              <a:rPr lang="en-US" sz="21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cliente da jornada transacional, quero visualizar os fundos disponíveis para que eu possa escolher onde aplicar sem sair do fluxo.</a:t>
            </a:r>
            <a:endParaRPr lang="en-US" sz="2175" dirty="0"/>
          </a:p>
        </p:txBody>
      </p:sp>
      <p:sp>
        <p:nvSpPr>
          <p:cNvPr id="20" name="Shape 18"/>
          <p:cNvSpPr/>
          <p:nvPr/>
        </p:nvSpPr>
        <p:spPr>
          <a:xfrm>
            <a:off x="761881" y="4436447"/>
            <a:ext cx="6271855" cy="518386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761881" y="4436447"/>
            <a:ext cx="6271855" cy="57150"/>
          </a:xfrm>
          <a:prstGeom prst="rect">
            <a:avLst/>
          </a:prstGeom>
          <a:solidFill>
            <a:srgbClr val="5C8FB8"/>
          </a:solidFill>
          <a:ln/>
        </p:spPr>
      </p:sp>
      <p:sp>
        <p:nvSpPr>
          <p:cNvPr id="22" name="Text 20"/>
          <p:cNvSpPr/>
          <p:nvPr/>
        </p:nvSpPr>
        <p:spPr>
          <a:xfrm>
            <a:off x="1047631" y="4779347"/>
            <a:ext cx="627039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CRITÉRIOS DE ACEITE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047631" y="5301198"/>
            <a:ext cx="85725" cy="85725"/>
          </a:xfrm>
          <a:prstGeom prst="rect">
            <a:avLst/>
          </a:prstGeom>
          <a:solidFill>
            <a:srgbClr val="5C8FB8"/>
          </a:solidFill>
          <a:ln/>
        </p:spPr>
      </p:sp>
      <p:sp>
        <p:nvSpPr>
          <p:cNvPr id="24" name="Text 22"/>
          <p:cNvSpPr/>
          <p:nvPr/>
        </p:nvSpPr>
        <p:spPr>
          <a:xfrm>
            <a:off x="1266587" y="5206007"/>
            <a:ext cx="5645841" cy="666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Endpoints implementados conforme o contrato publicado</a:t>
            </a:r>
            <a:endParaRPr lang="en-US" sz="1875" dirty="0"/>
          </a:p>
        </p:txBody>
      </p:sp>
      <p:sp>
        <p:nvSpPr>
          <p:cNvPr id="25" name="Shape 23"/>
          <p:cNvSpPr/>
          <p:nvPr/>
        </p:nvSpPr>
        <p:spPr>
          <a:xfrm>
            <a:off x="1047631" y="6043791"/>
            <a:ext cx="85725" cy="85725"/>
          </a:xfrm>
          <a:prstGeom prst="rect">
            <a:avLst/>
          </a:prstGeom>
          <a:solidFill>
            <a:srgbClr val="5C8FB8"/>
          </a:solidFill>
          <a:ln/>
        </p:spPr>
      </p:sp>
      <p:sp>
        <p:nvSpPr>
          <p:cNvPr id="26" name="Text 24"/>
          <p:cNvSpPr/>
          <p:nvPr/>
        </p:nvSpPr>
        <p:spPr>
          <a:xfrm>
            <a:off x="1266587" y="5948600"/>
            <a:ext cx="5645841" cy="666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Retorno validado contra o schema em ambiente de desenvolvimento</a:t>
            </a:r>
            <a:endParaRPr lang="en-US" sz="1875" dirty="0"/>
          </a:p>
        </p:txBody>
      </p:sp>
      <p:sp>
        <p:nvSpPr>
          <p:cNvPr id="27" name="Shape 25"/>
          <p:cNvSpPr/>
          <p:nvPr/>
        </p:nvSpPr>
        <p:spPr>
          <a:xfrm>
            <a:off x="1047631" y="6786383"/>
            <a:ext cx="85725" cy="85725"/>
          </a:xfrm>
          <a:prstGeom prst="rect">
            <a:avLst/>
          </a:prstGeom>
          <a:solidFill>
            <a:srgbClr val="5C8FB8"/>
          </a:solidFill>
          <a:ln/>
        </p:spPr>
      </p:sp>
      <p:sp>
        <p:nvSpPr>
          <p:cNvPr id="28" name="Text 26"/>
          <p:cNvSpPr/>
          <p:nvPr/>
        </p:nvSpPr>
        <p:spPr>
          <a:xfrm>
            <a:off x="1266587" y="6691193"/>
            <a:ext cx="6029539" cy="352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Erros mapeados e retornados no padrão acordado</a:t>
            </a:r>
            <a:endParaRPr lang="en-US" sz="1875" dirty="0"/>
          </a:p>
        </p:txBody>
      </p:sp>
      <p:sp>
        <p:nvSpPr>
          <p:cNvPr id="29" name="Shape 27"/>
          <p:cNvSpPr/>
          <p:nvPr/>
        </p:nvSpPr>
        <p:spPr>
          <a:xfrm>
            <a:off x="1047631" y="7214830"/>
            <a:ext cx="85725" cy="85725"/>
          </a:xfrm>
          <a:prstGeom prst="rect">
            <a:avLst/>
          </a:prstGeom>
          <a:solidFill>
            <a:srgbClr val="5C8FB8"/>
          </a:solidFill>
          <a:ln/>
        </p:spPr>
      </p:sp>
      <p:sp>
        <p:nvSpPr>
          <p:cNvPr id="30" name="Text 28"/>
          <p:cNvSpPr/>
          <p:nvPr/>
        </p:nvSpPr>
        <p:spPr>
          <a:xfrm>
            <a:off x="1266587" y="7119639"/>
            <a:ext cx="6029539" cy="352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Cobertura de testes unitários acima de 90%</a:t>
            </a:r>
            <a:endParaRPr lang="en-US" sz="1875" dirty="0"/>
          </a:p>
        </p:txBody>
      </p:sp>
      <p:sp>
        <p:nvSpPr>
          <p:cNvPr id="31" name="Shape 29"/>
          <p:cNvSpPr/>
          <p:nvPr/>
        </p:nvSpPr>
        <p:spPr>
          <a:xfrm>
            <a:off x="7262336" y="4436447"/>
            <a:ext cx="5017591" cy="518386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7262336" y="4436447"/>
            <a:ext cx="5017591" cy="57150"/>
          </a:xfrm>
          <a:prstGeom prst="rect">
            <a:avLst/>
          </a:prstGeom>
          <a:solidFill>
            <a:srgbClr val="9AA3AE"/>
          </a:solidFill>
          <a:ln/>
        </p:spPr>
      </p:sp>
      <p:sp>
        <p:nvSpPr>
          <p:cNvPr id="33" name="Text 31"/>
          <p:cNvSpPr/>
          <p:nvPr/>
        </p:nvSpPr>
        <p:spPr>
          <a:xfrm>
            <a:off x="7548086" y="4779347"/>
            <a:ext cx="48907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DEFINITION OF READY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7548086" y="5301198"/>
            <a:ext cx="85725" cy="85725"/>
          </a:xfrm>
          <a:prstGeom prst="rect">
            <a:avLst/>
          </a:prstGeom>
          <a:solidFill>
            <a:srgbClr val="9AA3AE"/>
          </a:solidFill>
          <a:ln/>
        </p:spPr>
      </p:sp>
      <p:sp>
        <p:nvSpPr>
          <p:cNvPr id="35" name="Text 33"/>
          <p:cNvSpPr/>
          <p:nvPr/>
        </p:nvSpPr>
        <p:spPr>
          <a:xfrm>
            <a:off x="7767042" y="5206007"/>
            <a:ext cx="4649849" cy="352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 publicado e aprovado (HU-02)</a:t>
            </a:r>
            <a:endParaRPr lang="en-US" sz="1875" dirty="0"/>
          </a:p>
        </p:txBody>
      </p:sp>
      <p:sp>
        <p:nvSpPr>
          <p:cNvPr id="36" name="Shape 34"/>
          <p:cNvSpPr/>
          <p:nvPr/>
        </p:nvSpPr>
        <p:spPr>
          <a:xfrm>
            <a:off x="7548086" y="5729644"/>
            <a:ext cx="85725" cy="85725"/>
          </a:xfrm>
          <a:prstGeom prst="rect">
            <a:avLst/>
          </a:prstGeom>
          <a:solidFill>
            <a:srgbClr val="9AA3AE"/>
          </a:solidFill>
          <a:ln/>
        </p:spPr>
      </p:sp>
      <p:sp>
        <p:nvSpPr>
          <p:cNvPr id="37" name="Text 35"/>
          <p:cNvSpPr/>
          <p:nvPr/>
        </p:nvSpPr>
        <p:spPr>
          <a:xfrm>
            <a:off x="7767042" y="5634454"/>
            <a:ext cx="4353949" cy="666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 da peça habilitadora no ar (HU-05)</a:t>
            </a:r>
            <a:endParaRPr lang="en-US" sz="1875" dirty="0"/>
          </a:p>
        </p:txBody>
      </p:sp>
      <p:sp>
        <p:nvSpPr>
          <p:cNvPr id="38" name="Shape 36"/>
          <p:cNvSpPr/>
          <p:nvPr/>
        </p:nvSpPr>
        <p:spPr>
          <a:xfrm>
            <a:off x="7548086" y="6472237"/>
            <a:ext cx="85725" cy="85725"/>
          </a:xfrm>
          <a:prstGeom prst="rect">
            <a:avLst/>
          </a:prstGeom>
          <a:solidFill>
            <a:srgbClr val="9AA3AE"/>
          </a:solidFill>
          <a:ln/>
        </p:spPr>
      </p:sp>
      <p:sp>
        <p:nvSpPr>
          <p:cNvPr id="39" name="Text 37"/>
          <p:cNvSpPr/>
          <p:nvPr/>
        </p:nvSpPr>
        <p:spPr>
          <a:xfrm>
            <a:off x="7767042" y="6377047"/>
            <a:ext cx="4649849" cy="352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Massas de teste disponíveis (HU-16)</a:t>
            </a:r>
            <a:endParaRPr lang="en-US" sz="1875" dirty="0"/>
          </a:p>
        </p:txBody>
      </p:sp>
      <p:sp>
        <p:nvSpPr>
          <p:cNvPr id="40" name="Shape 38"/>
          <p:cNvSpPr/>
          <p:nvPr/>
        </p:nvSpPr>
        <p:spPr>
          <a:xfrm>
            <a:off x="12508527" y="4436447"/>
            <a:ext cx="5017591" cy="518386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Shape 39"/>
          <p:cNvSpPr/>
          <p:nvPr/>
        </p:nvSpPr>
        <p:spPr>
          <a:xfrm>
            <a:off x="12508527" y="4436447"/>
            <a:ext cx="5017591" cy="57150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42" name="Text 40"/>
          <p:cNvSpPr/>
          <p:nvPr/>
        </p:nvSpPr>
        <p:spPr>
          <a:xfrm>
            <a:off x="12794277" y="4779347"/>
            <a:ext cx="48907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DEFINITION OF DONE</a:t>
            </a:r>
            <a:endParaRPr lang="en-US" sz="1650" dirty="0"/>
          </a:p>
        </p:txBody>
      </p:sp>
      <p:sp>
        <p:nvSpPr>
          <p:cNvPr id="43" name="Shape 41"/>
          <p:cNvSpPr/>
          <p:nvPr/>
        </p:nvSpPr>
        <p:spPr>
          <a:xfrm>
            <a:off x="12794277" y="5301198"/>
            <a:ext cx="85725" cy="85725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44" name="Text 42"/>
          <p:cNvSpPr/>
          <p:nvPr/>
        </p:nvSpPr>
        <p:spPr>
          <a:xfrm>
            <a:off x="13013232" y="5206007"/>
            <a:ext cx="4353949" cy="666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Endpoints respondendo no ambiente de desenvolvimento</a:t>
            </a:r>
            <a:endParaRPr lang="en-US" sz="1875" dirty="0"/>
          </a:p>
        </p:txBody>
      </p:sp>
      <p:sp>
        <p:nvSpPr>
          <p:cNvPr id="45" name="Shape 43"/>
          <p:cNvSpPr/>
          <p:nvPr/>
        </p:nvSpPr>
        <p:spPr>
          <a:xfrm>
            <a:off x="12794277" y="6043791"/>
            <a:ext cx="85725" cy="85725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46" name="Text 44"/>
          <p:cNvSpPr/>
          <p:nvPr/>
        </p:nvSpPr>
        <p:spPr>
          <a:xfrm>
            <a:off x="13013232" y="5948600"/>
            <a:ext cx="4353949" cy="666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Testes unitários e de contrato verdes no pipeline</a:t>
            </a:r>
            <a:endParaRPr lang="en-US" sz="1875" dirty="0"/>
          </a:p>
        </p:txBody>
      </p:sp>
      <p:sp>
        <p:nvSpPr>
          <p:cNvPr id="47" name="Shape 45"/>
          <p:cNvSpPr/>
          <p:nvPr/>
        </p:nvSpPr>
        <p:spPr>
          <a:xfrm>
            <a:off x="12794277" y="6786383"/>
            <a:ext cx="85725" cy="85725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48" name="Text 46"/>
          <p:cNvSpPr/>
          <p:nvPr/>
        </p:nvSpPr>
        <p:spPr>
          <a:xfrm>
            <a:off x="13013232" y="6691193"/>
            <a:ext cx="4649849" cy="352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Documentação do endpoint atualizada</a:t>
            </a:r>
            <a:endParaRPr lang="en-US" sz="187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881" y="666690"/>
            <a:ext cx="990481" cy="422910"/>
          </a:xfrm>
          <a:prstGeom prst="rect">
            <a:avLst/>
          </a:prstGeom>
          <a:solidFill>
            <a:srgbClr val="5C8FB8"/>
          </a:solidFill>
          <a:ln/>
        </p:spPr>
      </p:sp>
      <p:sp>
        <p:nvSpPr>
          <p:cNvPr id="3" name="Text 1"/>
          <p:cNvSpPr/>
          <p:nvPr/>
        </p:nvSpPr>
        <p:spPr>
          <a:xfrm>
            <a:off x="914281" y="723840"/>
            <a:ext cx="761881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2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HU-10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923812" y="740985"/>
            <a:ext cx="3871894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· HABILITAÇÃO DE DADOS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61881" y="1222831"/>
            <a:ext cx="13056863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279"/>
              </a:lnSpc>
              <a:buNone/>
            </a:pPr>
            <a:r>
              <a:rPr lang="en-US" sz="3900" b="1" spc="-78" kern="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Endpoints de termos na peça habilitadora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13203257" y="742771"/>
            <a:ext cx="624661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80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ONDA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203257" y="1051381"/>
            <a:ext cx="62466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4170699" y="742771"/>
            <a:ext cx="1062752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80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PERFIL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170699" y="1051381"/>
            <a:ext cx="1062752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5576232" y="742771"/>
            <a:ext cx="898981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80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PONTOS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5576232" y="1051381"/>
            <a:ext cx="89898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6817994" y="742771"/>
            <a:ext cx="784324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80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817994" y="1051381"/>
            <a:ext cx="784324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BE-17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761881" y="2034183"/>
            <a:ext cx="8267819" cy="2135624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15" name="Text 13"/>
          <p:cNvSpPr/>
          <p:nvPr/>
        </p:nvSpPr>
        <p:spPr>
          <a:xfrm>
            <a:off x="1066562" y="2338864"/>
            <a:ext cx="842430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9AA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DOR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066562" y="2746415"/>
            <a:ext cx="7888211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154"/>
              </a:lnSpc>
              <a:buNone/>
            </a:pPr>
            <a:r>
              <a:rPr lang="en-US" sz="2025" dirty="0">
                <a:solidFill>
                  <a:srgbClr val="F5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aceite de termos é obrigatório na jornada e hoje não há endpoint que devolva o texto vigente nem registre o aceite do cliente.</a:t>
            </a:r>
            <a:endParaRPr lang="en-US" sz="2025" dirty="0"/>
          </a:p>
        </p:txBody>
      </p:sp>
      <p:sp>
        <p:nvSpPr>
          <p:cNvPr id="17" name="Shape 15"/>
          <p:cNvSpPr/>
          <p:nvPr/>
        </p:nvSpPr>
        <p:spPr>
          <a:xfrm>
            <a:off x="9258299" y="2034183"/>
            <a:ext cx="8267819" cy="2135624"/>
          </a:xfrm>
          <a:prstGeom prst="rect">
            <a:avLst/>
          </a:prstGeom>
          <a:solidFill>
            <a:srgbClr val="BFD8EA"/>
          </a:solidFill>
          <a:ln/>
        </p:spPr>
      </p:sp>
      <p:sp>
        <p:nvSpPr>
          <p:cNvPr id="18" name="Text 16"/>
          <p:cNvSpPr/>
          <p:nvPr/>
        </p:nvSpPr>
        <p:spPr>
          <a:xfrm>
            <a:off x="9562980" y="2338864"/>
            <a:ext cx="842430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5C5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HISTÓRIA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9562980" y="2746415"/>
            <a:ext cx="7888211" cy="1156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518"/>
              </a:lnSpc>
              <a:buNone/>
            </a:pPr>
            <a:r>
              <a:rPr lang="en-US" sz="21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cliente da jornada transacional, quero consultar e aceitar os termos vigentes para que minha decisão fique registrada de forma auditável.</a:t>
            </a:r>
            <a:endParaRPr lang="en-US" sz="2175" dirty="0"/>
          </a:p>
        </p:txBody>
      </p:sp>
      <p:sp>
        <p:nvSpPr>
          <p:cNvPr id="20" name="Shape 18"/>
          <p:cNvSpPr/>
          <p:nvPr/>
        </p:nvSpPr>
        <p:spPr>
          <a:xfrm>
            <a:off x="761881" y="4436447"/>
            <a:ext cx="6271855" cy="518386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761881" y="4436447"/>
            <a:ext cx="6271855" cy="57150"/>
          </a:xfrm>
          <a:prstGeom prst="rect">
            <a:avLst/>
          </a:prstGeom>
          <a:solidFill>
            <a:srgbClr val="5C8FB8"/>
          </a:solidFill>
          <a:ln/>
        </p:spPr>
      </p:sp>
      <p:sp>
        <p:nvSpPr>
          <p:cNvPr id="22" name="Text 20"/>
          <p:cNvSpPr/>
          <p:nvPr/>
        </p:nvSpPr>
        <p:spPr>
          <a:xfrm>
            <a:off x="1047631" y="4779347"/>
            <a:ext cx="627039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CRITÉRIOS DE ACEITE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047631" y="5301198"/>
            <a:ext cx="85725" cy="85725"/>
          </a:xfrm>
          <a:prstGeom prst="rect">
            <a:avLst/>
          </a:prstGeom>
          <a:solidFill>
            <a:srgbClr val="5C8FB8"/>
          </a:solidFill>
          <a:ln/>
        </p:spPr>
      </p:sp>
      <p:sp>
        <p:nvSpPr>
          <p:cNvPr id="24" name="Text 22"/>
          <p:cNvSpPr/>
          <p:nvPr/>
        </p:nvSpPr>
        <p:spPr>
          <a:xfrm>
            <a:off x="1266587" y="5206007"/>
            <a:ext cx="5645841" cy="666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 de consulta devolve a versão vigente dos termos</a:t>
            </a:r>
            <a:endParaRPr lang="en-US" sz="1875" dirty="0"/>
          </a:p>
        </p:txBody>
      </p:sp>
      <p:sp>
        <p:nvSpPr>
          <p:cNvPr id="25" name="Shape 23"/>
          <p:cNvSpPr/>
          <p:nvPr/>
        </p:nvSpPr>
        <p:spPr>
          <a:xfrm>
            <a:off x="1047631" y="6043791"/>
            <a:ext cx="85725" cy="85725"/>
          </a:xfrm>
          <a:prstGeom prst="rect">
            <a:avLst/>
          </a:prstGeom>
          <a:solidFill>
            <a:srgbClr val="5C8FB8"/>
          </a:solidFill>
          <a:ln/>
        </p:spPr>
      </p:sp>
      <p:sp>
        <p:nvSpPr>
          <p:cNvPr id="26" name="Text 24"/>
          <p:cNvSpPr/>
          <p:nvPr/>
        </p:nvSpPr>
        <p:spPr>
          <a:xfrm>
            <a:off x="1266587" y="5948600"/>
            <a:ext cx="5645841" cy="666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 de aceite registra cliente, versão e data e hora</a:t>
            </a:r>
            <a:endParaRPr lang="en-US" sz="1875" dirty="0"/>
          </a:p>
        </p:txBody>
      </p:sp>
      <p:sp>
        <p:nvSpPr>
          <p:cNvPr id="27" name="Shape 25"/>
          <p:cNvSpPr/>
          <p:nvPr/>
        </p:nvSpPr>
        <p:spPr>
          <a:xfrm>
            <a:off x="1047631" y="6786383"/>
            <a:ext cx="85725" cy="85725"/>
          </a:xfrm>
          <a:prstGeom prst="rect">
            <a:avLst/>
          </a:prstGeom>
          <a:solidFill>
            <a:srgbClr val="5C8FB8"/>
          </a:solidFill>
          <a:ln/>
        </p:spPr>
      </p:sp>
      <p:sp>
        <p:nvSpPr>
          <p:cNvPr id="28" name="Text 26"/>
          <p:cNvSpPr/>
          <p:nvPr/>
        </p:nvSpPr>
        <p:spPr>
          <a:xfrm>
            <a:off x="1266587" y="6691193"/>
            <a:ext cx="6029539" cy="352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Erros mapeados e retornados no padrão acordado</a:t>
            </a:r>
            <a:endParaRPr lang="en-US" sz="1875" dirty="0"/>
          </a:p>
        </p:txBody>
      </p:sp>
      <p:sp>
        <p:nvSpPr>
          <p:cNvPr id="29" name="Shape 27"/>
          <p:cNvSpPr/>
          <p:nvPr/>
        </p:nvSpPr>
        <p:spPr>
          <a:xfrm>
            <a:off x="1047631" y="7214830"/>
            <a:ext cx="85725" cy="85725"/>
          </a:xfrm>
          <a:prstGeom prst="rect">
            <a:avLst/>
          </a:prstGeom>
          <a:solidFill>
            <a:srgbClr val="5C8FB8"/>
          </a:solidFill>
          <a:ln/>
        </p:spPr>
      </p:sp>
      <p:sp>
        <p:nvSpPr>
          <p:cNvPr id="30" name="Text 28"/>
          <p:cNvSpPr/>
          <p:nvPr/>
        </p:nvSpPr>
        <p:spPr>
          <a:xfrm>
            <a:off x="1266587" y="7119639"/>
            <a:ext cx="6029539" cy="352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Cobertura de testes unitários acima de 90%</a:t>
            </a:r>
            <a:endParaRPr lang="en-US" sz="1875" dirty="0"/>
          </a:p>
        </p:txBody>
      </p:sp>
      <p:sp>
        <p:nvSpPr>
          <p:cNvPr id="31" name="Shape 29"/>
          <p:cNvSpPr/>
          <p:nvPr/>
        </p:nvSpPr>
        <p:spPr>
          <a:xfrm>
            <a:off x="7262336" y="4436447"/>
            <a:ext cx="5017591" cy="518386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7262336" y="4436447"/>
            <a:ext cx="5017591" cy="57150"/>
          </a:xfrm>
          <a:prstGeom prst="rect">
            <a:avLst/>
          </a:prstGeom>
          <a:solidFill>
            <a:srgbClr val="9AA3AE"/>
          </a:solidFill>
          <a:ln/>
        </p:spPr>
      </p:sp>
      <p:sp>
        <p:nvSpPr>
          <p:cNvPr id="33" name="Text 31"/>
          <p:cNvSpPr/>
          <p:nvPr/>
        </p:nvSpPr>
        <p:spPr>
          <a:xfrm>
            <a:off x="7548086" y="4779347"/>
            <a:ext cx="48907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DEFINITION OF READY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7548086" y="5301198"/>
            <a:ext cx="85725" cy="85725"/>
          </a:xfrm>
          <a:prstGeom prst="rect">
            <a:avLst/>
          </a:prstGeom>
          <a:solidFill>
            <a:srgbClr val="9AA3AE"/>
          </a:solidFill>
          <a:ln/>
        </p:spPr>
      </p:sp>
      <p:sp>
        <p:nvSpPr>
          <p:cNvPr id="35" name="Text 33"/>
          <p:cNvSpPr/>
          <p:nvPr/>
        </p:nvSpPr>
        <p:spPr>
          <a:xfrm>
            <a:off x="7767042" y="5206007"/>
            <a:ext cx="4649849" cy="352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 publicado e aprovado (HU-02)</a:t>
            </a:r>
            <a:endParaRPr lang="en-US" sz="1875" dirty="0"/>
          </a:p>
        </p:txBody>
      </p:sp>
      <p:sp>
        <p:nvSpPr>
          <p:cNvPr id="36" name="Shape 34"/>
          <p:cNvSpPr/>
          <p:nvPr/>
        </p:nvSpPr>
        <p:spPr>
          <a:xfrm>
            <a:off x="7548086" y="5729644"/>
            <a:ext cx="85725" cy="85725"/>
          </a:xfrm>
          <a:prstGeom prst="rect">
            <a:avLst/>
          </a:prstGeom>
          <a:solidFill>
            <a:srgbClr val="9AA3AE"/>
          </a:solidFill>
          <a:ln/>
        </p:spPr>
      </p:sp>
      <p:sp>
        <p:nvSpPr>
          <p:cNvPr id="37" name="Text 35"/>
          <p:cNvSpPr/>
          <p:nvPr/>
        </p:nvSpPr>
        <p:spPr>
          <a:xfrm>
            <a:off x="7767042" y="5634454"/>
            <a:ext cx="4353949" cy="666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 de versionamento de termos confirmada com o negócio</a:t>
            </a:r>
            <a:endParaRPr lang="en-US" sz="1875" dirty="0"/>
          </a:p>
        </p:txBody>
      </p:sp>
      <p:sp>
        <p:nvSpPr>
          <p:cNvPr id="38" name="Shape 36"/>
          <p:cNvSpPr/>
          <p:nvPr/>
        </p:nvSpPr>
        <p:spPr>
          <a:xfrm>
            <a:off x="7548086" y="6472237"/>
            <a:ext cx="85725" cy="85725"/>
          </a:xfrm>
          <a:prstGeom prst="rect">
            <a:avLst/>
          </a:prstGeom>
          <a:solidFill>
            <a:srgbClr val="9AA3AE"/>
          </a:solidFill>
          <a:ln/>
        </p:spPr>
      </p:sp>
      <p:sp>
        <p:nvSpPr>
          <p:cNvPr id="39" name="Text 37"/>
          <p:cNvSpPr/>
          <p:nvPr/>
        </p:nvSpPr>
        <p:spPr>
          <a:xfrm>
            <a:off x="7767042" y="6377047"/>
            <a:ext cx="4353949" cy="666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 da peça habilitadora no ar (HU-05)</a:t>
            </a:r>
            <a:endParaRPr lang="en-US" sz="1875" dirty="0"/>
          </a:p>
        </p:txBody>
      </p:sp>
      <p:sp>
        <p:nvSpPr>
          <p:cNvPr id="40" name="Shape 38"/>
          <p:cNvSpPr/>
          <p:nvPr/>
        </p:nvSpPr>
        <p:spPr>
          <a:xfrm>
            <a:off x="12508527" y="4436447"/>
            <a:ext cx="5017591" cy="518386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Shape 39"/>
          <p:cNvSpPr/>
          <p:nvPr/>
        </p:nvSpPr>
        <p:spPr>
          <a:xfrm>
            <a:off x="12508527" y="4436447"/>
            <a:ext cx="5017591" cy="57150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42" name="Text 40"/>
          <p:cNvSpPr/>
          <p:nvPr/>
        </p:nvSpPr>
        <p:spPr>
          <a:xfrm>
            <a:off x="12794277" y="4779347"/>
            <a:ext cx="48907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DEFINITION OF DONE</a:t>
            </a:r>
            <a:endParaRPr lang="en-US" sz="1650" dirty="0"/>
          </a:p>
        </p:txBody>
      </p:sp>
      <p:sp>
        <p:nvSpPr>
          <p:cNvPr id="43" name="Shape 41"/>
          <p:cNvSpPr/>
          <p:nvPr/>
        </p:nvSpPr>
        <p:spPr>
          <a:xfrm>
            <a:off x="12794277" y="5301198"/>
            <a:ext cx="85725" cy="85725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44" name="Text 42"/>
          <p:cNvSpPr/>
          <p:nvPr/>
        </p:nvSpPr>
        <p:spPr>
          <a:xfrm>
            <a:off x="13013232" y="5206007"/>
            <a:ext cx="4649849" cy="352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Aceite persistido e consultável</a:t>
            </a:r>
            <a:endParaRPr lang="en-US" sz="1875" dirty="0"/>
          </a:p>
        </p:txBody>
      </p:sp>
      <p:sp>
        <p:nvSpPr>
          <p:cNvPr id="45" name="Shape 43"/>
          <p:cNvSpPr/>
          <p:nvPr/>
        </p:nvSpPr>
        <p:spPr>
          <a:xfrm>
            <a:off x="12794277" y="5729644"/>
            <a:ext cx="85725" cy="85725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46" name="Text 44"/>
          <p:cNvSpPr/>
          <p:nvPr/>
        </p:nvSpPr>
        <p:spPr>
          <a:xfrm>
            <a:off x="13013232" y="5634454"/>
            <a:ext cx="4649849" cy="352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Testes unitários e de contrato verdes</a:t>
            </a:r>
            <a:endParaRPr lang="en-US" sz="1875" dirty="0"/>
          </a:p>
        </p:txBody>
      </p:sp>
      <p:sp>
        <p:nvSpPr>
          <p:cNvPr id="47" name="Shape 45"/>
          <p:cNvSpPr/>
          <p:nvPr/>
        </p:nvSpPr>
        <p:spPr>
          <a:xfrm>
            <a:off x="12794277" y="6158091"/>
            <a:ext cx="85725" cy="85725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48" name="Text 46"/>
          <p:cNvSpPr/>
          <p:nvPr/>
        </p:nvSpPr>
        <p:spPr>
          <a:xfrm>
            <a:off x="13013232" y="6062900"/>
            <a:ext cx="4353949" cy="666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Evidência de auditoria validada com o time de negócios</a:t>
            </a:r>
            <a:endParaRPr lang="en-US" sz="187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881" y="666690"/>
            <a:ext cx="990481" cy="422910"/>
          </a:xfrm>
          <a:prstGeom prst="rect">
            <a:avLst/>
          </a:prstGeom>
          <a:solidFill>
            <a:srgbClr val="5C8FB8"/>
          </a:solidFill>
          <a:ln/>
        </p:spPr>
      </p:sp>
      <p:sp>
        <p:nvSpPr>
          <p:cNvPr id="3" name="Text 1"/>
          <p:cNvSpPr/>
          <p:nvPr/>
        </p:nvSpPr>
        <p:spPr>
          <a:xfrm>
            <a:off x="914281" y="723840"/>
            <a:ext cx="761881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2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HU-11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923812" y="740985"/>
            <a:ext cx="3871894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· HABILITAÇÃO DE DADOS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61881" y="1222831"/>
            <a:ext cx="13053916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279"/>
              </a:lnSpc>
              <a:buNone/>
            </a:pPr>
            <a:r>
              <a:rPr lang="en-US" sz="3900" b="1" spc="-78" kern="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Endpoints de perfil na peça habilitadora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13200578" y="742771"/>
            <a:ext cx="624661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80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ONDA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200578" y="1051381"/>
            <a:ext cx="62466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4168020" y="742771"/>
            <a:ext cx="1062752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80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PERFIL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168020" y="1051381"/>
            <a:ext cx="1062752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5573553" y="742771"/>
            <a:ext cx="898981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80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PONTOS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5573553" y="1051381"/>
            <a:ext cx="89898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6815315" y="742771"/>
            <a:ext cx="787003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80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815315" y="1051381"/>
            <a:ext cx="78700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BE-18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761881" y="2034183"/>
            <a:ext cx="8267819" cy="2135624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15" name="Text 13"/>
          <p:cNvSpPr/>
          <p:nvPr/>
        </p:nvSpPr>
        <p:spPr>
          <a:xfrm>
            <a:off x="1066562" y="2338864"/>
            <a:ext cx="842430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9AA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DOR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066562" y="2746415"/>
            <a:ext cx="7888211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154"/>
              </a:lnSpc>
              <a:buNone/>
            </a:pPr>
            <a:r>
              <a:rPr lang="en-US" sz="2025" dirty="0">
                <a:solidFill>
                  <a:srgbClr val="F5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jornada precisa adaptar o que mostra ao perfil do cliente, mas essa informação não está exposta em nenhum endpoint próprio.</a:t>
            </a:r>
            <a:endParaRPr lang="en-US" sz="2025" dirty="0"/>
          </a:p>
        </p:txBody>
      </p:sp>
      <p:sp>
        <p:nvSpPr>
          <p:cNvPr id="17" name="Shape 15"/>
          <p:cNvSpPr/>
          <p:nvPr/>
        </p:nvSpPr>
        <p:spPr>
          <a:xfrm>
            <a:off x="9258299" y="2034183"/>
            <a:ext cx="8267819" cy="2135624"/>
          </a:xfrm>
          <a:prstGeom prst="rect">
            <a:avLst/>
          </a:prstGeom>
          <a:solidFill>
            <a:srgbClr val="BFD8EA"/>
          </a:solidFill>
          <a:ln/>
        </p:spPr>
      </p:sp>
      <p:sp>
        <p:nvSpPr>
          <p:cNvPr id="18" name="Text 16"/>
          <p:cNvSpPr/>
          <p:nvPr/>
        </p:nvSpPr>
        <p:spPr>
          <a:xfrm>
            <a:off x="9562980" y="2338864"/>
            <a:ext cx="842430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5C5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HISTÓRIA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9562980" y="2746415"/>
            <a:ext cx="7888211" cy="1156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518"/>
              </a:lnSpc>
              <a:buNone/>
            </a:pPr>
            <a:r>
              <a:rPr lang="en-US" sz="21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cliente da jornada transacional, quero que a jornada reconheça meu perfil para que as opções apresentadas sejam compatíveis com ele.</a:t>
            </a:r>
            <a:endParaRPr lang="en-US" sz="2175" dirty="0"/>
          </a:p>
        </p:txBody>
      </p:sp>
      <p:sp>
        <p:nvSpPr>
          <p:cNvPr id="20" name="Shape 18"/>
          <p:cNvSpPr/>
          <p:nvPr/>
        </p:nvSpPr>
        <p:spPr>
          <a:xfrm>
            <a:off x="761881" y="4436447"/>
            <a:ext cx="6271855" cy="518386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761881" y="4436447"/>
            <a:ext cx="6271855" cy="57150"/>
          </a:xfrm>
          <a:prstGeom prst="rect">
            <a:avLst/>
          </a:prstGeom>
          <a:solidFill>
            <a:srgbClr val="5C8FB8"/>
          </a:solidFill>
          <a:ln/>
        </p:spPr>
      </p:sp>
      <p:sp>
        <p:nvSpPr>
          <p:cNvPr id="22" name="Text 20"/>
          <p:cNvSpPr/>
          <p:nvPr/>
        </p:nvSpPr>
        <p:spPr>
          <a:xfrm>
            <a:off x="1047631" y="4779347"/>
            <a:ext cx="627039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CRITÉRIOS DE ACEITE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047631" y="5301198"/>
            <a:ext cx="85725" cy="85725"/>
          </a:xfrm>
          <a:prstGeom prst="rect">
            <a:avLst/>
          </a:prstGeom>
          <a:solidFill>
            <a:srgbClr val="5C8FB8"/>
          </a:solidFill>
          <a:ln/>
        </p:spPr>
      </p:sp>
      <p:sp>
        <p:nvSpPr>
          <p:cNvPr id="24" name="Text 22"/>
          <p:cNvSpPr/>
          <p:nvPr/>
        </p:nvSpPr>
        <p:spPr>
          <a:xfrm>
            <a:off x="1266587" y="5206007"/>
            <a:ext cx="5645841" cy="666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Endpoints implementados conforme o contrato publicado</a:t>
            </a:r>
            <a:endParaRPr lang="en-US" sz="1875" dirty="0"/>
          </a:p>
        </p:txBody>
      </p:sp>
      <p:sp>
        <p:nvSpPr>
          <p:cNvPr id="25" name="Shape 23"/>
          <p:cNvSpPr/>
          <p:nvPr/>
        </p:nvSpPr>
        <p:spPr>
          <a:xfrm>
            <a:off x="1047631" y="6043791"/>
            <a:ext cx="85725" cy="85725"/>
          </a:xfrm>
          <a:prstGeom prst="rect">
            <a:avLst/>
          </a:prstGeom>
          <a:solidFill>
            <a:srgbClr val="5C8FB8"/>
          </a:solidFill>
          <a:ln/>
        </p:spPr>
      </p:sp>
      <p:sp>
        <p:nvSpPr>
          <p:cNvPr id="26" name="Text 24"/>
          <p:cNvSpPr/>
          <p:nvPr/>
        </p:nvSpPr>
        <p:spPr>
          <a:xfrm>
            <a:off x="1266587" y="5948600"/>
            <a:ext cx="6029539" cy="352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Regras de perfil validadas com o time de negócios</a:t>
            </a:r>
            <a:endParaRPr lang="en-US" sz="1875" dirty="0"/>
          </a:p>
        </p:txBody>
      </p:sp>
      <p:sp>
        <p:nvSpPr>
          <p:cNvPr id="27" name="Shape 25"/>
          <p:cNvSpPr/>
          <p:nvPr/>
        </p:nvSpPr>
        <p:spPr>
          <a:xfrm>
            <a:off x="1047631" y="6472237"/>
            <a:ext cx="85725" cy="85725"/>
          </a:xfrm>
          <a:prstGeom prst="rect">
            <a:avLst/>
          </a:prstGeom>
          <a:solidFill>
            <a:srgbClr val="5C8FB8"/>
          </a:solidFill>
          <a:ln/>
        </p:spPr>
      </p:sp>
      <p:sp>
        <p:nvSpPr>
          <p:cNvPr id="28" name="Text 26"/>
          <p:cNvSpPr/>
          <p:nvPr/>
        </p:nvSpPr>
        <p:spPr>
          <a:xfrm>
            <a:off x="1266587" y="6377047"/>
            <a:ext cx="6029539" cy="352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Erros mapeados e retornados no padrão acordado</a:t>
            </a:r>
            <a:endParaRPr lang="en-US" sz="1875" dirty="0"/>
          </a:p>
        </p:txBody>
      </p:sp>
      <p:sp>
        <p:nvSpPr>
          <p:cNvPr id="29" name="Shape 27"/>
          <p:cNvSpPr/>
          <p:nvPr/>
        </p:nvSpPr>
        <p:spPr>
          <a:xfrm>
            <a:off x="1047631" y="6900683"/>
            <a:ext cx="85725" cy="85725"/>
          </a:xfrm>
          <a:prstGeom prst="rect">
            <a:avLst/>
          </a:prstGeom>
          <a:solidFill>
            <a:srgbClr val="5C8FB8"/>
          </a:solidFill>
          <a:ln/>
        </p:spPr>
      </p:sp>
      <p:sp>
        <p:nvSpPr>
          <p:cNvPr id="30" name="Text 28"/>
          <p:cNvSpPr/>
          <p:nvPr/>
        </p:nvSpPr>
        <p:spPr>
          <a:xfrm>
            <a:off x="1266587" y="6805493"/>
            <a:ext cx="6029539" cy="352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Cobertura de testes unitários acima de 90%</a:t>
            </a:r>
            <a:endParaRPr lang="en-US" sz="1875" dirty="0"/>
          </a:p>
        </p:txBody>
      </p:sp>
      <p:sp>
        <p:nvSpPr>
          <p:cNvPr id="31" name="Shape 29"/>
          <p:cNvSpPr/>
          <p:nvPr/>
        </p:nvSpPr>
        <p:spPr>
          <a:xfrm>
            <a:off x="7262336" y="4436447"/>
            <a:ext cx="5017591" cy="518386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7262336" y="4436447"/>
            <a:ext cx="5017591" cy="57150"/>
          </a:xfrm>
          <a:prstGeom prst="rect">
            <a:avLst/>
          </a:prstGeom>
          <a:solidFill>
            <a:srgbClr val="9AA3AE"/>
          </a:solidFill>
          <a:ln/>
        </p:spPr>
      </p:sp>
      <p:sp>
        <p:nvSpPr>
          <p:cNvPr id="33" name="Text 31"/>
          <p:cNvSpPr/>
          <p:nvPr/>
        </p:nvSpPr>
        <p:spPr>
          <a:xfrm>
            <a:off x="7548086" y="4779347"/>
            <a:ext cx="48907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DEFINITION OF READY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7548086" y="5301198"/>
            <a:ext cx="85725" cy="85725"/>
          </a:xfrm>
          <a:prstGeom prst="rect">
            <a:avLst/>
          </a:prstGeom>
          <a:solidFill>
            <a:srgbClr val="9AA3AE"/>
          </a:solidFill>
          <a:ln/>
        </p:spPr>
      </p:sp>
      <p:sp>
        <p:nvSpPr>
          <p:cNvPr id="35" name="Text 33"/>
          <p:cNvSpPr/>
          <p:nvPr/>
        </p:nvSpPr>
        <p:spPr>
          <a:xfrm>
            <a:off x="7767042" y="5206007"/>
            <a:ext cx="4649849" cy="352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 publicado e aprovado (HU-02)</a:t>
            </a:r>
            <a:endParaRPr lang="en-US" sz="1875" dirty="0"/>
          </a:p>
        </p:txBody>
      </p:sp>
      <p:sp>
        <p:nvSpPr>
          <p:cNvPr id="36" name="Shape 34"/>
          <p:cNvSpPr/>
          <p:nvPr/>
        </p:nvSpPr>
        <p:spPr>
          <a:xfrm>
            <a:off x="7548086" y="5729644"/>
            <a:ext cx="85725" cy="85725"/>
          </a:xfrm>
          <a:prstGeom prst="rect">
            <a:avLst/>
          </a:prstGeom>
          <a:solidFill>
            <a:srgbClr val="9AA3AE"/>
          </a:solidFill>
          <a:ln/>
        </p:spPr>
      </p:sp>
      <p:sp>
        <p:nvSpPr>
          <p:cNvPr id="37" name="Text 35"/>
          <p:cNvSpPr/>
          <p:nvPr/>
        </p:nvSpPr>
        <p:spPr>
          <a:xfrm>
            <a:off x="7767042" y="5634454"/>
            <a:ext cx="4353949" cy="666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Regras de elegibilidade por perfil confirmadas</a:t>
            </a:r>
            <a:endParaRPr lang="en-US" sz="1875" dirty="0"/>
          </a:p>
        </p:txBody>
      </p:sp>
      <p:sp>
        <p:nvSpPr>
          <p:cNvPr id="38" name="Shape 36"/>
          <p:cNvSpPr/>
          <p:nvPr/>
        </p:nvSpPr>
        <p:spPr>
          <a:xfrm>
            <a:off x="7548086" y="6472237"/>
            <a:ext cx="85725" cy="85725"/>
          </a:xfrm>
          <a:prstGeom prst="rect">
            <a:avLst/>
          </a:prstGeom>
          <a:solidFill>
            <a:srgbClr val="9AA3AE"/>
          </a:solidFill>
          <a:ln/>
        </p:spPr>
      </p:sp>
      <p:sp>
        <p:nvSpPr>
          <p:cNvPr id="39" name="Text 37"/>
          <p:cNvSpPr/>
          <p:nvPr/>
        </p:nvSpPr>
        <p:spPr>
          <a:xfrm>
            <a:off x="7767042" y="6377047"/>
            <a:ext cx="4353949" cy="666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 da peça habilitadora no ar (HU-05)</a:t>
            </a:r>
            <a:endParaRPr lang="en-US" sz="1875" dirty="0"/>
          </a:p>
        </p:txBody>
      </p:sp>
      <p:sp>
        <p:nvSpPr>
          <p:cNvPr id="40" name="Shape 38"/>
          <p:cNvSpPr/>
          <p:nvPr/>
        </p:nvSpPr>
        <p:spPr>
          <a:xfrm>
            <a:off x="12508527" y="4436447"/>
            <a:ext cx="5017591" cy="518386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Shape 39"/>
          <p:cNvSpPr/>
          <p:nvPr/>
        </p:nvSpPr>
        <p:spPr>
          <a:xfrm>
            <a:off x="12508527" y="4436447"/>
            <a:ext cx="5017591" cy="57150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42" name="Text 40"/>
          <p:cNvSpPr/>
          <p:nvPr/>
        </p:nvSpPr>
        <p:spPr>
          <a:xfrm>
            <a:off x="12794277" y="4779347"/>
            <a:ext cx="48907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DEFINITION OF DONE</a:t>
            </a:r>
            <a:endParaRPr lang="en-US" sz="1650" dirty="0"/>
          </a:p>
        </p:txBody>
      </p:sp>
      <p:sp>
        <p:nvSpPr>
          <p:cNvPr id="43" name="Shape 41"/>
          <p:cNvSpPr/>
          <p:nvPr/>
        </p:nvSpPr>
        <p:spPr>
          <a:xfrm>
            <a:off x="12794277" y="5301198"/>
            <a:ext cx="85725" cy="85725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44" name="Text 42"/>
          <p:cNvSpPr/>
          <p:nvPr/>
        </p:nvSpPr>
        <p:spPr>
          <a:xfrm>
            <a:off x="13013232" y="5206007"/>
            <a:ext cx="4353949" cy="666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Endpoints respondendo no ambiente de desenvolvimento</a:t>
            </a:r>
            <a:endParaRPr lang="en-US" sz="1875" dirty="0"/>
          </a:p>
        </p:txBody>
      </p:sp>
      <p:sp>
        <p:nvSpPr>
          <p:cNvPr id="45" name="Shape 43"/>
          <p:cNvSpPr/>
          <p:nvPr/>
        </p:nvSpPr>
        <p:spPr>
          <a:xfrm>
            <a:off x="12794277" y="6043791"/>
            <a:ext cx="85725" cy="85725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46" name="Text 44"/>
          <p:cNvSpPr/>
          <p:nvPr/>
        </p:nvSpPr>
        <p:spPr>
          <a:xfrm>
            <a:off x="13013232" y="5948600"/>
            <a:ext cx="4649849" cy="352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Testes unitários e de contrato verdes</a:t>
            </a:r>
            <a:endParaRPr lang="en-US" sz="1875" dirty="0"/>
          </a:p>
        </p:txBody>
      </p:sp>
      <p:sp>
        <p:nvSpPr>
          <p:cNvPr id="47" name="Shape 45"/>
          <p:cNvSpPr/>
          <p:nvPr/>
        </p:nvSpPr>
        <p:spPr>
          <a:xfrm>
            <a:off x="12794277" y="6472237"/>
            <a:ext cx="85725" cy="85725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48" name="Text 46"/>
          <p:cNvSpPr/>
          <p:nvPr/>
        </p:nvSpPr>
        <p:spPr>
          <a:xfrm>
            <a:off x="13013232" y="6377047"/>
            <a:ext cx="4353949" cy="666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Regras revisadas com o time de negócios</a:t>
            </a:r>
            <a:endParaRPr lang="en-US" sz="187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881" y="666690"/>
            <a:ext cx="990481" cy="422910"/>
          </a:xfrm>
          <a:prstGeom prst="rect">
            <a:avLst/>
          </a:prstGeom>
          <a:solidFill>
            <a:srgbClr val="5C8FB8"/>
          </a:solidFill>
          <a:ln/>
        </p:spPr>
      </p:sp>
      <p:sp>
        <p:nvSpPr>
          <p:cNvPr id="3" name="Text 1"/>
          <p:cNvSpPr/>
          <p:nvPr/>
        </p:nvSpPr>
        <p:spPr>
          <a:xfrm>
            <a:off x="914281" y="723840"/>
            <a:ext cx="761881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2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HU-12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923812" y="740985"/>
            <a:ext cx="3871894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· HABILITAÇÃO DE DADOS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61881" y="1222831"/>
            <a:ext cx="11359744" cy="11275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279"/>
              </a:lnSpc>
              <a:buNone/>
            </a:pPr>
            <a:r>
              <a:rPr lang="en-US" sz="3900" b="1" spc="-78" kern="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BFF com endpoints complementares e cobertura de testes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12362258" y="742771"/>
            <a:ext cx="624661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80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ONDA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62258" y="1051381"/>
            <a:ext cx="62466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3329701" y="742771"/>
            <a:ext cx="1062752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80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PERFIL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329701" y="1051381"/>
            <a:ext cx="1062752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4735233" y="742771"/>
            <a:ext cx="898981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80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PONTOS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735233" y="1051381"/>
            <a:ext cx="89898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5976996" y="742771"/>
            <a:ext cx="1704034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80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976996" y="1051381"/>
            <a:ext cx="1704034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BE-19, BE-20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761881" y="2578893"/>
            <a:ext cx="8267819" cy="2508528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15" name="Text 13"/>
          <p:cNvSpPr/>
          <p:nvPr/>
        </p:nvSpPr>
        <p:spPr>
          <a:xfrm>
            <a:off x="1066562" y="2883575"/>
            <a:ext cx="842430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9AA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DOR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066562" y="3291126"/>
            <a:ext cx="7888211" cy="1118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154"/>
              </a:lnSpc>
              <a:buNone/>
            </a:pPr>
            <a:r>
              <a:rPr lang="en-US" sz="2025" dirty="0">
                <a:solidFill>
                  <a:srgbClr val="F5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Nem tudo que a tela precisa vem da peça habilitadora. Sem uma camada de composição, o frontend faria várias chamadas e montaria regra de negócio no navegador.</a:t>
            </a:r>
            <a:endParaRPr lang="en-US" sz="2025" dirty="0"/>
          </a:p>
        </p:txBody>
      </p:sp>
      <p:sp>
        <p:nvSpPr>
          <p:cNvPr id="17" name="Shape 15"/>
          <p:cNvSpPr/>
          <p:nvPr/>
        </p:nvSpPr>
        <p:spPr>
          <a:xfrm>
            <a:off x="9258299" y="2578893"/>
            <a:ext cx="8267819" cy="2508528"/>
          </a:xfrm>
          <a:prstGeom prst="rect">
            <a:avLst/>
          </a:prstGeom>
          <a:solidFill>
            <a:srgbClr val="BFD8EA"/>
          </a:solidFill>
          <a:ln/>
        </p:spPr>
      </p:sp>
      <p:sp>
        <p:nvSpPr>
          <p:cNvPr id="18" name="Text 16"/>
          <p:cNvSpPr/>
          <p:nvPr/>
        </p:nvSpPr>
        <p:spPr>
          <a:xfrm>
            <a:off x="9562980" y="2883575"/>
            <a:ext cx="842430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5C5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HISTÓRIA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9562980" y="3291126"/>
            <a:ext cx="7888211" cy="15297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518"/>
              </a:lnSpc>
              <a:buNone/>
            </a:pPr>
            <a:r>
              <a:rPr lang="en-US" sz="21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time de frontend, quero um BFF que componha os dados da jornada em respostas prontas para a tela para que o navegador não precise orquestrar chamadas nem aplicar regra de negócio.</a:t>
            </a:r>
            <a:endParaRPr lang="en-US" sz="2175" dirty="0"/>
          </a:p>
        </p:txBody>
      </p:sp>
      <p:sp>
        <p:nvSpPr>
          <p:cNvPr id="20" name="Shape 18"/>
          <p:cNvSpPr/>
          <p:nvPr/>
        </p:nvSpPr>
        <p:spPr>
          <a:xfrm>
            <a:off x="761881" y="5354062"/>
            <a:ext cx="6271855" cy="426624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761881" y="5354062"/>
            <a:ext cx="6271855" cy="57150"/>
          </a:xfrm>
          <a:prstGeom prst="rect">
            <a:avLst/>
          </a:prstGeom>
          <a:solidFill>
            <a:srgbClr val="5C8FB8"/>
          </a:solidFill>
          <a:ln/>
        </p:spPr>
      </p:sp>
      <p:sp>
        <p:nvSpPr>
          <p:cNvPr id="22" name="Text 20"/>
          <p:cNvSpPr/>
          <p:nvPr/>
        </p:nvSpPr>
        <p:spPr>
          <a:xfrm>
            <a:off x="1047631" y="5696962"/>
            <a:ext cx="627039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CRITÉRIOS DE ACEITE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047631" y="6218813"/>
            <a:ext cx="85725" cy="85725"/>
          </a:xfrm>
          <a:prstGeom prst="rect">
            <a:avLst/>
          </a:prstGeom>
          <a:solidFill>
            <a:srgbClr val="5C8FB8"/>
          </a:solidFill>
          <a:ln/>
        </p:spPr>
      </p:sp>
      <p:sp>
        <p:nvSpPr>
          <p:cNvPr id="24" name="Text 22"/>
          <p:cNvSpPr/>
          <p:nvPr/>
        </p:nvSpPr>
        <p:spPr>
          <a:xfrm>
            <a:off x="1266587" y="6123622"/>
            <a:ext cx="5645841" cy="666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Endpoints complementares implementados no BFF conforme contrato</a:t>
            </a:r>
            <a:endParaRPr lang="en-US" sz="1875" dirty="0"/>
          </a:p>
        </p:txBody>
      </p:sp>
      <p:sp>
        <p:nvSpPr>
          <p:cNvPr id="25" name="Shape 23"/>
          <p:cNvSpPr/>
          <p:nvPr/>
        </p:nvSpPr>
        <p:spPr>
          <a:xfrm>
            <a:off x="1047631" y="6961405"/>
            <a:ext cx="85725" cy="85725"/>
          </a:xfrm>
          <a:prstGeom prst="rect">
            <a:avLst/>
          </a:prstGeom>
          <a:solidFill>
            <a:srgbClr val="5C8FB8"/>
          </a:solidFill>
          <a:ln/>
        </p:spPr>
      </p:sp>
      <p:sp>
        <p:nvSpPr>
          <p:cNvPr id="26" name="Text 24"/>
          <p:cNvSpPr/>
          <p:nvPr/>
        </p:nvSpPr>
        <p:spPr>
          <a:xfrm>
            <a:off x="1266587" y="6866215"/>
            <a:ext cx="5645841" cy="666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Composição das respostas validada contra a necessidade das telas</a:t>
            </a:r>
            <a:endParaRPr lang="en-US" sz="1875" dirty="0"/>
          </a:p>
        </p:txBody>
      </p:sp>
      <p:sp>
        <p:nvSpPr>
          <p:cNvPr id="27" name="Shape 25"/>
          <p:cNvSpPr/>
          <p:nvPr/>
        </p:nvSpPr>
        <p:spPr>
          <a:xfrm>
            <a:off x="1047631" y="7703998"/>
            <a:ext cx="85725" cy="85725"/>
          </a:xfrm>
          <a:prstGeom prst="rect">
            <a:avLst/>
          </a:prstGeom>
          <a:solidFill>
            <a:srgbClr val="5C8FB8"/>
          </a:solidFill>
          <a:ln/>
        </p:spPr>
      </p:sp>
      <p:sp>
        <p:nvSpPr>
          <p:cNvPr id="28" name="Text 26"/>
          <p:cNvSpPr/>
          <p:nvPr/>
        </p:nvSpPr>
        <p:spPr>
          <a:xfrm>
            <a:off x="1266587" y="7608808"/>
            <a:ext cx="5645841" cy="666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Cobertura de testes unitários de no mínimo 90% no BFF e na peça</a:t>
            </a:r>
            <a:endParaRPr lang="en-US" sz="1875" dirty="0"/>
          </a:p>
        </p:txBody>
      </p:sp>
      <p:sp>
        <p:nvSpPr>
          <p:cNvPr id="29" name="Shape 27"/>
          <p:cNvSpPr/>
          <p:nvPr/>
        </p:nvSpPr>
        <p:spPr>
          <a:xfrm>
            <a:off x="1047631" y="8446591"/>
            <a:ext cx="85725" cy="85725"/>
          </a:xfrm>
          <a:prstGeom prst="rect">
            <a:avLst/>
          </a:prstGeom>
          <a:solidFill>
            <a:srgbClr val="5C8FB8"/>
          </a:solidFill>
          <a:ln/>
        </p:spPr>
      </p:sp>
      <p:sp>
        <p:nvSpPr>
          <p:cNvPr id="30" name="Text 28"/>
          <p:cNvSpPr/>
          <p:nvPr/>
        </p:nvSpPr>
        <p:spPr>
          <a:xfrm>
            <a:off x="1266587" y="8351401"/>
            <a:ext cx="6029539" cy="352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barra merge abaixo da cobertura mínima</a:t>
            </a:r>
            <a:endParaRPr lang="en-US" sz="1875" dirty="0"/>
          </a:p>
        </p:txBody>
      </p:sp>
      <p:sp>
        <p:nvSpPr>
          <p:cNvPr id="31" name="Shape 29"/>
          <p:cNvSpPr/>
          <p:nvPr/>
        </p:nvSpPr>
        <p:spPr>
          <a:xfrm>
            <a:off x="7262336" y="5354062"/>
            <a:ext cx="5017591" cy="426624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7262336" y="5354062"/>
            <a:ext cx="5017591" cy="57150"/>
          </a:xfrm>
          <a:prstGeom prst="rect">
            <a:avLst/>
          </a:prstGeom>
          <a:solidFill>
            <a:srgbClr val="9AA3AE"/>
          </a:solidFill>
          <a:ln/>
        </p:spPr>
      </p:sp>
      <p:sp>
        <p:nvSpPr>
          <p:cNvPr id="33" name="Text 31"/>
          <p:cNvSpPr/>
          <p:nvPr/>
        </p:nvSpPr>
        <p:spPr>
          <a:xfrm>
            <a:off x="7548086" y="5696962"/>
            <a:ext cx="48907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DEFINITION OF READY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7548086" y="6218813"/>
            <a:ext cx="85725" cy="85725"/>
          </a:xfrm>
          <a:prstGeom prst="rect">
            <a:avLst/>
          </a:prstGeom>
          <a:solidFill>
            <a:srgbClr val="9AA3AE"/>
          </a:solidFill>
          <a:ln/>
        </p:spPr>
      </p:sp>
      <p:sp>
        <p:nvSpPr>
          <p:cNvPr id="35" name="Text 33"/>
          <p:cNvSpPr/>
          <p:nvPr/>
        </p:nvSpPr>
        <p:spPr>
          <a:xfrm>
            <a:off x="7767042" y="6123622"/>
            <a:ext cx="4649849" cy="352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 publicado (HU-02)</a:t>
            </a:r>
            <a:endParaRPr lang="en-US" sz="1875" dirty="0"/>
          </a:p>
        </p:txBody>
      </p:sp>
      <p:sp>
        <p:nvSpPr>
          <p:cNvPr id="36" name="Shape 34"/>
          <p:cNvSpPr/>
          <p:nvPr/>
        </p:nvSpPr>
        <p:spPr>
          <a:xfrm>
            <a:off x="7548086" y="6647259"/>
            <a:ext cx="85725" cy="85725"/>
          </a:xfrm>
          <a:prstGeom prst="rect">
            <a:avLst/>
          </a:prstGeom>
          <a:solidFill>
            <a:srgbClr val="9AA3AE"/>
          </a:solidFill>
          <a:ln/>
        </p:spPr>
      </p:sp>
      <p:sp>
        <p:nvSpPr>
          <p:cNvPr id="37" name="Text 35"/>
          <p:cNvSpPr/>
          <p:nvPr/>
        </p:nvSpPr>
        <p:spPr>
          <a:xfrm>
            <a:off x="7767042" y="6552069"/>
            <a:ext cx="4649849" cy="352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 do BFF no ar (HU-05)</a:t>
            </a:r>
            <a:endParaRPr lang="en-US" sz="1875" dirty="0"/>
          </a:p>
        </p:txBody>
      </p:sp>
      <p:sp>
        <p:nvSpPr>
          <p:cNvPr id="38" name="Shape 36"/>
          <p:cNvSpPr/>
          <p:nvPr/>
        </p:nvSpPr>
        <p:spPr>
          <a:xfrm>
            <a:off x="7548086" y="7075705"/>
            <a:ext cx="85725" cy="85725"/>
          </a:xfrm>
          <a:prstGeom prst="rect">
            <a:avLst/>
          </a:prstGeom>
          <a:solidFill>
            <a:srgbClr val="9AA3AE"/>
          </a:solidFill>
          <a:ln/>
        </p:spPr>
      </p:sp>
      <p:sp>
        <p:nvSpPr>
          <p:cNvPr id="39" name="Text 37"/>
          <p:cNvSpPr/>
          <p:nvPr/>
        </p:nvSpPr>
        <p:spPr>
          <a:xfrm>
            <a:off x="7767042" y="6980515"/>
            <a:ext cx="4353949" cy="666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Biblioteca de HTTPS endpoints disponível (HU-08)</a:t>
            </a:r>
            <a:endParaRPr lang="en-US" sz="1875" dirty="0"/>
          </a:p>
        </p:txBody>
      </p:sp>
      <p:sp>
        <p:nvSpPr>
          <p:cNvPr id="40" name="Shape 38"/>
          <p:cNvSpPr/>
          <p:nvPr/>
        </p:nvSpPr>
        <p:spPr>
          <a:xfrm>
            <a:off x="12508527" y="5354062"/>
            <a:ext cx="5017591" cy="426624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Shape 39"/>
          <p:cNvSpPr/>
          <p:nvPr/>
        </p:nvSpPr>
        <p:spPr>
          <a:xfrm>
            <a:off x="12508527" y="5354062"/>
            <a:ext cx="5017591" cy="57150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42" name="Text 40"/>
          <p:cNvSpPr/>
          <p:nvPr/>
        </p:nvSpPr>
        <p:spPr>
          <a:xfrm>
            <a:off x="12794277" y="5696962"/>
            <a:ext cx="48907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DEFINITION OF DONE</a:t>
            </a:r>
            <a:endParaRPr lang="en-US" sz="1650" dirty="0"/>
          </a:p>
        </p:txBody>
      </p:sp>
      <p:sp>
        <p:nvSpPr>
          <p:cNvPr id="43" name="Shape 41"/>
          <p:cNvSpPr/>
          <p:nvPr/>
        </p:nvSpPr>
        <p:spPr>
          <a:xfrm>
            <a:off x="12794277" y="6218813"/>
            <a:ext cx="85725" cy="85725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44" name="Text 42"/>
          <p:cNvSpPr/>
          <p:nvPr/>
        </p:nvSpPr>
        <p:spPr>
          <a:xfrm>
            <a:off x="13013232" y="6123622"/>
            <a:ext cx="4353949" cy="666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Cobertura mínima aplicada como gate no pipeline</a:t>
            </a:r>
            <a:endParaRPr lang="en-US" sz="1875" dirty="0"/>
          </a:p>
        </p:txBody>
      </p:sp>
      <p:sp>
        <p:nvSpPr>
          <p:cNvPr id="45" name="Shape 43"/>
          <p:cNvSpPr/>
          <p:nvPr/>
        </p:nvSpPr>
        <p:spPr>
          <a:xfrm>
            <a:off x="12794277" y="6961405"/>
            <a:ext cx="85725" cy="85725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46" name="Text 44"/>
          <p:cNvSpPr/>
          <p:nvPr/>
        </p:nvSpPr>
        <p:spPr>
          <a:xfrm>
            <a:off x="13013232" y="6866215"/>
            <a:ext cx="4353949" cy="666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Endpoints do BFF respondendo em desenvolvimento</a:t>
            </a:r>
            <a:endParaRPr lang="en-US" sz="1875" dirty="0"/>
          </a:p>
        </p:txBody>
      </p:sp>
      <p:sp>
        <p:nvSpPr>
          <p:cNvPr id="47" name="Shape 45"/>
          <p:cNvSpPr/>
          <p:nvPr/>
        </p:nvSpPr>
        <p:spPr>
          <a:xfrm>
            <a:off x="12794277" y="7703998"/>
            <a:ext cx="85725" cy="85725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48" name="Text 46"/>
          <p:cNvSpPr/>
          <p:nvPr/>
        </p:nvSpPr>
        <p:spPr>
          <a:xfrm>
            <a:off x="13013232" y="7608808"/>
            <a:ext cx="4353949" cy="666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 do BFF versionado e publicado</a:t>
            </a:r>
            <a:endParaRPr lang="en-US" sz="187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881" y="666690"/>
            <a:ext cx="990481" cy="422910"/>
          </a:xfrm>
          <a:prstGeom prst="rect">
            <a:avLst/>
          </a:prstGeom>
          <a:solidFill>
            <a:srgbClr val="D9796B"/>
          </a:solidFill>
          <a:ln/>
        </p:spPr>
      </p:sp>
      <p:sp>
        <p:nvSpPr>
          <p:cNvPr id="3" name="Text 1"/>
          <p:cNvSpPr/>
          <p:nvPr/>
        </p:nvSpPr>
        <p:spPr>
          <a:xfrm>
            <a:off x="914281" y="723840"/>
            <a:ext cx="761881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2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HU-13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923812" y="740985"/>
            <a:ext cx="4194667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· EXPERIÊNCIA DA JORNADA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61881" y="1222831"/>
            <a:ext cx="12137462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279"/>
              </a:lnSpc>
              <a:buNone/>
            </a:pPr>
            <a:r>
              <a:rPr lang="en-US" sz="3900" b="1" spc="-78" kern="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Primeira etapa da jornada transacional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12367438" y="742771"/>
            <a:ext cx="624661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80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ONDA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67438" y="1051381"/>
            <a:ext cx="62466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3334880" y="742771"/>
            <a:ext cx="109472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80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PERFIL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334880" y="1051381"/>
            <a:ext cx="109472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4772381" y="742771"/>
            <a:ext cx="898981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80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PONTOS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772381" y="1051381"/>
            <a:ext cx="89898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6014143" y="742771"/>
            <a:ext cx="1663172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80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014143" y="1051381"/>
            <a:ext cx="1663172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FE-03, FE-06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761881" y="2034183"/>
            <a:ext cx="8267819" cy="2135624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15" name="Text 13"/>
          <p:cNvSpPr/>
          <p:nvPr/>
        </p:nvSpPr>
        <p:spPr>
          <a:xfrm>
            <a:off x="1066562" y="2338864"/>
            <a:ext cx="842430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9AA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DOR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066562" y="2746415"/>
            <a:ext cx="7888211" cy="1118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154"/>
              </a:lnSpc>
              <a:buNone/>
            </a:pPr>
            <a:r>
              <a:rPr lang="en-US" sz="2025" dirty="0">
                <a:solidFill>
                  <a:srgbClr val="F5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primeira tela é o ponto de entrada da jornada e hoje não existe. Sem ela não há como validar o fluxo com o negócio nem medir conversão.</a:t>
            </a:r>
            <a:endParaRPr lang="en-US" sz="2025" dirty="0"/>
          </a:p>
        </p:txBody>
      </p:sp>
      <p:sp>
        <p:nvSpPr>
          <p:cNvPr id="17" name="Shape 15"/>
          <p:cNvSpPr/>
          <p:nvPr/>
        </p:nvSpPr>
        <p:spPr>
          <a:xfrm>
            <a:off x="9258299" y="2034183"/>
            <a:ext cx="8267819" cy="2135624"/>
          </a:xfrm>
          <a:prstGeom prst="rect">
            <a:avLst/>
          </a:prstGeom>
          <a:solidFill>
            <a:srgbClr val="F0BFB6"/>
          </a:solidFill>
          <a:ln/>
        </p:spPr>
      </p:sp>
      <p:sp>
        <p:nvSpPr>
          <p:cNvPr id="18" name="Text 16"/>
          <p:cNvSpPr/>
          <p:nvPr/>
        </p:nvSpPr>
        <p:spPr>
          <a:xfrm>
            <a:off x="9562980" y="2338864"/>
            <a:ext cx="842430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5C5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HISTÓRIA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9562980" y="2746415"/>
            <a:ext cx="7888211" cy="1156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518"/>
              </a:lnSpc>
              <a:buNone/>
            </a:pPr>
            <a:r>
              <a:rPr lang="en-US" sz="21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cliente, quero iniciar a jornada transacional em uma tela clara e acessível para que eu consiga concluir a primeira etapa sem ajuda.</a:t>
            </a:r>
            <a:endParaRPr lang="en-US" sz="2175" dirty="0"/>
          </a:p>
        </p:txBody>
      </p:sp>
      <p:sp>
        <p:nvSpPr>
          <p:cNvPr id="20" name="Shape 18"/>
          <p:cNvSpPr/>
          <p:nvPr/>
        </p:nvSpPr>
        <p:spPr>
          <a:xfrm>
            <a:off x="761881" y="4436447"/>
            <a:ext cx="6271855" cy="518386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761881" y="4436447"/>
            <a:ext cx="6271855" cy="57150"/>
          </a:xfrm>
          <a:prstGeom prst="rect">
            <a:avLst/>
          </a:prstGeom>
          <a:solidFill>
            <a:srgbClr val="D9796B"/>
          </a:solidFill>
          <a:ln/>
        </p:spPr>
      </p:sp>
      <p:sp>
        <p:nvSpPr>
          <p:cNvPr id="22" name="Text 20"/>
          <p:cNvSpPr/>
          <p:nvPr/>
        </p:nvSpPr>
        <p:spPr>
          <a:xfrm>
            <a:off x="1047631" y="4779347"/>
            <a:ext cx="627039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CRITÉRIOS DE ACEITE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047631" y="5301198"/>
            <a:ext cx="85725" cy="85725"/>
          </a:xfrm>
          <a:prstGeom prst="rect">
            <a:avLst/>
          </a:prstGeom>
          <a:solidFill>
            <a:srgbClr val="D9796B"/>
          </a:solidFill>
          <a:ln/>
        </p:spPr>
      </p:sp>
      <p:sp>
        <p:nvSpPr>
          <p:cNvPr id="24" name="Text 22"/>
          <p:cNvSpPr/>
          <p:nvPr/>
        </p:nvSpPr>
        <p:spPr>
          <a:xfrm>
            <a:off x="1266587" y="5206007"/>
            <a:ext cx="5645841" cy="666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Componente construído com o design system institucional (IDS)</a:t>
            </a:r>
            <a:endParaRPr lang="en-US" sz="1875" dirty="0"/>
          </a:p>
        </p:txBody>
      </p:sp>
      <p:sp>
        <p:nvSpPr>
          <p:cNvPr id="25" name="Shape 23"/>
          <p:cNvSpPr/>
          <p:nvPr/>
        </p:nvSpPr>
        <p:spPr>
          <a:xfrm>
            <a:off x="1047631" y="6043791"/>
            <a:ext cx="85725" cy="85725"/>
          </a:xfrm>
          <a:prstGeom prst="rect">
            <a:avLst/>
          </a:prstGeom>
          <a:solidFill>
            <a:srgbClr val="D9796B"/>
          </a:solidFill>
          <a:ln/>
        </p:spPr>
      </p:sp>
      <p:sp>
        <p:nvSpPr>
          <p:cNvPr id="26" name="Text 24"/>
          <p:cNvSpPr/>
          <p:nvPr/>
        </p:nvSpPr>
        <p:spPr>
          <a:xfrm>
            <a:off x="1266587" y="5948600"/>
            <a:ext cx="5645841" cy="666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Conformidade WCAG validada: contraste, navegação por teclado e leitor de tela</a:t>
            </a:r>
            <a:endParaRPr lang="en-US" sz="1875" dirty="0"/>
          </a:p>
        </p:txBody>
      </p:sp>
      <p:sp>
        <p:nvSpPr>
          <p:cNvPr id="27" name="Shape 25"/>
          <p:cNvSpPr/>
          <p:nvPr/>
        </p:nvSpPr>
        <p:spPr>
          <a:xfrm>
            <a:off x="1047631" y="6786383"/>
            <a:ext cx="85725" cy="85725"/>
          </a:xfrm>
          <a:prstGeom prst="rect">
            <a:avLst/>
          </a:prstGeom>
          <a:solidFill>
            <a:srgbClr val="D9796B"/>
          </a:solidFill>
          <a:ln/>
        </p:spPr>
      </p:sp>
      <p:sp>
        <p:nvSpPr>
          <p:cNvPr id="28" name="Text 26"/>
          <p:cNvSpPr/>
          <p:nvPr/>
        </p:nvSpPr>
        <p:spPr>
          <a:xfrm>
            <a:off x="1266587" y="6691193"/>
            <a:ext cx="6029539" cy="352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Integração com os endpoints de fundos e do BFF</a:t>
            </a:r>
            <a:endParaRPr lang="en-US" sz="1875" dirty="0"/>
          </a:p>
        </p:txBody>
      </p:sp>
      <p:sp>
        <p:nvSpPr>
          <p:cNvPr id="29" name="Shape 27"/>
          <p:cNvSpPr/>
          <p:nvPr/>
        </p:nvSpPr>
        <p:spPr>
          <a:xfrm>
            <a:off x="1047631" y="7214830"/>
            <a:ext cx="85725" cy="85725"/>
          </a:xfrm>
          <a:prstGeom prst="rect">
            <a:avLst/>
          </a:prstGeom>
          <a:solidFill>
            <a:srgbClr val="D9796B"/>
          </a:solidFill>
          <a:ln/>
        </p:spPr>
      </p:sp>
      <p:sp>
        <p:nvSpPr>
          <p:cNvPr id="30" name="Text 28"/>
          <p:cNvSpPr/>
          <p:nvPr/>
        </p:nvSpPr>
        <p:spPr>
          <a:xfrm>
            <a:off x="1266587" y="7119639"/>
            <a:ext cx="5645841" cy="666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Estados de carregamento, vazio e erro implementados</a:t>
            </a:r>
            <a:endParaRPr lang="en-US" sz="1875" dirty="0"/>
          </a:p>
        </p:txBody>
      </p:sp>
      <p:sp>
        <p:nvSpPr>
          <p:cNvPr id="31" name="Shape 29"/>
          <p:cNvSpPr/>
          <p:nvPr/>
        </p:nvSpPr>
        <p:spPr>
          <a:xfrm>
            <a:off x="1047631" y="7957422"/>
            <a:ext cx="85725" cy="85725"/>
          </a:xfrm>
          <a:prstGeom prst="rect">
            <a:avLst/>
          </a:prstGeom>
          <a:solidFill>
            <a:srgbClr val="D9796B"/>
          </a:solidFill>
          <a:ln/>
        </p:spPr>
      </p:sp>
      <p:sp>
        <p:nvSpPr>
          <p:cNvPr id="32" name="Text 30"/>
          <p:cNvSpPr/>
          <p:nvPr/>
        </p:nvSpPr>
        <p:spPr>
          <a:xfrm>
            <a:off x="1266587" y="7862232"/>
            <a:ext cx="6029539" cy="352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Responsivo nos breakpoints definidos</a:t>
            </a:r>
            <a:endParaRPr lang="en-US" sz="1875" dirty="0"/>
          </a:p>
        </p:txBody>
      </p:sp>
      <p:sp>
        <p:nvSpPr>
          <p:cNvPr id="33" name="Shape 31"/>
          <p:cNvSpPr/>
          <p:nvPr/>
        </p:nvSpPr>
        <p:spPr>
          <a:xfrm>
            <a:off x="7262336" y="4436447"/>
            <a:ext cx="5017591" cy="518386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Shape 32"/>
          <p:cNvSpPr/>
          <p:nvPr/>
        </p:nvSpPr>
        <p:spPr>
          <a:xfrm>
            <a:off x="7262336" y="4436447"/>
            <a:ext cx="5017591" cy="57150"/>
          </a:xfrm>
          <a:prstGeom prst="rect">
            <a:avLst/>
          </a:prstGeom>
          <a:solidFill>
            <a:srgbClr val="9AA3AE"/>
          </a:solidFill>
          <a:ln/>
        </p:spPr>
      </p:sp>
      <p:sp>
        <p:nvSpPr>
          <p:cNvPr id="35" name="Text 33"/>
          <p:cNvSpPr/>
          <p:nvPr/>
        </p:nvSpPr>
        <p:spPr>
          <a:xfrm>
            <a:off x="7548086" y="4779347"/>
            <a:ext cx="48907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DEFINITION OF READY</a:t>
            </a:r>
            <a:endParaRPr lang="en-US" sz="1650" dirty="0"/>
          </a:p>
        </p:txBody>
      </p:sp>
      <p:sp>
        <p:nvSpPr>
          <p:cNvPr id="36" name="Shape 34"/>
          <p:cNvSpPr/>
          <p:nvPr/>
        </p:nvSpPr>
        <p:spPr>
          <a:xfrm>
            <a:off x="7548086" y="5301198"/>
            <a:ext cx="85725" cy="85725"/>
          </a:xfrm>
          <a:prstGeom prst="rect">
            <a:avLst/>
          </a:prstGeom>
          <a:solidFill>
            <a:srgbClr val="9AA3AE"/>
          </a:solidFill>
          <a:ln/>
        </p:spPr>
      </p:sp>
      <p:sp>
        <p:nvSpPr>
          <p:cNvPr id="37" name="Text 35"/>
          <p:cNvSpPr/>
          <p:nvPr/>
        </p:nvSpPr>
        <p:spPr>
          <a:xfrm>
            <a:off x="7767042" y="5206007"/>
            <a:ext cx="4649849" cy="352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 aprovado pelo time de design</a:t>
            </a:r>
            <a:endParaRPr lang="en-US" sz="1875" dirty="0"/>
          </a:p>
        </p:txBody>
      </p:sp>
      <p:sp>
        <p:nvSpPr>
          <p:cNvPr id="38" name="Shape 36"/>
          <p:cNvSpPr/>
          <p:nvPr/>
        </p:nvSpPr>
        <p:spPr>
          <a:xfrm>
            <a:off x="7548086" y="5729644"/>
            <a:ext cx="85725" cy="85725"/>
          </a:xfrm>
          <a:prstGeom prst="rect">
            <a:avLst/>
          </a:prstGeom>
          <a:solidFill>
            <a:srgbClr val="9AA3AE"/>
          </a:solidFill>
          <a:ln/>
        </p:spPr>
      </p:sp>
      <p:sp>
        <p:nvSpPr>
          <p:cNvPr id="39" name="Text 37"/>
          <p:cNvSpPr/>
          <p:nvPr/>
        </p:nvSpPr>
        <p:spPr>
          <a:xfrm>
            <a:off x="7767042" y="5634454"/>
            <a:ext cx="4353949" cy="666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Endpoints virtualizados disponíveis (HU-16)</a:t>
            </a:r>
            <a:endParaRPr lang="en-US" sz="1875" dirty="0"/>
          </a:p>
        </p:txBody>
      </p:sp>
      <p:sp>
        <p:nvSpPr>
          <p:cNvPr id="40" name="Shape 38"/>
          <p:cNvSpPr/>
          <p:nvPr/>
        </p:nvSpPr>
        <p:spPr>
          <a:xfrm>
            <a:off x="7548086" y="6472237"/>
            <a:ext cx="85725" cy="85725"/>
          </a:xfrm>
          <a:prstGeom prst="rect">
            <a:avLst/>
          </a:prstGeom>
          <a:solidFill>
            <a:srgbClr val="9AA3AE"/>
          </a:solidFill>
          <a:ln/>
        </p:spPr>
      </p:sp>
      <p:sp>
        <p:nvSpPr>
          <p:cNvPr id="41" name="Text 39"/>
          <p:cNvSpPr/>
          <p:nvPr/>
        </p:nvSpPr>
        <p:spPr>
          <a:xfrm>
            <a:off x="7767042" y="6377047"/>
            <a:ext cx="4649849" cy="352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Microfrontend publicado (HU-07)</a:t>
            </a:r>
            <a:endParaRPr lang="en-US" sz="1875" dirty="0"/>
          </a:p>
        </p:txBody>
      </p:sp>
      <p:sp>
        <p:nvSpPr>
          <p:cNvPr id="42" name="Shape 40"/>
          <p:cNvSpPr/>
          <p:nvPr/>
        </p:nvSpPr>
        <p:spPr>
          <a:xfrm>
            <a:off x="12508527" y="4436447"/>
            <a:ext cx="5017591" cy="518386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Shape 41"/>
          <p:cNvSpPr/>
          <p:nvPr/>
        </p:nvSpPr>
        <p:spPr>
          <a:xfrm>
            <a:off x="12508527" y="4436447"/>
            <a:ext cx="5017591" cy="57150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44" name="Text 42"/>
          <p:cNvSpPr/>
          <p:nvPr/>
        </p:nvSpPr>
        <p:spPr>
          <a:xfrm>
            <a:off x="12794277" y="4779347"/>
            <a:ext cx="48907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DEFINITION OF DONE</a:t>
            </a:r>
            <a:endParaRPr lang="en-US" sz="1650" dirty="0"/>
          </a:p>
        </p:txBody>
      </p:sp>
      <p:sp>
        <p:nvSpPr>
          <p:cNvPr id="45" name="Shape 43"/>
          <p:cNvSpPr/>
          <p:nvPr/>
        </p:nvSpPr>
        <p:spPr>
          <a:xfrm>
            <a:off x="12794277" y="5301198"/>
            <a:ext cx="85725" cy="85725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46" name="Text 44"/>
          <p:cNvSpPr/>
          <p:nvPr/>
        </p:nvSpPr>
        <p:spPr>
          <a:xfrm>
            <a:off x="13013232" y="5206007"/>
            <a:ext cx="4353949" cy="666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Componente aprovado em revisão de IDS e de acessibilidade</a:t>
            </a:r>
            <a:endParaRPr lang="en-US" sz="1875" dirty="0"/>
          </a:p>
        </p:txBody>
      </p:sp>
      <p:sp>
        <p:nvSpPr>
          <p:cNvPr id="47" name="Shape 45"/>
          <p:cNvSpPr/>
          <p:nvPr/>
        </p:nvSpPr>
        <p:spPr>
          <a:xfrm>
            <a:off x="12794277" y="6043791"/>
            <a:ext cx="85725" cy="85725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48" name="Text 46"/>
          <p:cNvSpPr/>
          <p:nvPr/>
        </p:nvSpPr>
        <p:spPr>
          <a:xfrm>
            <a:off x="13013232" y="5948600"/>
            <a:ext cx="4353949" cy="666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Integração com endpoints reais validada</a:t>
            </a:r>
            <a:endParaRPr lang="en-US" sz="1875" dirty="0"/>
          </a:p>
        </p:txBody>
      </p:sp>
      <p:sp>
        <p:nvSpPr>
          <p:cNvPr id="49" name="Shape 47"/>
          <p:cNvSpPr/>
          <p:nvPr/>
        </p:nvSpPr>
        <p:spPr>
          <a:xfrm>
            <a:off x="12794277" y="6786383"/>
            <a:ext cx="85725" cy="85725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50" name="Text 48"/>
          <p:cNvSpPr/>
          <p:nvPr/>
        </p:nvSpPr>
        <p:spPr>
          <a:xfrm>
            <a:off x="13013232" y="6691193"/>
            <a:ext cx="4649849" cy="352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Testes de componente no pipeline</a:t>
            </a:r>
            <a:endParaRPr lang="en-US" sz="187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881" y="666690"/>
            <a:ext cx="990481" cy="422910"/>
          </a:xfrm>
          <a:prstGeom prst="rect">
            <a:avLst/>
          </a:prstGeom>
          <a:solidFill>
            <a:srgbClr val="D9796B"/>
          </a:solidFill>
          <a:ln/>
        </p:spPr>
      </p:sp>
      <p:sp>
        <p:nvSpPr>
          <p:cNvPr id="3" name="Text 1"/>
          <p:cNvSpPr/>
          <p:nvPr/>
        </p:nvSpPr>
        <p:spPr>
          <a:xfrm>
            <a:off x="914281" y="723840"/>
            <a:ext cx="761881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2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HU-14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923812" y="740985"/>
            <a:ext cx="4194667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· EXPERIÊNCIA DA JORNADA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61881" y="1222831"/>
            <a:ext cx="12142766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279"/>
              </a:lnSpc>
              <a:buNone/>
            </a:pPr>
            <a:r>
              <a:rPr lang="en-US" sz="3900" b="1" spc="-78" kern="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Modal de aceite de termos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12372260" y="742771"/>
            <a:ext cx="624661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80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ONDA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72260" y="1051381"/>
            <a:ext cx="62466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3339702" y="742771"/>
            <a:ext cx="109472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80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PERFIL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339702" y="1051381"/>
            <a:ext cx="109472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4777203" y="742771"/>
            <a:ext cx="898981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80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PONTOS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777203" y="1051381"/>
            <a:ext cx="89898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6018965" y="742771"/>
            <a:ext cx="1657868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80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018965" y="1051381"/>
            <a:ext cx="1657868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FE-04, FE-07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761881" y="2034183"/>
            <a:ext cx="8267819" cy="2135624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15" name="Text 13"/>
          <p:cNvSpPr/>
          <p:nvPr/>
        </p:nvSpPr>
        <p:spPr>
          <a:xfrm>
            <a:off x="1066562" y="2338864"/>
            <a:ext cx="842430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9AA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DOR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066562" y="2746415"/>
            <a:ext cx="7888211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154"/>
              </a:lnSpc>
              <a:buNone/>
            </a:pPr>
            <a:r>
              <a:rPr lang="en-US" sz="2025" dirty="0">
                <a:solidFill>
                  <a:srgbClr val="F5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interface de aceite, o cliente não consegue avançar na jornada e o registro exigido pelo negócio não acontece.</a:t>
            </a:r>
            <a:endParaRPr lang="en-US" sz="2025" dirty="0"/>
          </a:p>
        </p:txBody>
      </p:sp>
      <p:sp>
        <p:nvSpPr>
          <p:cNvPr id="17" name="Shape 15"/>
          <p:cNvSpPr/>
          <p:nvPr/>
        </p:nvSpPr>
        <p:spPr>
          <a:xfrm>
            <a:off x="9258299" y="2034183"/>
            <a:ext cx="8267819" cy="2135624"/>
          </a:xfrm>
          <a:prstGeom prst="rect">
            <a:avLst/>
          </a:prstGeom>
          <a:solidFill>
            <a:srgbClr val="F0BFB6"/>
          </a:solidFill>
          <a:ln/>
        </p:spPr>
      </p:sp>
      <p:sp>
        <p:nvSpPr>
          <p:cNvPr id="18" name="Text 16"/>
          <p:cNvSpPr/>
          <p:nvPr/>
        </p:nvSpPr>
        <p:spPr>
          <a:xfrm>
            <a:off x="9562980" y="2338864"/>
            <a:ext cx="842430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5C5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HISTÓRIA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9562980" y="2746415"/>
            <a:ext cx="7888211" cy="1156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518"/>
              </a:lnSpc>
              <a:buNone/>
            </a:pPr>
            <a:r>
              <a:rPr lang="en-US" sz="21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cliente, quero ler e aceitar os termos em um modal acessível para que eu possa prosseguir com segurança sobre o que estou aceitando.</a:t>
            </a:r>
            <a:endParaRPr lang="en-US" sz="2175" dirty="0"/>
          </a:p>
        </p:txBody>
      </p:sp>
      <p:sp>
        <p:nvSpPr>
          <p:cNvPr id="20" name="Shape 18"/>
          <p:cNvSpPr/>
          <p:nvPr/>
        </p:nvSpPr>
        <p:spPr>
          <a:xfrm>
            <a:off x="761881" y="4436447"/>
            <a:ext cx="6271855" cy="518386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761881" y="4436447"/>
            <a:ext cx="6271855" cy="57150"/>
          </a:xfrm>
          <a:prstGeom prst="rect">
            <a:avLst/>
          </a:prstGeom>
          <a:solidFill>
            <a:srgbClr val="D9796B"/>
          </a:solidFill>
          <a:ln/>
        </p:spPr>
      </p:sp>
      <p:sp>
        <p:nvSpPr>
          <p:cNvPr id="22" name="Text 20"/>
          <p:cNvSpPr/>
          <p:nvPr/>
        </p:nvSpPr>
        <p:spPr>
          <a:xfrm>
            <a:off x="1047631" y="4779347"/>
            <a:ext cx="627039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CRITÉRIOS DE ACEITE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047631" y="5301198"/>
            <a:ext cx="85725" cy="85725"/>
          </a:xfrm>
          <a:prstGeom prst="rect">
            <a:avLst/>
          </a:prstGeom>
          <a:solidFill>
            <a:srgbClr val="D9796B"/>
          </a:solidFill>
          <a:ln/>
        </p:spPr>
      </p:sp>
      <p:sp>
        <p:nvSpPr>
          <p:cNvPr id="24" name="Text 22"/>
          <p:cNvSpPr/>
          <p:nvPr/>
        </p:nvSpPr>
        <p:spPr>
          <a:xfrm>
            <a:off x="1266587" y="5206007"/>
            <a:ext cx="5645841" cy="666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Modal construído com o design system institucional (IDS)</a:t>
            </a:r>
            <a:endParaRPr lang="en-US" sz="1875" dirty="0"/>
          </a:p>
        </p:txBody>
      </p:sp>
      <p:sp>
        <p:nvSpPr>
          <p:cNvPr id="25" name="Shape 23"/>
          <p:cNvSpPr/>
          <p:nvPr/>
        </p:nvSpPr>
        <p:spPr>
          <a:xfrm>
            <a:off x="1047631" y="6043791"/>
            <a:ext cx="85725" cy="85725"/>
          </a:xfrm>
          <a:prstGeom prst="rect">
            <a:avLst/>
          </a:prstGeom>
          <a:solidFill>
            <a:srgbClr val="D9796B"/>
          </a:solidFill>
          <a:ln/>
        </p:spPr>
      </p:sp>
      <p:sp>
        <p:nvSpPr>
          <p:cNvPr id="26" name="Text 24"/>
          <p:cNvSpPr/>
          <p:nvPr/>
        </p:nvSpPr>
        <p:spPr>
          <a:xfrm>
            <a:off x="1266587" y="5948600"/>
            <a:ext cx="5645841" cy="666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Conformidade WCAG validada, incluindo foco preso ao modal e fechamento por teclado</a:t>
            </a:r>
            <a:endParaRPr lang="en-US" sz="1875" dirty="0"/>
          </a:p>
        </p:txBody>
      </p:sp>
      <p:sp>
        <p:nvSpPr>
          <p:cNvPr id="27" name="Shape 25"/>
          <p:cNvSpPr/>
          <p:nvPr/>
        </p:nvSpPr>
        <p:spPr>
          <a:xfrm>
            <a:off x="1047631" y="6786383"/>
            <a:ext cx="85725" cy="85725"/>
          </a:xfrm>
          <a:prstGeom prst="rect">
            <a:avLst/>
          </a:prstGeom>
          <a:solidFill>
            <a:srgbClr val="D9796B"/>
          </a:solidFill>
          <a:ln/>
        </p:spPr>
      </p:sp>
      <p:sp>
        <p:nvSpPr>
          <p:cNvPr id="28" name="Text 26"/>
          <p:cNvSpPr/>
          <p:nvPr/>
        </p:nvSpPr>
        <p:spPr>
          <a:xfrm>
            <a:off x="1266587" y="6691193"/>
            <a:ext cx="5645841" cy="666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Integração com os endpoints de consulta e de aceite de termos</a:t>
            </a:r>
            <a:endParaRPr lang="en-US" sz="1875" dirty="0"/>
          </a:p>
        </p:txBody>
      </p:sp>
      <p:sp>
        <p:nvSpPr>
          <p:cNvPr id="29" name="Shape 27"/>
          <p:cNvSpPr/>
          <p:nvPr/>
        </p:nvSpPr>
        <p:spPr>
          <a:xfrm>
            <a:off x="1047631" y="7528976"/>
            <a:ext cx="85725" cy="85725"/>
          </a:xfrm>
          <a:prstGeom prst="rect">
            <a:avLst/>
          </a:prstGeom>
          <a:solidFill>
            <a:srgbClr val="D9796B"/>
          </a:solidFill>
          <a:ln/>
        </p:spPr>
      </p:sp>
      <p:sp>
        <p:nvSpPr>
          <p:cNvPr id="30" name="Text 28"/>
          <p:cNvSpPr/>
          <p:nvPr/>
        </p:nvSpPr>
        <p:spPr>
          <a:xfrm>
            <a:off x="1266587" y="7433786"/>
            <a:ext cx="5645841" cy="666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Aceite bloqueado até a rolagem completa do texto, se o negócio exigir</a:t>
            </a:r>
            <a:endParaRPr lang="en-US" sz="1875" dirty="0"/>
          </a:p>
        </p:txBody>
      </p:sp>
      <p:sp>
        <p:nvSpPr>
          <p:cNvPr id="31" name="Shape 29"/>
          <p:cNvSpPr/>
          <p:nvPr/>
        </p:nvSpPr>
        <p:spPr>
          <a:xfrm>
            <a:off x="1047631" y="8271569"/>
            <a:ext cx="85725" cy="85725"/>
          </a:xfrm>
          <a:prstGeom prst="rect">
            <a:avLst/>
          </a:prstGeom>
          <a:solidFill>
            <a:srgbClr val="D9796B"/>
          </a:solidFill>
          <a:ln/>
        </p:spPr>
      </p:sp>
      <p:sp>
        <p:nvSpPr>
          <p:cNvPr id="32" name="Text 30"/>
          <p:cNvSpPr/>
          <p:nvPr/>
        </p:nvSpPr>
        <p:spPr>
          <a:xfrm>
            <a:off x="1266587" y="8176379"/>
            <a:ext cx="6029539" cy="352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Estados de erro e nova tentativa implementados</a:t>
            </a:r>
            <a:endParaRPr lang="en-US" sz="1875" dirty="0"/>
          </a:p>
        </p:txBody>
      </p:sp>
      <p:sp>
        <p:nvSpPr>
          <p:cNvPr id="33" name="Shape 31"/>
          <p:cNvSpPr/>
          <p:nvPr/>
        </p:nvSpPr>
        <p:spPr>
          <a:xfrm>
            <a:off x="7262336" y="4436447"/>
            <a:ext cx="5017591" cy="518386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Shape 32"/>
          <p:cNvSpPr/>
          <p:nvPr/>
        </p:nvSpPr>
        <p:spPr>
          <a:xfrm>
            <a:off x="7262336" y="4436447"/>
            <a:ext cx="5017591" cy="57150"/>
          </a:xfrm>
          <a:prstGeom prst="rect">
            <a:avLst/>
          </a:prstGeom>
          <a:solidFill>
            <a:srgbClr val="9AA3AE"/>
          </a:solidFill>
          <a:ln/>
        </p:spPr>
      </p:sp>
      <p:sp>
        <p:nvSpPr>
          <p:cNvPr id="35" name="Text 33"/>
          <p:cNvSpPr/>
          <p:nvPr/>
        </p:nvSpPr>
        <p:spPr>
          <a:xfrm>
            <a:off x="7548086" y="4779347"/>
            <a:ext cx="48907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DEFINITION OF READY</a:t>
            </a:r>
            <a:endParaRPr lang="en-US" sz="1650" dirty="0"/>
          </a:p>
        </p:txBody>
      </p:sp>
      <p:sp>
        <p:nvSpPr>
          <p:cNvPr id="36" name="Shape 34"/>
          <p:cNvSpPr/>
          <p:nvPr/>
        </p:nvSpPr>
        <p:spPr>
          <a:xfrm>
            <a:off x="7548086" y="5301198"/>
            <a:ext cx="85725" cy="85725"/>
          </a:xfrm>
          <a:prstGeom prst="rect">
            <a:avLst/>
          </a:prstGeom>
          <a:solidFill>
            <a:srgbClr val="9AA3AE"/>
          </a:solidFill>
          <a:ln/>
        </p:spPr>
      </p:sp>
      <p:sp>
        <p:nvSpPr>
          <p:cNvPr id="37" name="Text 35"/>
          <p:cNvSpPr/>
          <p:nvPr/>
        </p:nvSpPr>
        <p:spPr>
          <a:xfrm>
            <a:off x="7767042" y="5206007"/>
            <a:ext cx="4353949" cy="666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 do modal aprovado pelo time de design</a:t>
            </a:r>
            <a:endParaRPr lang="en-US" sz="1875" dirty="0"/>
          </a:p>
        </p:txBody>
      </p:sp>
      <p:sp>
        <p:nvSpPr>
          <p:cNvPr id="38" name="Shape 36"/>
          <p:cNvSpPr/>
          <p:nvPr/>
        </p:nvSpPr>
        <p:spPr>
          <a:xfrm>
            <a:off x="7548086" y="6043791"/>
            <a:ext cx="85725" cy="85725"/>
          </a:xfrm>
          <a:prstGeom prst="rect">
            <a:avLst/>
          </a:prstGeom>
          <a:solidFill>
            <a:srgbClr val="9AA3AE"/>
          </a:solidFill>
          <a:ln/>
        </p:spPr>
      </p:sp>
      <p:sp>
        <p:nvSpPr>
          <p:cNvPr id="39" name="Text 37"/>
          <p:cNvSpPr/>
          <p:nvPr/>
        </p:nvSpPr>
        <p:spPr>
          <a:xfrm>
            <a:off x="7767042" y="5948600"/>
            <a:ext cx="4353949" cy="666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 de obrigatoriedade de leitura confirmada com o negócio</a:t>
            </a:r>
            <a:endParaRPr lang="en-US" sz="1875" dirty="0"/>
          </a:p>
        </p:txBody>
      </p:sp>
      <p:sp>
        <p:nvSpPr>
          <p:cNvPr id="40" name="Shape 38"/>
          <p:cNvSpPr/>
          <p:nvPr/>
        </p:nvSpPr>
        <p:spPr>
          <a:xfrm>
            <a:off x="7548086" y="6786383"/>
            <a:ext cx="85725" cy="85725"/>
          </a:xfrm>
          <a:prstGeom prst="rect">
            <a:avLst/>
          </a:prstGeom>
          <a:solidFill>
            <a:srgbClr val="9AA3AE"/>
          </a:solidFill>
          <a:ln/>
        </p:spPr>
      </p:sp>
      <p:sp>
        <p:nvSpPr>
          <p:cNvPr id="41" name="Text 39"/>
          <p:cNvSpPr/>
          <p:nvPr/>
        </p:nvSpPr>
        <p:spPr>
          <a:xfrm>
            <a:off x="7767042" y="6691193"/>
            <a:ext cx="4353949" cy="666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Endpoints de termos virtualizados (HU-16)</a:t>
            </a:r>
            <a:endParaRPr lang="en-US" sz="1875" dirty="0"/>
          </a:p>
        </p:txBody>
      </p:sp>
      <p:sp>
        <p:nvSpPr>
          <p:cNvPr id="42" name="Shape 40"/>
          <p:cNvSpPr/>
          <p:nvPr/>
        </p:nvSpPr>
        <p:spPr>
          <a:xfrm>
            <a:off x="12508527" y="4436447"/>
            <a:ext cx="5017591" cy="518386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Shape 41"/>
          <p:cNvSpPr/>
          <p:nvPr/>
        </p:nvSpPr>
        <p:spPr>
          <a:xfrm>
            <a:off x="12508527" y="4436447"/>
            <a:ext cx="5017591" cy="57150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44" name="Text 42"/>
          <p:cNvSpPr/>
          <p:nvPr/>
        </p:nvSpPr>
        <p:spPr>
          <a:xfrm>
            <a:off x="12794277" y="4779347"/>
            <a:ext cx="48907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DEFINITION OF DONE</a:t>
            </a:r>
            <a:endParaRPr lang="en-US" sz="1650" dirty="0"/>
          </a:p>
        </p:txBody>
      </p:sp>
      <p:sp>
        <p:nvSpPr>
          <p:cNvPr id="45" name="Shape 43"/>
          <p:cNvSpPr/>
          <p:nvPr/>
        </p:nvSpPr>
        <p:spPr>
          <a:xfrm>
            <a:off x="12794277" y="5301198"/>
            <a:ext cx="85725" cy="85725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46" name="Text 44"/>
          <p:cNvSpPr/>
          <p:nvPr/>
        </p:nvSpPr>
        <p:spPr>
          <a:xfrm>
            <a:off x="13013232" y="5206007"/>
            <a:ext cx="4353949" cy="666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Modal aprovado em revisão de IDS e de acessibilidade</a:t>
            </a:r>
            <a:endParaRPr lang="en-US" sz="1875" dirty="0"/>
          </a:p>
        </p:txBody>
      </p:sp>
      <p:sp>
        <p:nvSpPr>
          <p:cNvPr id="47" name="Shape 45"/>
          <p:cNvSpPr/>
          <p:nvPr/>
        </p:nvSpPr>
        <p:spPr>
          <a:xfrm>
            <a:off x="12794277" y="6043791"/>
            <a:ext cx="85725" cy="85725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48" name="Text 46"/>
          <p:cNvSpPr/>
          <p:nvPr/>
        </p:nvSpPr>
        <p:spPr>
          <a:xfrm>
            <a:off x="13013232" y="5948600"/>
            <a:ext cx="4353949" cy="666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Aceite gravado e verificado ponta a ponta</a:t>
            </a:r>
            <a:endParaRPr lang="en-US" sz="1875" dirty="0"/>
          </a:p>
        </p:txBody>
      </p:sp>
      <p:sp>
        <p:nvSpPr>
          <p:cNvPr id="49" name="Shape 47"/>
          <p:cNvSpPr/>
          <p:nvPr/>
        </p:nvSpPr>
        <p:spPr>
          <a:xfrm>
            <a:off x="12794277" y="6786383"/>
            <a:ext cx="85725" cy="85725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50" name="Text 48"/>
          <p:cNvSpPr/>
          <p:nvPr/>
        </p:nvSpPr>
        <p:spPr>
          <a:xfrm>
            <a:off x="13013232" y="6691193"/>
            <a:ext cx="4649849" cy="352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Testes de componente no pipeline</a:t>
            </a:r>
            <a:endParaRPr lang="en-US" sz="187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881" y="666690"/>
            <a:ext cx="990481" cy="422910"/>
          </a:xfrm>
          <a:prstGeom prst="rect">
            <a:avLst/>
          </a:prstGeom>
          <a:solidFill>
            <a:srgbClr val="D9796B"/>
          </a:solidFill>
          <a:ln/>
        </p:spPr>
      </p:sp>
      <p:sp>
        <p:nvSpPr>
          <p:cNvPr id="3" name="Text 1"/>
          <p:cNvSpPr/>
          <p:nvPr/>
        </p:nvSpPr>
        <p:spPr>
          <a:xfrm>
            <a:off x="914281" y="723840"/>
            <a:ext cx="761881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2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HU-15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923812" y="740985"/>
            <a:ext cx="4194667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· EXPERIÊNCIA DA JORNADA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61881" y="1222831"/>
            <a:ext cx="13036628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279"/>
              </a:lnSpc>
              <a:buNone/>
            </a:pPr>
            <a:r>
              <a:rPr lang="en-US" sz="3900" b="1" spc="-78" kern="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Tagueamento da jornada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13184861" y="742771"/>
            <a:ext cx="624661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80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ONDA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184861" y="1051381"/>
            <a:ext cx="62466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4152304" y="742771"/>
            <a:ext cx="109472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80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PERFIL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152304" y="1051381"/>
            <a:ext cx="109472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5589804" y="742771"/>
            <a:ext cx="898981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80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PONTOS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5589804" y="1051381"/>
            <a:ext cx="89898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6831567" y="742771"/>
            <a:ext cx="770751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80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831567" y="1051381"/>
            <a:ext cx="77075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FE-05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761881" y="2034183"/>
            <a:ext cx="8267819" cy="2135624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15" name="Text 13"/>
          <p:cNvSpPr/>
          <p:nvPr/>
        </p:nvSpPr>
        <p:spPr>
          <a:xfrm>
            <a:off x="1066562" y="2338864"/>
            <a:ext cx="842430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9AA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DOR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066562" y="2746415"/>
            <a:ext cx="7888211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154"/>
              </a:lnSpc>
              <a:buNone/>
            </a:pPr>
            <a:r>
              <a:rPr lang="en-US" sz="2025" dirty="0">
                <a:solidFill>
                  <a:srgbClr val="F5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tagueamento a jornada entra em produção cega: não há como medir onde o cliente abandona nem justificar melhorias com dado.</a:t>
            </a:r>
            <a:endParaRPr lang="en-US" sz="2025" dirty="0"/>
          </a:p>
        </p:txBody>
      </p:sp>
      <p:sp>
        <p:nvSpPr>
          <p:cNvPr id="17" name="Shape 15"/>
          <p:cNvSpPr/>
          <p:nvPr/>
        </p:nvSpPr>
        <p:spPr>
          <a:xfrm>
            <a:off x="9258299" y="2034183"/>
            <a:ext cx="8267819" cy="2135624"/>
          </a:xfrm>
          <a:prstGeom prst="rect">
            <a:avLst/>
          </a:prstGeom>
          <a:solidFill>
            <a:srgbClr val="F0BFB6"/>
          </a:solidFill>
          <a:ln/>
        </p:spPr>
      </p:sp>
      <p:sp>
        <p:nvSpPr>
          <p:cNvPr id="18" name="Text 16"/>
          <p:cNvSpPr/>
          <p:nvPr/>
        </p:nvSpPr>
        <p:spPr>
          <a:xfrm>
            <a:off x="9562980" y="2338864"/>
            <a:ext cx="842430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5C5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HISTÓRIA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9562980" y="2746415"/>
            <a:ext cx="7888211" cy="1156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518"/>
              </a:lnSpc>
              <a:buNone/>
            </a:pPr>
            <a:r>
              <a:rPr lang="en-US" sz="21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time de negócios, quero a jornada instrumentada com eventos de analytics para que eu consiga medir conversão e identificar pontos de abandono.</a:t>
            </a:r>
            <a:endParaRPr lang="en-US" sz="2175" dirty="0"/>
          </a:p>
        </p:txBody>
      </p:sp>
      <p:sp>
        <p:nvSpPr>
          <p:cNvPr id="20" name="Shape 18"/>
          <p:cNvSpPr/>
          <p:nvPr/>
        </p:nvSpPr>
        <p:spPr>
          <a:xfrm>
            <a:off x="761881" y="4436447"/>
            <a:ext cx="6271855" cy="518386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761881" y="4436447"/>
            <a:ext cx="6271855" cy="57150"/>
          </a:xfrm>
          <a:prstGeom prst="rect">
            <a:avLst/>
          </a:prstGeom>
          <a:solidFill>
            <a:srgbClr val="D9796B"/>
          </a:solidFill>
          <a:ln/>
        </p:spPr>
      </p:sp>
      <p:sp>
        <p:nvSpPr>
          <p:cNvPr id="22" name="Text 20"/>
          <p:cNvSpPr/>
          <p:nvPr/>
        </p:nvSpPr>
        <p:spPr>
          <a:xfrm>
            <a:off x="1047631" y="4779347"/>
            <a:ext cx="627039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CRITÉRIOS DE ACEITE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047631" y="5301198"/>
            <a:ext cx="85725" cy="85725"/>
          </a:xfrm>
          <a:prstGeom prst="rect">
            <a:avLst/>
          </a:prstGeom>
          <a:solidFill>
            <a:srgbClr val="D9796B"/>
          </a:solidFill>
          <a:ln/>
        </p:spPr>
      </p:sp>
      <p:sp>
        <p:nvSpPr>
          <p:cNvPr id="24" name="Text 22"/>
          <p:cNvSpPr/>
          <p:nvPr/>
        </p:nvSpPr>
        <p:spPr>
          <a:xfrm>
            <a:off x="1266587" y="5206007"/>
            <a:ext cx="5645841" cy="666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Eventos implementados conforme a techspec do time de design</a:t>
            </a:r>
            <a:endParaRPr lang="en-US" sz="1875" dirty="0"/>
          </a:p>
        </p:txBody>
      </p:sp>
      <p:sp>
        <p:nvSpPr>
          <p:cNvPr id="25" name="Shape 23"/>
          <p:cNvSpPr/>
          <p:nvPr/>
        </p:nvSpPr>
        <p:spPr>
          <a:xfrm>
            <a:off x="1047631" y="6043791"/>
            <a:ext cx="85725" cy="85725"/>
          </a:xfrm>
          <a:prstGeom prst="rect">
            <a:avLst/>
          </a:prstGeom>
          <a:solidFill>
            <a:srgbClr val="D9796B"/>
          </a:solidFill>
          <a:ln/>
        </p:spPr>
      </p:sp>
      <p:sp>
        <p:nvSpPr>
          <p:cNvPr id="26" name="Text 24"/>
          <p:cNvSpPr/>
          <p:nvPr/>
        </p:nvSpPr>
        <p:spPr>
          <a:xfrm>
            <a:off x="1266587" y="5948600"/>
            <a:ext cx="5645841" cy="666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Disparo validado na ferramenta de analytics em ambiente de desenvolvimento</a:t>
            </a:r>
            <a:endParaRPr lang="en-US" sz="1875" dirty="0"/>
          </a:p>
        </p:txBody>
      </p:sp>
      <p:sp>
        <p:nvSpPr>
          <p:cNvPr id="27" name="Shape 25"/>
          <p:cNvSpPr/>
          <p:nvPr/>
        </p:nvSpPr>
        <p:spPr>
          <a:xfrm>
            <a:off x="1047631" y="6786383"/>
            <a:ext cx="85725" cy="85725"/>
          </a:xfrm>
          <a:prstGeom prst="rect">
            <a:avLst/>
          </a:prstGeom>
          <a:solidFill>
            <a:srgbClr val="D9796B"/>
          </a:solidFill>
          <a:ln/>
        </p:spPr>
      </p:sp>
      <p:sp>
        <p:nvSpPr>
          <p:cNvPr id="28" name="Text 26"/>
          <p:cNvSpPr/>
          <p:nvPr/>
        </p:nvSpPr>
        <p:spPr>
          <a:xfrm>
            <a:off x="1266587" y="6691193"/>
            <a:ext cx="5645841" cy="666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Cobertura dos eventos de entrada, aceite de termos e conclusão</a:t>
            </a:r>
            <a:endParaRPr lang="en-US" sz="1875" dirty="0"/>
          </a:p>
        </p:txBody>
      </p:sp>
      <p:sp>
        <p:nvSpPr>
          <p:cNvPr id="29" name="Shape 27"/>
          <p:cNvSpPr/>
          <p:nvPr/>
        </p:nvSpPr>
        <p:spPr>
          <a:xfrm>
            <a:off x="1047631" y="7528976"/>
            <a:ext cx="85725" cy="85725"/>
          </a:xfrm>
          <a:prstGeom prst="rect">
            <a:avLst/>
          </a:prstGeom>
          <a:solidFill>
            <a:srgbClr val="D9796B"/>
          </a:solidFill>
          <a:ln/>
        </p:spPr>
      </p:sp>
      <p:sp>
        <p:nvSpPr>
          <p:cNvPr id="30" name="Text 28"/>
          <p:cNvSpPr/>
          <p:nvPr/>
        </p:nvSpPr>
        <p:spPr>
          <a:xfrm>
            <a:off x="1266587" y="7433786"/>
            <a:ext cx="6029539" cy="352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Nenhum dado sensível trafegando nos eventos</a:t>
            </a:r>
            <a:endParaRPr lang="en-US" sz="1875" dirty="0"/>
          </a:p>
        </p:txBody>
      </p:sp>
      <p:sp>
        <p:nvSpPr>
          <p:cNvPr id="31" name="Shape 29"/>
          <p:cNvSpPr/>
          <p:nvPr/>
        </p:nvSpPr>
        <p:spPr>
          <a:xfrm>
            <a:off x="7262336" y="4436447"/>
            <a:ext cx="5017591" cy="518386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7262336" y="4436447"/>
            <a:ext cx="5017591" cy="57150"/>
          </a:xfrm>
          <a:prstGeom prst="rect">
            <a:avLst/>
          </a:prstGeom>
          <a:solidFill>
            <a:srgbClr val="9AA3AE"/>
          </a:solidFill>
          <a:ln/>
        </p:spPr>
      </p:sp>
      <p:sp>
        <p:nvSpPr>
          <p:cNvPr id="33" name="Text 31"/>
          <p:cNvSpPr/>
          <p:nvPr/>
        </p:nvSpPr>
        <p:spPr>
          <a:xfrm>
            <a:off x="7548086" y="4779347"/>
            <a:ext cx="48907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DEFINITION OF READY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7548086" y="5301198"/>
            <a:ext cx="85725" cy="85725"/>
          </a:xfrm>
          <a:prstGeom prst="rect">
            <a:avLst/>
          </a:prstGeom>
          <a:solidFill>
            <a:srgbClr val="9AA3AE"/>
          </a:solidFill>
          <a:ln/>
        </p:spPr>
      </p:sp>
      <p:sp>
        <p:nvSpPr>
          <p:cNvPr id="35" name="Text 33"/>
          <p:cNvSpPr/>
          <p:nvPr/>
        </p:nvSpPr>
        <p:spPr>
          <a:xfrm>
            <a:off x="7767042" y="5206007"/>
            <a:ext cx="4353949" cy="666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Techspec de tagueamento entregue pelo time de design</a:t>
            </a:r>
            <a:endParaRPr lang="en-US" sz="1875" dirty="0"/>
          </a:p>
        </p:txBody>
      </p:sp>
      <p:sp>
        <p:nvSpPr>
          <p:cNvPr id="36" name="Shape 34"/>
          <p:cNvSpPr/>
          <p:nvPr/>
        </p:nvSpPr>
        <p:spPr>
          <a:xfrm>
            <a:off x="7548086" y="6043791"/>
            <a:ext cx="85725" cy="85725"/>
          </a:xfrm>
          <a:prstGeom prst="rect">
            <a:avLst/>
          </a:prstGeom>
          <a:solidFill>
            <a:srgbClr val="9AA3AE"/>
          </a:solidFill>
          <a:ln/>
        </p:spPr>
      </p:sp>
      <p:sp>
        <p:nvSpPr>
          <p:cNvPr id="37" name="Text 35"/>
          <p:cNvSpPr/>
          <p:nvPr/>
        </p:nvSpPr>
        <p:spPr>
          <a:xfrm>
            <a:off x="7767042" y="5948600"/>
            <a:ext cx="4353949" cy="666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Componentes da jornada implementados (HU-13, HU-14)</a:t>
            </a:r>
            <a:endParaRPr lang="en-US" sz="1875" dirty="0"/>
          </a:p>
        </p:txBody>
      </p:sp>
      <p:sp>
        <p:nvSpPr>
          <p:cNvPr id="38" name="Shape 36"/>
          <p:cNvSpPr/>
          <p:nvPr/>
        </p:nvSpPr>
        <p:spPr>
          <a:xfrm>
            <a:off x="7548086" y="6786383"/>
            <a:ext cx="85725" cy="85725"/>
          </a:xfrm>
          <a:prstGeom prst="rect">
            <a:avLst/>
          </a:prstGeom>
          <a:solidFill>
            <a:srgbClr val="9AA3AE"/>
          </a:solidFill>
          <a:ln/>
        </p:spPr>
      </p:sp>
      <p:sp>
        <p:nvSpPr>
          <p:cNvPr id="39" name="Text 37"/>
          <p:cNvSpPr/>
          <p:nvPr/>
        </p:nvSpPr>
        <p:spPr>
          <a:xfrm>
            <a:off x="7767042" y="6691193"/>
            <a:ext cx="4353949" cy="666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Acesso à ferramenta de analytics liberado</a:t>
            </a:r>
            <a:endParaRPr lang="en-US" sz="1875" dirty="0"/>
          </a:p>
        </p:txBody>
      </p:sp>
      <p:sp>
        <p:nvSpPr>
          <p:cNvPr id="40" name="Shape 38"/>
          <p:cNvSpPr/>
          <p:nvPr/>
        </p:nvSpPr>
        <p:spPr>
          <a:xfrm>
            <a:off x="12508527" y="4436447"/>
            <a:ext cx="5017591" cy="518386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Shape 39"/>
          <p:cNvSpPr/>
          <p:nvPr/>
        </p:nvSpPr>
        <p:spPr>
          <a:xfrm>
            <a:off x="12508527" y="4436447"/>
            <a:ext cx="5017591" cy="57150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42" name="Text 40"/>
          <p:cNvSpPr/>
          <p:nvPr/>
        </p:nvSpPr>
        <p:spPr>
          <a:xfrm>
            <a:off x="12794277" y="4779347"/>
            <a:ext cx="48907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DEFINITION OF DONE</a:t>
            </a:r>
            <a:endParaRPr lang="en-US" sz="1650" dirty="0"/>
          </a:p>
        </p:txBody>
      </p:sp>
      <p:sp>
        <p:nvSpPr>
          <p:cNvPr id="43" name="Shape 41"/>
          <p:cNvSpPr/>
          <p:nvPr/>
        </p:nvSpPr>
        <p:spPr>
          <a:xfrm>
            <a:off x="12794277" y="5301198"/>
            <a:ext cx="85725" cy="85725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44" name="Text 42"/>
          <p:cNvSpPr/>
          <p:nvPr/>
        </p:nvSpPr>
        <p:spPr>
          <a:xfrm>
            <a:off x="13013232" y="5206007"/>
            <a:ext cx="4649849" cy="352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Eventos visíveis no painel de analytics</a:t>
            </a:r>
            <a:endParaRPr lang="en-US" sz="1875" dirty="0"/>
          </a:p>
        </p:txBody>
      </p:sp>
      <p:sp>
        <p:nvSpPr>
          <p:cNvPr id="45" name="Shape 43"/>
          <p:cNvSpPr/>
          <p:nvPr/>
        </p:nvSpPr>
        <p:spPr>
          <a:xfrm>
            <a:off x="12794277" y="5729644"/>
            <a:ext cx="85725" cy="85725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46" name="Text 44"/>
          <p:cNvSpPr/>
          <p:nvPr/>
        </p:nvSpPr>
        <p:spPr>
          <a:xfrm>
            <a:off x="13013232" y="5634454"/>
            <a:ext cx="4353949" cy="666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Validação conjunta com o time de dados</a:t>
            </a:r>
            <a:endParaRPr lang="en-US" sz="1875" dirty="0"/>
          </a:p>
        </p:txBody>
      </p:sp>
      <p:sp>
        <p:nvSpPr>
          <p:cNvPr id="47" name="Shape 45"/>
          <p:cNvSpPr/>
          <p:nvPr/>
        </p:nvSpPr>
        <p:spPr>
          <a:xfrm>
            <a:off x="12794277" y="6472237"/>
            <a:ext cx="85725" cy="85725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48" name="Text 46"/>
          <p:cNvSpPr/>
          <p:nvPr/>
        </p:nvSpPr>
        <p:spPr>
          <a:xfrm>
            <a:off x="13013232" y="6377047"/>
            <a:ext cx="4649849" cy="352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Documentação dos eventos publicada</a:t>
            </a:r>
            <a:endParaRPr lang="en-US" sz="187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881" y="666690"/>
            <a:ext cx="990481" cy="422910"/>
          </a:xfrm>
          <a:prstGeom prst="rect">
            <a:avLst/>
          </a:prstGeom>
          <a:solidFill>
            <a:srgbClr val="79A98A"/>
          </a:solidFill>
          <a:ln/>
        </p:spPr>
      </p:sp>
      <p:sp>
        <p:nvSpPr>
          <p:cNvPr id="3" name="Text 1"/>
          <p:cNvSpPr/>
          <p:nvPr/>
        </p:nvSpPr>
        <p:spPr>
          <a:xfrm>
            <a:off x="914281" y="723840"/>
            <a:ext cx="761881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2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HU-16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923812" y="740985"/>
            <a:ext cx="4194667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· QUALIDADE E INTEGRAÇÃO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61881" y="1222831"/>
            <a:ext cx="12261621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279"/>
              </a:lnSpc>
              <a:buNone/>
            </a:pPr>
            <a:r>
              <a:rPr lang="en-US" sz="3900" b="1" spc="-78" kern="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Massas de teste e virtualização de endpoints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12480309" y="742771"/>
            <a:ext cx="624661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80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ONDA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480309" y="1051381"/>
            <a:ext cx="62466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3447751" y="742771"/>
            <a:ext cx="898981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80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PERFIL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447751" y="1051381"/>
            <a:ext cx="89898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4689514" y="742771"/>
            <a:ext cx="898981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80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PONTOS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689514" y="1051381"/>
            <a:ext cx="89898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5931276" y="742771"/>
            <a:ext cx="1754326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80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931276" y="1051381"/>
            <a:ext cx="175432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QA-01, QA-03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761881" y="2034183"/>
            <a:ext cx="8267819" cy="2135624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15" name="Text 13"/>
          <p:cNvSpPr/>
          <p:nvPr/>
        </p:nvSpPr>
        <p:spPr>
          <a:xfrm>
            <a:off x="1066562" y="2338864"/>
            <a:ext cx="842430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9AA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DOR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066562" y="2746415"/>
            <a:ext cx="7888211" cy="1118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154"/>
              </a:lnSpc>
              <a:buNone/>
            </a:pPr>
            <a:r>
              <a:rPr lang="en-US" sz="2025" dirty="0">
                <a:solidFill>
                  <a:srgbClr val="F5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frontend depende do backend para começar, e o backend depende de massas para ser testado. Sem virtualização, as duas trilhas viram uma fila.</a:t>
            </a:r>
            <a:endParaRPr lang="en-US" sz="2025" dirty="0"/>
          </a:p>
        </p:txBody>
      </p:sp>
      <p:sp>
        <p:nvSpPr>
          <p:cNvPr id="17" name="Shape 15"/>
          <p:cNvSpPr/>
          <p:nvPr/>
        </p:nvSpPr>
        <p:spPr>
          <a:xfrm>
            <a:off x="9258299" y="2034183"/>
            <a:ext cx="8267819" cy="2135624"/>
          </a:xfrm>
          <a:prstGeom prst="rect">
            <a:avLst/>
          </a:prstGeom>
          <a:solidFill>
            <a:srgbClr val="C6DFCD"/>
          </a:solidFill>
          <a:ln/>
        </p:spPr>
      </p:sp>
      <p:sp>
        <p:nvSpPr>
          <p:cNvPr id="18" name="Text 16"/>
          <p:cNvSpPr/>
          <p:nvPr/>
        </p:nvSpPr>
        <p:spPr>
          <a:xfrm>
            <a:off x="9562980" y="2338864"/>
            <a:ext cx="842430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5C5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HISTÓRIA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9562980" y="2746415"/>
            <a:ext cx="7888211" cy="1156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518"/>
              </a:lnSpc>
              <a:buNone/>
            </a:pPr>
            <a:r>
              <a:rPr lang="en-US" sz="21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squad, quero massas específicas e endpoints virtualizados desde a primeira onda para que o frontend desenvolva em paralelo ao backend, sem espera.</a:t>
            </a:r>
            <a:endParaRPr lang="en-US" sz="2175" dirty="0"/>
          </a:p>
        </p:txBody>
      </p:sp>
      <p:sp>
        <p:nvSpPr>
          <p:cNvPr id="20" name="Shape 18"/>
          <p:cNvSpPr/>
          <p:nvPr/>
        </p:nvSpPr>
        <p:spPr>
          <a:xfrm>
            <a:off x="761881" y="4436447"/>
            <a:ext cx="6271855" cy="518386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761881" y="4436447"/>
            <a:ext cx="6271855" cy="57150"/>
          </a:xfrm>
          <a:prstGeom prst="rect">
            <a:avLst/>
          </a:prstGeom>
          <a:solidFill>
            <a:srgbClr val="79A98A"/>
          </a:solidFill>
          <a:ln/>
        </p:spPr>
      </p:sp>
      <p:sp>
        <p:nvSpPr>
          <p:cNvPr id="22" name="Text 20"/>
          <p:cNvSpPr/>
          <p:nvPr/>
        </p:nvSpPr>
        <p:spPr>
          <a:xfrm>
            <a:off x="1047631" y="4779347"/>
            <a:ext cx="627039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CRITÉRIOS DE ACEITE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047631" y="5301198"/>
            <a:ext cx="85725" cy="85725"/>
          </a:xfrm>
          <a:prstGeom prst="rect">
            <a:avLst/>
          </a:prstGeom>
          <a:solidFill>
            <a:srgbClr val="79A98A"/>
          </a:solidFill>
          <a:ln/>
        </p:spPr>
      </p:sp>
      <p:sp>
        <p:nvSpPr>
          <p:cNvPr id="24" name="Text 22"/>
          <p:cNvSpPr/>
          <p:nvPr/>
        </p:nvSpPr>
        <p:spPr>
          <a:xfrm>
            <a:off x="1266587" y="5206007"/>
            <a:ext cx="5645841" cy="666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Massas cobrindo cenários de sucesso, erro e borda para fundos, termos e perfil</a:t>
            </a:r>
            <a:endParaRPr lang="en-US" sz="1875" dirty="0"/>
          </a:p>
        </p:txBody>
      </p:sp>
      <p:sp>
        <p:nvSpPr>
          <p:cNvPr id="25" name="Shape 23"/>
          <p:cNvSpPr/>
          <p:nvPr/>
        </p:nvSpPr>
        <p:spPr>
          <a:xfrm>
            <a:off x="1047631" y="6043791"/>
            <a:ext cx="85725" cy="85725"/>
          </a:xfrm>
          <a:prstGeom prst="rect">
            <a:avLst/>
          </a:prstGeom>
          <a:solidFill>
            <a:srgbClr val="79A98A"/>
          </a:solidFill>
          <a:ln/>
        </p:spPr>
      </p:sp>
      <p:sp>
        <p:nvSpPr>
          <p:cNvPr id="26" name="Text 24"/>
          <p:cNvSpPr/>
          <p:nvPr/>
        </p:nvSpPr>
        <p:spPr>
          <a:xfrm>
            <a:off x="1266587" y="5948600"/>
            <a:ext cx="5645841" cy="666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Endpoints virtualizados respondendo conforme o contrato publicado</a:t>
            </a:r>
            <a:endParaRPr lang="en-US" sz="1875" dirty="0"/>
          </a:p>
        </p:txBody>
      </p:sp>
      <p:sp>
        <p:nvSpPr>
          <p:cNvPr id="27" name="Shape 25"/>
          <p:cNvSpPr/>
          <p:nvPr/>
        </p:nvSpPr>
        <p:spPr>
          <a:xfrm>
            <a:off x="1047631" y="6786383"/>
            <a:ext cx="85725" cy="85725"/>
          </a:xfrm>
          <a:prstGeom prst="rect">
            <a:avLst/>
          </a:prstGeom>
          <a:solidFill>
            <a:srgbClr val="79A98A"/>
          </a:solidFill>
          <a:ln/>
        </p:spPr>
      </p:sp>
      <p:sp>
        <p:nvSpPr>
          <p:cNvPr id="28" name="Text 26"/>
          <p:cNvSpPr/>
          <p:nvPr/>
        </p:nvSpPr>
        <p:spPr>
          <a:xfrm>
            <a:off x="1266587" y="6691193"/>
            <a:ext cx="5645841" cy="666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Virtualização acessível ao frontend em ambiente compartilhado</a:t>
            </a:r>
            <a:endParaRPr lang="en-US" sz="1875" dirty="0"/>
          </a:p>
        </p:txBody>
      </p:sp>
      <p:sp>
        <p:nvSpPr>
          <p:cNvPr id="29" name="Shape 27"/>
          <p:cNvSpPr/>
          <p:nvPr/>
        </p:nvSpPr>
        <p:spPr>
          <a:xfrm>
            <a:off x="1047631" y="7528976"/>
            <a:ext cx="85725" cy="85725"/>
          </a:xfrm>
          <a:prstGeom prst="rect">
            <a:avLst/>
          </a:prstGeom>
          <a:solidFill>
            <a:srgbClr val="79A98A"/>
          </a:solidFill>
          <a:ln/>
        </p:spPr>
      </p:sp>
      <p:sp>
        <p:nvSpPr>
          <p:cNvPr id="30" name="Text 28"/>
          <p:cNvSpPr/>
          <p:nvPr/>
        </p:nvSpPr>
        <p:spPr>
          <a:xfrm>
            <a:off x="1266587" y="7433786"/>
            <a:ext cx="5645841" cy="666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Documentação de como apontar a aplicação para a virtualização</a:t>
            </a:r>
            <a:endParaRPr lang="en-US" sz="1875" dirty="0"/>
          </a:p>
        </p:txBody>
      </p:sp>
      <p:sp>
        <p:nvSpPr>
          <p:cNvPr id="31" name="Shape 29"/>
          <p:cNvSpPr/>
          <p:nvPr/>
        </p:nvSpPr>
        <p:spPr>
          <a:xfrm>
            <a:off x="7262336" y="4436447"/>
            <a:ext cx="5017591" cy="518386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7262336" y="4436447"/>
            <a:ext cx="5017591" cy="57150"/>
          </a:xfrm>
          <a:prstGeom prst="rect">
            <a:avLst/>
          </a:prstGeom>
          <a:solidFill>
            <a:srgbClr val="9AA3AE"/>
          </a:solidFill>
          <a:ln/>
        </p:spPr>
      </p:sp>
      <p:sp>
        <p:nvSpPr>
          <p:cNvPr id="33" name="Text 31"/>
          <p:cNvSpPr/>
          <p:nvPr/>
        </p:nvSpPr>
        <p:spPr>
          <a:xfrm>
            <a:off x="7548086" y="4779347"/>
            <a:ext cx="48907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DEFINITION OF READY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7548086" y="5301198"/>
            <a:ext cx="85725" cy="85725"/>
          </a:xfrm>
          <a:prstGeom prst="rect">
            <a:avLst/>
          </a:prstGeom>
          <a:solidFill>
            <a:srgbClr val="9AA3AE"/>
          </a:solidFill>
          <a:ln/>
        </p:spPr>
      </p:sp>
      <p:sp>
        <p:nvSpPr>
          <p:cNvPr id="35" name="Text 33"/>
          <p:cNvSpPr/>
          <p:nvPr/>
        </p:nvSpPr>
        <p:spPr>
          <a:xfrm>
            <a:off x="7767042" y="5206007"/>
            <a:ext cx="4649849" cy="352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 publicado (HU-02)</a:t>
            </a:r>
            <a:endParaRPr lang="en-US" sz="1875" dirty="0"/>
          </a:p>
        </p:txBody>
      </p:sp>
      <p:sp>
        <p:nvSpPr>
          <p:cNvPr id="36" name="Shape 34"/>
          <p:cNvSpPr/>
          <p:nvPr/>
        </p:nvSpPr>
        <p:spPr>
          <a:xfrm>
            <a:off x="7548086" y="5729644"/>
            <a:ext cx="85725" cy="85725"/>
          </a:xfrm>
          <a:prstGeom prst="rect">
            <a:avLst/>
          </a:prstGeom>
          <a:solidFill>
            <a:srgbClr val="9AA3AE"/>
          </a:solidFill>
          <a:ln/>
        </p:spPr>
      </p:sp>
      <p:sp>
        <p:nvSpPr>
          <p:cNvPr id="37" name="Text 35"/>
          <p:cNvSpPr/>
          <p:nvPr/>
        </p:nvSpPr>
        <p:spPr>
          <a:xfrm>
            <a:off x="7767042" y="5634454"/>
            <a:ext cx="4353949" cy="666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Ferramenta de virtualização definida e disponível</a:t>
            </a:r>
            <a:endParaRPr lang="en-US" sz="1875" dirty="0"/>
          </a:p>
        </p:txBody>
      </p:sp>
      <p:sp>
        <p:nvSpPr>
          <p:cNvPr id="38" name="Shape 36"/>
          <p:cNvSpPr/>
          <p:nvPr/>
        </p:nvSpPr>
        <p:spPr>
          <a:xfrm>
            <a:off x="7548086" y="6472237"/>
            <a:ext cx="85725" cy="85725"/>
          </a:xfrm>
          <a:prstGeom prst="rect">
            <a:avLst/>
          </a:prstGeom>
          <a:solidFill>
            <a:srgbClr val="9AA3AE"/>
          </a:solidFill>
          <a:ln/>
        </p:spPr>
      </p:sp>
      <p:sp>
        <p:nvSpPr>
          <p:cNvPr id="39" name="Text 37"/>
          <p:cNvSpPr/>
          <p:nvPr/>
        </p:nvSpPr>
        <p:spPr>
          <a:xfrm>
            <a:off x="7767042" y="6377047"/>
            <a:ext cx="4353949" cy="666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Cenários de negócio levantados com o time de produto</a:t>
            </a:r>
            <a:endParaRPr lang="en-US" sz="1875" dirty="0"/>
          </a:p>
        </p:txBody>
      </p:sp>
      <p:sp>
        <p:nvSpPr>
          <p:cNvPr id="40" name="Shape 38"/>
          <p:cNvSpPr/>
          <p:nvPr/>
        </p:nvSpPr>
        <p:spPr>
          <a:xfrm>
            <a:off x="12508527" y="4436447"/>
            <a:ext cx="5017591" cy="518386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Shape 39"/>
          <p:cNvSpPr/>
          <p:nvPr/>
        </p:nvSpPr>
        <p:spPr>
          <a:xfrm>
            <a:off x="12508527" y="4436447"/>
            <a:ext cx="5017591" cy="57150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42" name="Text 40"/>
          <p:cNvSpPr/>
          <p:nvPr/>
        </p:nvSpPr>
        <p:spPr>
          <a:xfrm>
            <a:off x="12794277" y="4779347"/>
            <a:ext cx="48907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DEFINITION OF DONE</a:t>
            </a:r>
            <a:endParaRPr lang="en-US" sz="1650" dirty="0"/>
          </a:p>
        </p:txBody>
      </p:sp>
      <p:sp>
        <p:nvSpPr>
          <p:cNvPr id="43" name="Shape 41"/>
          <p:cNvSpPr/>
          <p:nvPr/>
        </p:nvSpPr>
        <p:spPr>
          <a:xfrm>
            <a:off x="12794277" y="5301198"/>
            <a:ext cx="85725" cy="85725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44" name="Text 42"/>
          <p:cNvSpPr/>
          <p:nvPr/>
        </p:nvSpPr>
        <p:spPr>
          <a:xfrm>
            <a:off x="13013232" y="5206007"/>
            <a:ext cx="4353949" cy="666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consumindo a virtualização com sucesso</a:t>
            </a:r>
            <a:endParaRPr lang="en-US" sz="1875" dirty="0"/>
          </a:p>
        </p:txBody>
      </p:sp>
      <p:sp>
        <p:nvSpPr>
          <p:cNvPr id="45" name="Shape 43"/>
          <p:cNvSpPr/>
          <p:nvPr/>
        </p:nvSpPr>
        <p:spPr>
          <a:xfrm>
            <a:off x="12794277" y="6043791"/>
            <a:ext cx="85725" cy="85725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46" name="Text 44"/>
          <p:cNvSpPr/>
          <p:nvPr/>
        </p:nvSpPr>
        <p:spPr>
          <a:xfrm>
            <a:off x="13013232" y="5948600"/>
            <a:ext cx="4353949" cy="666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Massas versionadas junto ao repositório de testes</a:t>
            </a:r>
            <a:endParaRPr lang="en-US" sz="1875" dirty="0"/>
          </a:p>
        </p:txBody>
      </p:sp>
      <p:sp>
        <p:nvSpPr>
          <p:cNvPr id="47" name="Shape 45"/>
          <p:cNvSpPr/>
          <p:nvPr/>
        </p:nvSpPr>
        <p:spPr>
          <a:xfrm>
            <a:off x="12794277" y="6786383"/>
            <a:ext cx="85725" cy="85725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48" name="Text 46"/>
          <p:cNvSpPr/>
          <p:nvPr/>
        </p:nvSpPr>
        <p:spPr>
          <a:xfrm>
            <a:off x="13013232" y="6691193"/>
            <a:ext cx="4353949" cy="666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Divergências entre virtualização e contrato zeradas</a:t>
            </a:r>
            <a:endParaRPr lang="en-US" sz="187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881" y="666690"/>
            <a:ext cx="990481" cy="422910"/>
          </a:xfrm>
          <a:prstGeom prst="rect">
            <a:avLst/>
          </a:prstGeom>
          <a:solidFill>
            <a:srgbClr val="79A98A"/>
          </a:solidFill>
          <a:ln/>
        </p:spPr>
      </p:sp>
      <p:sp>
        <p:nvSpPr>
          <p:cNvPr id="3" name="Text 1"/>
          <p:cNvSpPr/>
          <p:nvPr/>
        </p:nvSpPr>
        <p:spPr>
          <a:xfrm>
            <a:off x="914281" y="723840"/>
            <a:ext cx="761881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2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HU-17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923812" y="740985"/>
            <a:ext cx="4194667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· QUALIDADE E INTEGRAÇÃO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61881" y="1222831"/>
            <a:ext cx="12255727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279"/>
              </a:lnSpc>
              <a:buNone/>
            </a:pPr>
            <a:r>
              <a:rPr lang="en-US" sz="3900" b="1" spc="-78" kern="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Cenários e automação de testes (TAAC)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12474951" y="742771"/>
            <a:ext cx="624661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80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ONDA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474951" y="1051381"/>
            <a:ext cx="62466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3442393" y="742771"/>
            <a:ext cx="898981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80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PERFIL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442393" y="1051381"/>
            <a:ext cx="89898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4684156" y="742771"/>
            <a:ext cx="898981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80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PONTOS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684156" y="1051381"/>
            <a:ext cx="89898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5925919" y="742771"/>
            <a:ext cx="176022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80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925919" y="1051381"/>
            <a:ext cx="176022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QA-02, QA-05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761881" y="2034183"/>
            <a:ext cx="8267819" cy="2135624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15" name="Text 13"/>
          <p:cNvSpPr/>
          <p:nvPr/>
        </p:nvSpPr>
        <p:spPr>
          <a:xfrm>
            <a:off x="1066562" y="2338864"/>
            <a:ext cx="842430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9AA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DOR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066562" y="2746415"/>
            <a:ext cx="7888211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154"/>
              </a:lnSpc>
              <a:buNone/>
            </a:pPr>
            <a:r>
              <a:rPr lang="en-US" sz="2025" dirty="0">
                <a:solidFill>
                  <a:srgbClr val="F5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suíte automatizada, cada entrega exige regressão manual, o que encarece as ondas seguintes e atrasa a liberação.</a:t>
            </a:r>
            <a:endParaRPr lang="en-US" sz="2025" dirty="0"/>
          </a:p>
        </p:txBody>
      </p:sp>
      <p:sp>
        <p:nvSpPr>
          <p:cNvPr id="17" name="Shape 15"/>
          <p:cNvSpPr/>
          <p:nvPr/>
        </p:nvSpPr>
        <p:spPr>
          <a:xfrm>
            <a:off x="9258299" y="2034183"/>
            <a:ext cx="8267819" cy="2135624"/>
          </a:xfrm>
          <a:prstGeom prst="rect">
            <a:avLst/>
          </a:prstGeom>
          <a:solidFill>
            <a:srgbClr val="C6DFCD"/>
          </a:solidFill>
          <a:ln/>
        </p:spPr>
      </p:sp>
      <p:sp>
        <p:nvSpPr>
          <p:cNvPr id="18" name="Text 16"/>
          <p:cNvSpPr/>
          <p:nvPr/>
        </p:nvSpPr>
        <p:spPr>
          <a:xfrm>
            <a:off x="9562980" y="2338864"/>
            <a:ext cx="842430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5C5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HISTÓRIA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9562980" y="2746415"/>
            <a:ext cx="7888211" cy="1156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518"/>
              </a:lnSpc>
              <a:buNone/>
            </a:pPr>
            <a:r>
              <a:rPr lang="en-US" sz="21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squad, quero os cenários mapeados e automatizados em TAAC para que cada entrega seja validada pelo pipeline sem regressão manual.</a:t>
            </a:r>
            <a:endParaRPr lang="en-US" sz="2175" dirty="0"/>
          </a:p>
        </p:txBody>
      </p:sp>
      <p:sp>
        <p:nvSpPr>
          <p:cNvPr id="20" name="Shape 18"/>
          <p:cNvSpPr/>
          <p:nvPr/>
        </p:nvSpPr>
        <p:spPr>
          <a:xfrm>
            <a:off x="761881" y="4436447"/>
            <a:ext cx="6271855" cy="518386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761881" y="4436447"/>
            <a:ext cx="6271855" cy="57150"/>
          </a:xfrm>
          <a:prstGeom prst="rect">
            <a:avLst/>
          </a:prstGeom>
          <a:solidFill>
            <a:srgbClr val="79A98A"/>
          </a:solidFill>
          <a:ln/>
        </p:spPr>
      </p:sp>
      <p:sp>
        <p:nvSpPr>
          <p:cNvPr id="22" name="Text 20"/>
          <p:cNvSpPr/>
          <p:nvPr/>
        </p:nvSpPr>
        <p:spPr>
          <a:xfrm>
            <a:off x="1047631" y="4779347"/>
            <a:ext cx="627039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CRITÉRIOS DE ACEITE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047631" y="5301198"/>
            <a:ext cx="85725" cy="85725"/>
          </a:xfrm>
          <a:prstGeom prst="rect">
            <a:avLst/>
          </a:prstGeom>
          <a:solidFill>
            <a:srgbClr val="79A98A"/>
          </a:solidFill>
          <a:ln/>
        </p:spPr>
      </p:sp>
      <p:sp>
        <p:nvSpPr>
          <p:cNvPr id="24" name="Text 22"/>
          <p:cNvSpPr/>
          <p:nvPr/>
        </p:nvSpPr>
        <p:spPr>
          <a:xfrm>
            <a:off x="1266587" y="5206007"/>
            <a:ext cx="6029539" cy="352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Cenários mapeados e priorizados por criticidade</a:t>
            </a:r>
            <a:endParaRPr lang="en-US" sz="1875" dirty="0"/>
          </a:p>
        </p:txBody>
      </p:sp>
      <p:sp>
        <p:nvSpPr>
          <p:cNvPr id="25" name="Shape 23"/>
          <p:cNvSpPr/>
          <p:nvPr/>
        </p:nvSpPr>
        <p:spPr>
          <a:xfrm>
            <a:off x="1047631" y="5729644"/>
            <a:ext cx="85725" cy="85725"/>
          </a:xfrm>
          <a:prstGeom prst="rect">
            <a:avLst/>
          </a:prstGeom>
          <a:solidFill>
            <a:srgbClr val="79A98A"/>
          </a:solidFill>
          <a:ln/>
        </p:spPr>
      </p:sp>
      <p:sp>
        <p:nvSpPr>
          <p:cNvPr id="26" name="Text 24"/>
          <p:cNvSpPr/>
          <p:nvPr/>
        </p:nvSpPr>
        <p:spPr>
          <a:xfrm>
            <a:off x="1266587" y="5634454"/>
            <a:ext cx="6029539" cy="352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Suíte TAAC cobrindo o fluxo principal da jornada</a:t>
            </a:r>
            <a:endParaRPr lang="en-US" sz="1875" dirty="0"/>
          </a:p>
        </p:txBody>
      </p:sp>
      <p:sp>
        <p:nvSpPr>
          <p:cNvPr id="27" name="Shape 25"/>
          <p:cNvSpPr/>
          <p:nvPr/>
        </p:nvSpPr>
        <p:spPr>
          <a:xfrm>
            <a:off x="1047631" y="6158091"/>
            <a:ext cx="85725" cy="85725"/>
          </a:xfrm>
          <a:prstGeom prst="rect">
            <a:avLst/>
          </a:prstGeom>
          <a:solidFill>
            <a:srgbClr val="79A98A"/>
          </a:solidFill>
          <a:ln/>
        </p:spPr>
      </p:sp>
      <p:sp>
        <p:nvSpPr>
          <p:cNvPr id="28" name="Text 26"/>
          <p:cNvSpPr/>
          <p:nvPr/>
        </p:nvSpPr>
        <p:spPr>
          <a:xfrm>
            <a:off x="1266587" y="6062900"/>
            <a:ext cx="6029539" cy="352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Execução automática no pipeline a cada merge</a:t>
            </a:r>
            <a:endParaRPr lang="en-US" sz="1875" dirty="0"/>
          </a:p>
        </p:txBody>
      </p:sp>
      <p:sp>
        <p:nvSpPr>
          <p:cNvPr id="29" name="Shape 27"/>
          <p:cNvSpPr/>
          <p:nvPr/>
        </p:nvSpPr>
        <p:spPr>
          <a:xfrm>
            <a:off x="1047631" y="6586537"/>
            <a:ext cx="85725" cy="85725"/>
          </a:xfrm>
          <a:prstGeom prst="rect">
            <a:avLst/>
          </a:prstGeom>
          <a:solidFill>
            <a:srgbClr val="79A98A"/>
          </a:solidFill>
          <a:ln/>
        </p:spPr>
      </p:sp>
      <p:sp>
        <p:nvSpPr>
          <p:cNvPr id="30" name="Text 28"/>
          <p:cNvSpPr/>
          <p:nvPr/>
        </p:nvSpPr>
        <p:spPr>
          <a:xfrm>
            <a:off x="1266587" y="6491347"/>
            <a:ext cx="6029539" cy="352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 de execução acessível ao squad</a:t>
            </a:r>
            <a:endParaRPr lang="en-US" sz="1875" dirty="0"/>
          </a:p>
        </p:txBody>
      </p:sp>
      <p:sp>
        <p:nvSpPr>
          <p:cNvPr id="31" name="Shape 29"/>
          <p:cNvSpPr/>
          <p:nvPr/>
        </p:nvSpPr>
        <p:spPr>
          <a:xfrm>
            <a:off x="7262336" y="4436447"/>
            <a:ext cx="5017591" cy="518386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7262336" y="4436447"/>
            <a:ext cx="5017591" cy="57150"/>
          </a:xfrm>
          <a:prstGeom prst="rect">
            <a:avLst/>
          </a:prstGeom>
          <a:solidFill>
            <a:srgbClr val="9AA3AE"/>
          </a:solidFill>
          <a:ln/>
        </p:spPr>
      </p:sp>
      <p:sp>
        <p:nvSpPr>
          <p:cNvPr id="33" name="Text 31"/>
          <p:cNvSpPr/>
          <p:nvPr/>
        </p:nvSpPr>
        <p:spPr>
          <a:xfrm>
            <a:off x="7548086" y="4779347"/>
            <a:ext cx="48907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DEFINITION OF READY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7548086" y="5301198"/>
            <a:ext cx="85725" cy="85725"/>
          </a:xfrm>
          <a:prstGeom prst="rect">
            <a:avLst/>
          </a:prstGeom>
          <a:solidFill>
            <a:srgbClr val="9AA3AE"/>
          </a:solidFill>
          <a:ln/>
        </p:spPr>
      </p:sp>
      <p:sp>
        <p:nvSpPr>
          <p:cNvPr id="35" name="Text 33"/>
          <p:cNvSpPr/>
          <p:nvPr/>
        </p:nvSpPr>
        <p:spPr>
          <a:xfrm>
            <a:off x="7767042" y="5206007"/>
            <a:ext cx="4353949" cy="666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funcional ponta a ponta (HU-13, HU-14)</a:t>
            </a:r>
            <a:endParaRPr lang="en-US" sz="1875" dirty="0"/>
          </a:p>
        </p:txBody>
      </p:sp>
      <p:sp>
        <p:nvSpPr>
          <p:cNvPr id="36" name="Shape 34"/>
          <p:cNvSpPr/>
          <p:nvPr/>
        </p:nvSpPr>
        <p:spPr>
          <a:xfrm>
            <a:off x="7548086" y="6043791"/>
            <a:ext cx="85725" cy="85725"/>
          </a:xfrm>
          <a:prstGeom prst="rect">
            <a:avLst/>
          </a:prstGeom>
          <a:solidFill>
            <a:srgbClr val="9AA3AE"/>
          </a:solidFill>
          <a:ln/>
        </p:spPr>
      </p:sp>
      <p:sp>
        <p:nvSpPr>
          <p:cNvPr id="37" name="Text 35"/>
          <p:cNvSpPr/>
          <p:nvPr/>
        </p:nvSpPr>
        <p:spPr>
          <a:xfrm>
            <a:off x="7767042" y="5948600"/>
            <a:ext cx="4649849" cy="352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Integração concluída (HU-18)</a:t>
            </a:r>
            <a:endParaRPr lang="en-US" sz="1875" dirty="0"/>
          </a:p>
        </p:txBody>
      </p:sp>
      <p:sp>
        <p:nvSpPr>
          <p:cNvPr id="38" name="Shape 36"/>
          <p:cNvSpPr/>
          <p:nvPr/>
        </p:nvSpPr>
        <p:spPr>
          <a:xfrm>
            <a:off x="7548086" y="6472237"/>
            <a:ext cx="85725" cy="85725"/>
          </a:xfrm>
          <a:prstGeom prst="rect">
            <a:avLst/>
          </a:prstGeom>
          <a:solidFill>
            <a:srgbClr val="9AA3AE"/>
          </a:solidFill>
          <a:ln/>
        </p:spPr>
      </p:sp>
      <p:sp>
        <p:nvSpPr>
          <p:cNvPr id="39" name="Text 37"/>
          <p:cNvSpPr/>
          <p:nvPr/>
        </p:nvSpPr>
        <p:spPr>
          <a:xfrm>
            <a:off x="7767042" y="6377047"/>
            <a:ext cx="4353949" cy="666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Ambiente de execução da suíte disponível</a:t>
            </a:r>
            <a:endParaRPr lang="en-US" sz="1875" dirty="0"/>
          </a:p>
        </p:txBody>
      </p:sp>
      <p:sp>
        <p:nvSpPr>
          <p:cNvPr id="40" name="Shape 38"/>
          <p:cNvSpPr/>
          <p:nvPr/>
        </p:nvSpPr>
        <p:spPr>
          <a:xfrm>
            <a:off x="12508527" y="4436447"/>
            <a:ext cx="5017591" cy="518386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Shape 39"/>
          <p:cNvSpPr/>
          <p:nvPr/>
        </p:nvSpPr>
        <p:spPr>
          <a:xfrm>
            <a:off x="12508527" y="4436447"/>
            <a:ext cx="5017591" cy="57150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42" name="Text 40"/>
          <p:cNvSpPr/>
          <p:nvPr/>
        </p:nvSpPr>
        <p:spPr>
          <a:xfrm>
            <a:off x="12794277" y="4779347"/>
            <a:ext cx="48907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DEFINITION OF DONE</a:t>
            </a:r>
            <a:endParaRPr lang="en-US" sz="1650" dirty="0"/>
          </a:p>
        </p:txBody>
      </p:sp>
      <p:sp>
        <p:nvSpPr>
          <p:cNvPr id="43" name="Shape 41"/>
          <p:cNvSpPr/>
          <p:nvPr/>
        </p:nvSpPr>
        <p:spPr>
          <a:xfrm>
            <a:off x="12794277" y="5301198"/>
            <a:ext cx="85725" cy="85725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44" name="Text 42"/>
          <p:cNvSpPr/>
          <p:nvPr/>
        </p:nvSpPr>
        <p:spPr>
          <a:xfrm>
            <a:off x="13013232" y="5206007"/>
            <a:ext cx="4353949" cy="666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Suíte verde em três execuções consecutivas</a:t>
            </a:r>
            <a:endParaRPr lang="en-US" sz="1875" dirty="0"/>
          </a:p>
        </p:txBody>
      </p:sp>
      <p:sp>
        <p:nvSpPr>
          <p:cNvPr id="45" name="Shape 43"/>
          <p:cNvSpPr/>
          <p:nvPr/>
        </p:nvSpPr>
        <p:spPr>
          <a:xfrm>
            <a:off x="12794277" y="6043791"/>
            <a:ext cx="85725" cy="85725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46" name="Text 44"/>
          <p:cNvSpPr/>
          <p:nvPr/>
        </p:nvSpPr>
        <p:spPr>
          <a:xfrm>
            <a:off x="13013232" y="5948600"/>
            <a:ext cx="4353949" cy="666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 de execução dentro do limite acordado</a:t>
            </a:r>
            <a:endParaRPr lang="en-US" sz="1875" dirty="0"/>
          </a:p>
        </p:txBody>
      </p:sp>
      <p:sp>
        <p:nvSpPr>
          <p:cNvPr id="47" name="Shape 45"/>
          <p:cNvSpPr/>
          <p:nvPr/>
        </p:nvSpPr>
        <p:spPr>
          <a:xfrm>
            <a:off x="12794277" y="6786383"/>
            <a:ext cx="85725" cy="85725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48" name="Text 46"/>
          <p:cNvSpPr/>
          <p:nvPr/>
        </p:nvSpPr>
        <p:spPr>
          <a:xfrm>
            <a:off x="13013232" y="6691193"/>
            <a:ext cx="4353949" cy="666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Cenários revisados com o time de negócios</a:t>
            </a:r>
            <a:endParaRPr lang="en-US" sz="187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881" y="666690"/>
            <a:ext cx="990481" cy="422910"/>
          </a:xfrm>
          <a:prstGeom prst="rect">
            <a:avLst/>
          </a:prstGeom>
          <a:solidFill>
            <a:srgbClr val="79A98A"/>
          </a:solidFill>
          <a:ln/>
        </p:spPr>
      </p:sp>
      <p:sp>
        <p:nvSpPr>
          <p:cNvPr id="3" name="Text 1"/>
          <p:cNvSpPr/>
          <p:nvPr/>
        </p:nvSpPr>
        <p:spPr>
          <a:xfrm>
            <a:off x="914281" y="723840"/>
            <a:ext cx="761881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2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HU-18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923812" y="740985"/>
            <a:ext cx="4194667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· QUALIDADE E INTEGRAÇÃO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61881" y="1222831"/>
            <a:ext cx="11426892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279"/>
              </a:lnSpc>
              <a:buNone/>
            </a:pPr>
            <a:r>
              <a:rPr lang="en-US" sz="3900" b="1" spc="-78" kern="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Integração com a Peça Centralizadora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11721465" y="742771"/>
            <a:ext cx="624661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80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ONDA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721465" y="1051381"/>
            <a:ext cx="62466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688907" y="742771"/>
            <a:ext cx="1767685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80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PERFIL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688907" y="1051381"/>
            <a:ext cx="176768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+ QA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4714874" y="742771"/>
            <a:ext cx="898981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80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PONTOS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714874" y="1051381"/>
            <a:ext cx="89898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5956636" y="742771"/>
            <a:ext cx="172643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80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956636" y="1051381"/>
            <a:ext cx="172643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BE-21, QA-04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761881" y="2034183"/>
            <a:ext cx="8267819" cy="2135624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15" name="Text 13"/>
          <p:cNvSpPr/>
          <p:nvPr/>
        </p:nvSpPr>
        <p:spPr>
          <a:xfrm>
            <a:off x="1066562" y="2338864"/>
            <a:ext cx="842430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9AA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DOR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066562" y="2746415"/>
            <a:ext cx="7888211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154"/>
              </a:lnSpc>
              <a:buNone/>
            </a:pPr>
            <a:r>
              <a:rPr lang="en-US" sz="2025" dirty="0">
                <a:solidFill>
                  <a:srgbClr val="F5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esta história a jornada roda sobre dados virtualizados. Sem a integração real, nada do que foi construído entrega valor ao cliente.</a:t>
            </a:r>
            <a:endParaRPr lang="en-US" sz="2025" dirty="0"/>
          </a:p>
        </p:txBody>
      </p:sp>
      <p:sp>
        <p:nvSpPr>
          <p:cNvPr id="17" name="Shape 15"/>
          <p:cNvSpPr/>
          <p:nvPr/>
        </p:nvSpPr>
        <p:spPr>
          <a:xfrm>
            <a:off x="9258299" y="2034183"/>
            <a:ext cx="8267819" cy="2135624"/>
          </a:xfrm>
          <a:prstGeom prst="rect">
            <a:avLst/>
          </a:prstGeom>
          <a:solidFill>
            <a:srgbClr val="C6DFCD"/>
          </a:solidFill>
          <a:ln/>
        </p:spPr>
      </p:sp>
      <p:sp>
        <p:nvSpPr>
          <p:cNvPr id="18" name="Text 16"/>
          <p:cNvSpPr/>
          <p:nvPr/>
        </p:nvSpPr>
        <p:spPr>
          <a:xfrm>
            <a:off x="9562980" y="2338864"/>
            <a:ext cx="842430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5C5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HISTÓRIA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9562980" y="2746415"/>
            <a:ext cx="7888211" cy="1156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518"/>
              </a:lnSpc>
              <a:buNone/>
            </a:pPr>
            <a:r>
              <a:rPr lang="en-US" sz="21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cliente, quero que a jornada opere sobre os dados reais da Peça Centralizadora para que a transação que eu realizar tenha efeito de verdade.</a:t>
            </a:r>
            <a:endParaRPr lang="en-US" sz="2175" dirty="0"/>
          </a:p>
        </p:txBody>
      </p:sp>
      <p:sp>
        <p:nvSpPr>
          <p:cNvPr id="20" name="Shape 18"/>
          <p:cNvSpPr/>
          <p:nvPr/>
        </p:nvSpPr>
        <p:spPr>
          <a:xfrm>
            <a:off x="761881" y="4436447"/>
            <a:ext cx="6271855" cy="518386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761881" y="4436447"/>
            <a:ext cx="6271855" cy="57150"/>
          </a:xfrm>
          <a:prstGeom prst="rect">
            <a:avLst/>
          </a:prstGeom>
          <a:solidFill>
            <a:srgbClr val="79A98A"/>
          </a:solidFill>
          <a:ln/>
        </p:spPr>
      </p:sp>
      <p:sp>
        <p:nvSpPr>
          <p:cNvPr id="22" name="Text 20"/>
          <p:cNvSpPr/>
          <p:nvPr/>
        </p:nvSpPr>
        <p:spPr>
          <a:xfrm>
            <a:off x="1047631" y="4779347"/>
            <a:ext cx="627039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CRITÉRIOS DE ACEITE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047631" y="5301198"/>
            <a:ext cx="85725" cy="85725"/>
          </a:xfrm>
          <a:prstGeom prst="rect">
            <a:avLst/>
          </a:prstGeom>
          <a:solidFill>
            <a:srgbClr val="79A98A"/>
          </a:solidFill>
          <a:ln/>
        </p:spPr>
      </p:sp>
      <p:sp>
        <p:nvSpPr>
          <p:cNvPr id="24" name="Text 22"/>
          <p:cNvSpPr/>
          <p:nvPr/>
        </p:nvSpPr>
        <p:spPr>
          <a:xfrm>
            <a:off x="1266587" y="5206007"/>
            <a:ext cx="5645841" cy="666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BFF integrado à Peça Centralizadora em ambiente de desenvolvimento</a:t>
            </a:r>
            <a:endParaRPr lang="en-US" sz="1875" dirty="0"/>
          </a:p>
        </p:txBody>
      </p:sp>
      <p:sp>
        <p:nvSpPr>
          <p:cNvPr id="25" name="Shape 23"/>
          <p:cNvSpPr/>
          <p:nvPr/>
        </p:nvSpPr>
        <p:spPr>
          <a:xfrm>
            <a:off x="1047631" y="6043791"/>
            <a:ext cx="85725" cy="85725"/>
          </a:xfrm>
          <a:prstGeom prst="rect">
            <a:avLst/>
          </a:prstGeom>
          <a:solidFill>
            <a:srgbClr val="79A98A"/>
          </a:solidFill>
          <a:ln/>
        </p:spPr>
      </p:sp>
      <p:sp>
        <p:nvSpPr>
          <p:cNvPr id="26" name="Text 24"/>
          <p:cNvSpPr/>
          <p:nvPr/>
        </p:nvSpPr>
        <p:spPr>
          <a:xfrm>
            <a:off x="1266587" y="5948600"/>
            <a:ext cx="5645841" cy="666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Cenários de sucesso, erro e indisponibilidade validados pelo QA</a:t>
            </a:r>
            <a:endParaRPr lang="en-US" sz="1875" dirty="0"/>
          </a:p>
        </p:txBody>
      </p:sp>
      <p:sp>
        <p:nvSpPr>
          <p:cNvPr id="27" name="Shape 25"/>
          <p:cNvSpPr/>
          <p:nvPr/>
        </p:nvSpPr>
        <p:spPr>
          <a:xfrm>
            <a:off x="1047631" y="6786383"/>
            <a:ext cx="85725" cy="85725"/>
          </a:xfrm>
          <a:prstGeom prst="rect">
            <a:avLst/>
          </a:prstGeom>
          <a:solidFill>
            <a:srgbClr val="79A98A"/>
          </a:solidFill>
          <a:ln/>
        </p:spPr>
      </p:sp>
      <p:sp>
        <p:nvSpPr>
          <p:cNvPr id="28" name="Text 26"/>
          <p:cNvSpPr/>
          <p:nvPr/>
        </p:nvSpPr>
        <p:spPr>
          <a:xfrm>
            <a:off x="1266587" y="6691193"/>
            <a:ext cx="6029539" cy="352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Timeout, retry e circuit breaker configurados</a:t>
            </a:r>
            <a:endParaRPr lang="en-US" sz="1875" dirty="0"/>
          </a:p>
        </p:txBody>
      </p:sp>
      <p:sp>
        <p:nvSpPr>
          <p:cNvPr id="29" name="Shape 27"/>
          <p:cNvSpPr/>
          <p:nvPr/>
        </p:nvSpPr>
        <p:spPr>
          <a:xfrm>
            <a:off x="1047631" y="7214830"/>
            <a:ext cx="85725" cy="85725"/>
          </a:xfrm>
          <a:prstGeom prst="rect">
            <a:avLst/>
          </a:prstGeom>
          <a:solidFill>
            <a:srgbClr val="79A98A"/>
          </a:solidFill>
          <a:ln/>
        </p:spPr>
      </p:sp>
      <p:sp>
        <p:nvSpPr>
          <p:cNvPr id="30" name="Text 28"/>
          <p:cNvSpPr/>
          <p:nvPr/>
        </p:nvSpPr>
        <p:spPr>
          <a:xfrm>
            <a:off x="1266587" y="7119639"/>
            <a:ext cx="5645841" cy="666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Nenhuma dependência de virtualização no caminho principal</a:t>
            </a:r>
            <a:endParaRPr lang="en-US" sz="1875" dirty="0"/>
          </a:p>
        </p:txBody>
      </p:sp>
      <p:sp>
        <p:nvSpPr>
          <p:cNvPr id="31" name="Shape 29"/>
          <p:cNvSpPr/>
          <p:nvPr/>
        </p:nvSpPr>
        <p:spPr>
          <a:xfrm>
            <a:off x="7262336" y="4436447"/>
            <a:ext cx="5017591" cy="518386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7262336" y="4436447"/>
            <a:ext cx="5017591" cy="57150"/>
          </a:xfrm>
          <a:prstGeom prst="rect">
            <a:avLst/>
          </a:prstGeom>
          <a:solidFill>
            <a:srgbClr val="9AA3AE"/>
          </a:solidFill>
          <a:ln/>
        </p:spPr>
      </p:sp>
      <p:sp>
        <p:nvSpPr>
          <p:cNvPr id="33" name="Text 31"/>
          <p:cNvSpPr/>
          <p:nvPr/>
        </p:nvSpPr>
        <p:spPr>
          <a:xfrm>
            <a:off x="7548086" y="4779347"/>
            <a:ext cx="48907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DEFINITION OF READY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7548086" y="5301198"/>
            <a:ext cx="85725" cy="85725"/>
          </a:xfrm>
          <a:prstGeom prst="rect">
            <a:avLst/>
          </a:prstGeom>
          <a:solidFill>
            <a:srgbClr val="9AA3AE"/>
          </a:solidFill>
          <a:ln/>
        </p:spPr>
      </p:sp>
      <p:sp>
        <p:nvSpPr>
          <p:cNvPr id="35" name="Text 33"/>
          <p:cNvSpPr/>
          <p:nvPr/>
        </p:nvSpPr>
        <p:spPr>
          <a:xfrm>
            <a:off x="7767042" y="5206007"/>
            <a:ext cx="4649849" cy="352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Endpoints do BFF concluídos (HU-12)</a:t>
            </a:r>
            <a:endParaRPr lang="en-US" sz="1875" dirty="0"/>
          </a:p>
        </p:txBody>
      </p:sp>
      <p:sp>
        <p:nvSpPr>
          <p:cNvPr id="36" name="Shape 34"/>
          <p:cNvSpPr/>
          <p:nvPr/>
        </p:nvSpPr>
        <p:spPr>
          <a:xfrm>
            <a:off x="7548086" y="5729644"/>
            <a:ext cx="85725" cy="85725"/>
          </a:xfrm>
          <a:prstGeom prst="rect">
            <a:avLst/>
          </a:prstGeom>
          <a:solidFill>
            <a:srgbClr val="9AA3AE"/>
          </a:solidFill>
          <a:ln/>
        </p:spPr>
      </p:sp>
      <p:sp>
        <p:nvSpPr>
          <p:cNvPr id="37" name="Text 35"/>
          <p:cNvSpPr/>
          <p:nvPr/>
        </p:nvSpPr>
        <p:spPr>
          <a:xfrm>
            <a:off x="7767042" y="5634454"/>
            <a:ext cx="4353949" cy="666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Acesso à Peça Centralizadora liberado nos ambientes</a:t>
            </a:r>
            <a:endParaRPr lang="en-US" sz="1875" dirty="0"/>
          </a:p>
        </p:txBody>
      </p:sp>
      <p:sp>
        <p:nvSpPr>
          <p:cNvPr id="38" name="Shape 36"/>
          <p:cNvSpPr/>
          <p:nvPr/>
        </p:nvSpPr>
        <p:spPr>
          <a:xfrm>
            <a:off x="7548086" y="6472237"/>
            <a:ext cx="85725" cy="85725"/>
          </a:xfrm>
          <a:prstGeom prst="rect">
            <a:avLst/>
          </a:prstGeom>
          <a:solidFill>
            <a:srgbClr val="9AA3AE"/>
          </a:solidFill>
          <a:ln/>
        </p:spPr>
      </p:sp>
      <p:sp>
        <p:nvSpPr>
          <p:cNvPr id="39" name="Text 37"/>
          <p:cNvSpPr/>
          <p:nvPr/>
        </p:nvSpPr>
        <p:spPr>
          <a:xfrm>
            <a:off x="7767042" y="6377047"/>
            <a:ext cx="4353949" cy="666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 de integração confirmado com o time responsável</a:t>
            </a:r>
            <a:endParaRPr lang="en-US" sz="1875" dirty="0"/>
          </a:p>
        </p:txBody>
      </p:sp>
      <p:sp>
        <p:nvSpPr>
          <p:cNvPr id="40" name="Shape 38"/>
          <p:cNvSpPr/>
          <p:nvPr/>
        </p:nvSpPr>
        <p:spPr>
          <a:xfrm>
            <a:off x="12508527" y="4436447"/>
            <a:ext cx="5017591" cy="518386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Shape 39"/>
          <p:cNvSpPr/>
          <p:nvPr/>
        </p:nvSpPr>
        <p:spPr>
          <a:xfrm>
            <a:off x="12508527" y="4436447"/>
            <a:ext cx="5017591" cy="57150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42" name="Text 40"/>
          <p:cNvSpPr/>
          <p:nvPr/>
        </p:nvSpPr>
        <p:spPr>
          <a:xfrm>
            <a:off x="12794277" y="4779347"/>
            <a:ext cx="48907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DEFINITION OF DONE</a:t>
            </a:r>
            <a:endParaRPr lang="en-US" sz="1650" dirty="0"/>
          </a:p>
        </p:txBody>
      </p:sp>
      <p:sp>
        <p:nvSpPr>
          <p:cNvPr id="43" name="Shape 41"/>
          <p:cNvSpPr/>
          <p:nvPr/>
        </p:nvSpPr>
        <p:spPr>
          <a:xfrm>
            <a:off x="12794277" y="5301198"/>
            <a:ext cx="85725" cy="85725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44" name="Text 42"/>
          <p:cNvSpPr/>
          <p:nvPr/>
        </p:nvSpPr>
        <p:spPr>
          <a:xfrm>
            <a:off x="13013232" y="5206007"/>
            <a:ext cx="4353949" cy="666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Fluxo completo executado com dados reais</a:t>
            </a:r>
            <a:endParaRPr lang="en-US" sz="1875" dirty="0"/>
          </a:p>
        </p:txBody>
      </p:sp>
      <p:sp>
        <p:nvSpPr>
          <p:cNvPr id="45" name="Shape 43"/>
          <p:cNvSpPr/>
          <p:nvPr/>
        </p:nvSpPr>
        <p:spPr>
          <a:xfrm>
            <a:off x="12794277" y="6043791"/>
            <a:ext cx="85725" cy="85725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46" name="Text 44"/>
          <p:cNvSpPr/>
          <p:nvPr/>
        </p:nvSpPr>
        <p:spPr>
          <a:xfrm>
            <a:off x="13013232" y="5948600"/>
            <a:ext cx="4353949" cy="666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Cenários de falha validados e documentados</a:t>
            </a:r>
            <a:endParaRPr lang="en-US" sz="1875" dirty="0"/>
          </a:p>
        </p:txBody>
      </p:sp>
      <p:sp>
        <p:nvSpPr>
          <p:cNvPr id="47" name="Shape 45"/>
          <p:cNvSpPr/>
          <p:nvPr/>
        </p:nvSpPr>
        <p:spPr>
          <a:xfrm>
            <a:off x="12794277" y="6786383"/>
            <a:ext cx="85725" cy="85725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48" name="Text 46"/>
          <p:cNvSpPr/>
          <p:nvPr/>
        </p:nvSpPr>
        <p:spPr>
          <a:xfrm>
            <a:off x="13013232" y="6691193"/>
            <a:ext cx="4649849" cy="352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Aprovação formal do QA registrada</a:t>
            </a:r>
            <a:endParaRPr lang="en-US" sz="187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881" y="666690"/>
            <a:ext cx="990481" cy="422910"/>
          </a:xfrm>
          <a:prstGeom prst="rect">
            <a:avLst/>
          </a:prstGeom>
          <a:solidFill>
            <a:srgbClr val="79A98A"/>
          </a:solidFill>
          <a:ln/>
        </p:spPr>
      </p:sp>
      <p:sp>
        <p:nvSpPr>
          <p:cNvPr id="3" name="Text 1"/>
          <p:cNvSpPr/>
          <p:nvPr/>
        </p:nvSpPr>
        <p:spPr>
          <a:xfrm>
            <a:off x="914281" y="723840"/>
            <a:ext cx="761881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2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HU-19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923812" y="740985"/>
            <a:ext cx="4194667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· QUALIDADE E INTEGRAÇÃO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61881" y="1222831"/>
            <a:ext cx="13202043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279"/>
              </a:lnSpc>
              <a:buNone/>
            </a:pPr>
            <a:r>
              <a:rPr lang="en-US" sz="3900" b="1" spc="-78" kern="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Pacote de segurança e pentest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13335237" y="742771"/>
            <a:ext cx="624661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80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ONDA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335237" y="1051381"/>
            <a:ext cx="62466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4302679" y="742771"/>
            <a:ext cx="898981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80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PERFIL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302679" y="1051381"/>
            <a:ext cx="89898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5544442" y="742771"/>
            <a:ext cx="898981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80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PONTOS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5544442" y="1051381"/>
            <a:ext cx="89898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6786204" y="742771"/>
            <a:ext cx="816114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80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786204" y="1051381"/>
            <a:ext cx="816114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QA-06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761881" y="2034183"/>
            <a:ext cx="8267819" cy="2135624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15" name="Text 13"/>
          <p:cNvSpPr/>
          <p:nvPr/>
        </p:nvSpPr>
        <p:spPr>
          <a:xfrm>
            <a:off x="1066562" y="2338864"/>
            <a:ext cx="842430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9AA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DOR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066562" y="2746415"/>
            <a:ext cx="7888211" cy="1118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154"/>
              </a:lnSpc>
              <a:buNone/>
            </a:pPr>
            <a:r>
              <a:rPr lang="en-US" sz="2025" dirty="0">
                <a:solidFill>
                  <a:srgbClr val="F5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jornada movimenta dados sensíveis e não pode ir a produção sem avaliação de segurança. A fila do time de segurança costuma ser longa.</a:t>
            </a:r>
            <a:endParaRPr lang="en-US" sz="2025" dirty="0"/>
          </a:p>
        </p:txBody>
      </p:sp>
      <p:sp>
        <p:nvSpPr>
          <p:cNvPr id="17" name="Shape 15"/>
          <p:cNvSpPr/>
          <p:nvPr/>
        </p:nvSpPr>
        <p:spPr>
          <a:xfrm>
            <a:off x="9258299" y="2034183"/>
            <a:ext cx="8267819" cy="2135624"/>
          </a:xfrm>
          <a:prstGeom prst="rect">
            <a:avLst/>
          </a:prstGeom>
          <a:solidFill>
            <a:srgbClr val="C6DFCD"/>
          </a:solidFill>
          <a:ln/>
        </p:spPr>
      </p:sp>
      <p:sp>
        <p:nvSpPr>
          <p:cNvPr id="18" name="Text 16"/>
          <p:cNvSpPr/>
          <p:nvPr/>
        </p:nvSpPr>
        <p:spPr>
          <a:xfrm>
            <a:off x="9562980" y="2338864"/>
            <a:ext cx="842430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5C5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HISTÓRIA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9562980" y="2746415"/>
            <a:ext cx="7888211" cy="1156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518"/>
              </a:lnSpc>
              <a:buNone/>
            </a:pPr>
            <a:r>
              <a:rPr lang="en-US" sz="21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responsável pela jornada, quero o pacote de pentest preparado e a tarefa aberta com antecedência para que a avaliação de segurança não bloqueie a liberação.</a:t>
            </a:r>
            <a:endParaRPr lang="en-US" sz="2175" dirty="0"/>
          </a:p>
        </p:txBody>
      </p:sp>
      <p:sp>
        <p:nvSpPr>
          <p:cNvPr id="20" name="Shape 18"/>
          <p:cNvSpPr/>
          <p:nvPr/>
        </p:nvSpPr>
        <p:spPr>
          <a:xfrm>
            <a:off x="761881" y="4436447"/>
            <a:ext cx="6271855" cy="518386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761881" y="4436447"/>
            <a:ext cx="6271855" cy="57150"/>
          </a:xfrm>
          <a:prstGeom prst="rect">
            <a:avLst/>
          </a:prstGeom>
          <a:solidFill>
            <a:srgbClr val="79A98A"/>
          </a:solidFill>
          <a:ln/>
        </p:spPr>
      </p:sp>
      <p:sp>
        <p:nvSpPr>
          <p:cNvPr id="22" name="Text 20"/>
          <p:cNvSpPr/>
          <p:nvPr/>
        </p:nvSpPr>
        <p:spPr>
          <a:xfrm>
            <a:off x="1047631" y="4779347"/>
            <a:ext cx="627039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CRITÉRIOS DE ACEITE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047631" y="5301198"/>
            <a:ext cx="85725" cy="85725"/>
          </a:xfrm>
          <a:prstGeom prst="rect">
            <a:avLst/>
          </a:prstGeom>
          <a:solidFill>
            <a:srgbClr val="79A98A"/>
          </a:solidFill>
          <a:ln/>
        </p:spPr>
      </p:sp>
      <p:sp>
        <p:nvSpPr>
          <p:cNvPr id="24" name="Text 22"/>
          <p:cNvSpPr/>
          <p:nvPr/>
        </p:nvSpPr>
        <p:spPr>
          <a:xfrm>
            <a:off x="1266587" y="5206007"/>
            <a:ext cx="5645841" cy="666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Pacote com escopo, arquitetura, endpoints e credenciais de teste</a:t>
            </a:r>
            <a:endParaRPr lang="en-US" sz="1875" dirty="0"/>
          </a:p>
        </p:txBody>
      </p:sp>
      <p:sp>
        <p:nvSpPr>
          <p:cNvPr id="25" name="Shape 23"/>
          <p:cNvSpPr/>
          <p:nvPr/>
        </p:nvSpPr>
        <p:spPr>
          <a:xfrm>
            <a:off x="1047631" y="6043791"/>
            <a:ext cx="85725" cy="85725"/>
          </a:xfrm>
          <a:prstGeom prst="rect">
            <a:avLst/>
          </a:prstGeom>
          <a:solidFill>
            <a:srgbClr val="79A98A"/>
          </a:solidFill>
          <a:ln/>
        </p:spPr>
      </p:sp>
      <p:sp>
        <p:nvSpPr>
          <p:cNvPr id="26" name="Text 24"/>
          <p:cNvSpPr/>
          <p:nvPr/>
        </p:nvSpPr>
        <p:spPr>
          <a:xfrm>
            <a:off x="1266587" y="5948600"/>
            <a:ext cx="5645841" cy="666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Tarefa aberta com o time de segurança e data reservada</a:t>
            </a:r>
            <a:endParaRPr lang="en-US" sz="1875" dirty="0"/>
          </a:p>
        </p:txBody>
      </p:sp>
      <p:sp>
        <p:nvSpPr>
          <p:cNvPr id="27" name="Shape 25"/>
          <p:cNvSpPr/>
          <p:nvPr/>
        </p:nvSpPr>
        <p:spPr>
          <a:xfrm>
            <a:off x="1047631" y="6786383"/>
            <a:ext cx="85725" cy="85725"/>
          </a:xfrm>
          <a:prstGeom prst="rect">
            <a:avLst/>
          </a:prstGeom>
          <a:solidFill>
            <a:srgbClr val="79A98A"/>
          </a:solidFill>
          <a:ln/>
        </p:spPr>
      </p:sp>
      <p:sp>
        <p:nvSpPr>
          <p:cNvPr id="28" name="Text 26"/>
          <p:cNvSpPr/>
          <p:nvPr/>
        </p:nvSpPr>
        <p:spPr>
          <a:xfrm>
            <a:off x="1266587" y="6691193"/>
            <a:ext cx="5645841" cy="666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Ambiente de teste disponível para a equipe de segurança</a:t>
            </a:r>
            <a:endParaRPr lang="en-US" sz="1875" dirty="0"/>
          </a:p>
        </p:txBody>
      </p:sp>
      <p:sp>
        <p:nvSpPr>
          <p:cNvPr id="29" name="Shape 27"/>
          <p:cNvSpPr/>
          <p:nvPr/>
        </p:nvSpPr>
        <p:spPr>
          <a:xfrm>
            <a:off x="1047631" y="7528976"/>
            <a:ext cx="85725" cy="85725"/>
          </a:xfrm>
          <a:prstGeom prst="rect">
            <a:avLst/>
          </a:prstGeom>
          <a:solidFill>
            <a:srgbClr val="79A98A"/>
          </a:solidFill>
          <a:ln/>
        </p:spPr>
      </p:sp>
      <p:sp>
        <p:nvSpPr>
          <p:cNvPr id="30" name="Text 28"/>
          <p:cNvSpPr/>
          <p:nvPr/>
        </p:nvSpPr>
        <p:spPr>
          <a:xfrm>
            <a:off x="1266587" y="7433786"/>
            <a:ext cx="6029539" cy="352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 de tratamento dos achados acordado</a:t>
            </a:r>
            <a:endParaRPr lang="en-US" sz="1875" dirty="0"/>
          </a:p>
        </p:txBody>
      </p:sp>
      <p:sp>
        <p:nvSpPr>
          <p:cNvPr id="31" name="Shape 29"/>
          <p:cNvSpPr/>
          <p:nvPr/>
        </p:nvSpPr>
        <p:spPr>
          <a:xfrm>
            <a:off x="7262336" y="4436447"/>
            <a:ext cx="5017591" cy="518386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7262336" y="4436447"/>
            <a:ext cx="5017591" cy="57150"/>
          </a:xfrm>
          <a:prstGeom prst="rect">
            <a:avLst/>
          </a:prstGeom>
          <a:solidFill>
            <a:srgbClr val="9AA3AE"/>
          </a:solidFill>
          <a:ln/>
        </p:spPr>
      </p:sp>
      <p:sp>
        <p:nvSpPr>
          <p:cNvPr id="33" name="Text 31"/>
          <p:cNvSpPr/>
          <p:nvPr/>
        </p:nvSpPr>
        <p:spPr>
          <a:xfrm>
            <a:off x="7548086" y="4779347"/>
            <a:ext cx="48907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DEFINITION OF READY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7548086" y="5301198"/>
            <a:ext cx="85725" cy="85725"/>
          </a:xfrm>
          <a:prstGeom prst="rect">
            <a:avLst/>
          </a:prstGeom>
          <a:solidFill>
            <a:srgbClr val="9AA3AE"/>
          </a:solidFill>
          <a:ln/>
        </p:spPr>
      </p:sp>
      <p:sp>
        <p:nvSpPr>
          <p:cNvPr id="35" name="Text 33"/>
          <p:cNvSpPr/>
          <p:nvPr/>
        </p:nvSpPr>
        <p:spPr>
          <a:xfrm>
            <a:off x="7767042" y="5206007"/>
            <a:ext cx="4649849" cy="352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integrada e estável (HU-18)</a:t>
            </a:r>
            <a:endParaRPr lang="en-US" sz="1875" dirty="0"/>
          </a:p>
        </p:txBody>
      </p:sp>
      <p:sp>
        <p:nvSpPr>
          <p:cNvPr id="36" name="Shape 34"/>
          <p:cNvSpPr/>
          <p:nvPr/>
        </p:nvSpPr>
        <p:spPr>
          <a:xfrm>
            <a:off x="7548086" y="5729644"/>
            <a:ext cx="85725" cy="85725"/>
          </a:xfrm>
          <a:prstGeom prst="rect">
            <a:avLst/>
          </a:prstGeom>
          <a:solidFill>
            <a:srgbClr val="9AA3AE"/>
          </a:solidFill>
          <a:ln/>
        </p:spPr>
      </p:sp>
      <p:sp>
        <p:nvSpPr>
          <p:cNvPr id="37" name="Text 35"/>
          <p:cNvSpPr/>
          <p:nvPr/>
        </p:nvSpPr>
        <p:spPr>
          <a:xfrm>
            <a:off x="7767042" y="5634454"/>
            <a:ext cx="4353949" cy="666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Documentação de arquitetura atualizada</a:t>
            </a:r>
            <a:endParaRPr lang="en-US" sz="1875" dirty="0"/>
          </a:p>
        </p:txBody>
      </p:sp>
      <p:sp>
        <p:nvSpPr>
          <p:cNvPr id="38" name="Shape 36"/>
          <p:cNvSpPr/>
          <p:nvPr/>
        </p:nvSpPr>
        <p:spPr>
          <a:xfrm>
            <a:off x="7548086" y="6472237"/>
            <a:ext cx="85725" cy="85725"/>
          </a:xfrm>
          <a:prstGeom prst="rect">
            <a:avLst/>
          </a:prstGeom>
          <a:solidFill>
            <a:srgbClr val="9AA3AE"/>
          </a:solidFill>
          <a:ln/>
        </p:spPr>
      </p:sp>
      <p:sp>
        <p:nvSpPr>
          <p:cNvPr id="39" name="Text 37"/>
          <p:cNvSpPr/>
          <p:nvPr/>
        </p:nvSpPr>
        <p:spPr>
          <a:xfrm>
            <a:off x="7767042" y="6377047"/>
            <a:ext cx="4353949" cy="666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Contato do time de segurança identificado</a:t>
            </a:r>
            <a:endParaRPr lang="en-US" sz="1875" dirty="0"/>
          </a:p>
        </p:txBody>
      </p:sp>
      <p:sp>
        <p:nvSpPr>
          <p:cNvPr id="40" name="Shape 38"/>
          <p:cNvSpPr/>
          <p:nvPr/>
        </p:nvSpPr>
        <p:spPr>
          <a:xfrm>
            <a:off x="12508527" y="4436447"/>
            <a:ext cx="5017591" cy="518386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Shape 39"/>
          <p:cNvSpPr/>
          <p:nvPr/>
        </p:nvSpPr>
        <p:spPr>
          <a:xfrm>
            <a:off x="12508527" y="4436447"/>
            <a:ext cx="5017591" cy="57150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42" name="Text 40"/>
          <p:cNvSpPr/>
          <p:nvPr/>
        </p:nvSpPr>
        <p:spPr>
          <a:xfrm>
            <a:off x="12794277" y="4779347"/>
            <a:ext cx="48907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DEFINITION OF DONE</a:t>
            </a:r>
            <a:endParaRPr lang="en-US" sz="1650" dirty="0"/>
          </a:p>
        </p:txBody>
      </p:sp>
      <p:sp>
        <p:nvSpPr>
          <p:cNvPr id="43" name="Shape 41"/>
          <p:cNvSpPr/>
          <p:nvPr/>
        </p:nvSpPr>
        <p:spPr>
          <a:xfrm>
            <a:off x="12794277" y="5301198"/>
            <a:ext cx="85725" cy="85725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44" name="Text 42"/>
          <p:cNvSpPr/>
          <p:nvPr/>
        </p:nvSpPr>
        <p:spPr>
          <a:xfrm>
            <a:off x="13013232" y="5206007"/>
            <a:ext cx="4649849" cy="352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Pentest agendado com data confirmada</a:t>
            </a:r>
            <a:endParaRPr lang="en-US" sz="1875" dirty="0"/>
          </a:p>
        </p:txBody>
      </p:sp>
      <p:sp>
        <p:nvSpPr>
          <p:cNvPr id="45" name="Shape 43"/>
          <p:cNvSpPr/>
          <p:nvPr/>
        </p:nvSpPr>
        <p:spPr>
          <a:xfrm>
            <a:off x="12794277" y="5729644"/>
            <a:ext cx="85725" cy="85725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46" name="Text 44"/>
          <p:cNvSpPr/>
          <p:nvPr/>
        </p:nvSpPr>
        <p:spPr>
          <a:xfrm>
            <a:off x="13013232" y="5634454"/>
            <a:ext cx="4353949" cy="666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Ambiente validado pela equipe de segurança</a:t>
            </a:r>
            <a:endParaRPr lang="en-US" sz="1875" dirty="0"/>
          </a:p>
        </p:txBody>
      </p:sp>
      <p:sp>
        <p:nvSpPr>
          <p:cNvPr id="47" name="Shape 45"/>
          <p:cNvSpPr/>
          <p:nvPr/>
        </p:nvSpPr>
        <p:spPr>
          <a:xfrm>
            <a:off x="12794277" y="6472237"/>
            <a:ext cx="85725" cy="85725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48" name="Text 46"/>
          <p:cNvSpPr/>
          <p:nvPr/>
        </p:nvSpPr>
        <p:spPr>
          <a:xfrm>
            <a:off x="13013232" y="6377047"/>
            <a:ext cx="4353949" cy="666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Responsável pelo tratamento dos achados definido</a:t>
            </a:r>
            <a:endParaRPr lang="en-US" sz="187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881" y="666690"/>
            <a:ext cx="990481" cy="422910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3" name="Text 1"/>
          <p:cNvSpPr/>
          <p:nvPr/>
        </p:nvSpPr>
        <p:spPr>
          <a:xfrm>
            <a:off x="914281" y="723840"/>
            <a:ext cx="761881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2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HU-20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923812" y="740985"/>
            <a:ext cx="3065258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 · OBSERVABILIDADE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61881" y="1222831"/>
            <a:ext cx="11225527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279"/>
              </a:lnSpc>
              <a:buNone/>
            </a:pPr>
            <a:r>
              <a:rPr lang="en-US" sz="3900" b="1" spc="-78" kern="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Telemetria e padronização de logs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11538406" y="742771"/>
            <a:ext cx="624661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80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ONDA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538406" y="1051381"/>
            <a:ext cx="62466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505848" y="742771"/>
            <a:ext cx="1930938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80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PERFIL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505848" y="1051381"/>
            <a:ext cx="1930938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SRE + Backend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4680227" y="742771"/>
            <a:ext cx="898981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80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PONTOS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680227" y="1051381"/>
            <a:ext cx="89898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5921989" y="742771"/>
            <a:ext cx="1764542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80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921989" y="1051381"/>
            <a:ext cx="1764542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OB-01, OB-02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761881" y="2034183"/>
            <a:ext cx="8267819" cy="2135624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15" name="Text 13"/>
          <p:cNvSpPr/>
          <p:nvPr/>
        </p:nvSpPr>
        <p:spPr>
          <a:xfrm>
            <a:off x="1066562" y="2338864"/>
            <a:ext cx="842430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9AA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DOR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066562" y="2746415"/>
            <a:ext cx="7888211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154"/>
              </a:lnSpc>
              <a:buNone/>
            </a:pPr>
            <a:r>
              <a:rPr lang="en-US" sz="2025" dirty="0">
                <a:solidFill>
                  <a:srgbClr val="F5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telemetria, qualquer incidente vira investigação manual em logs sem formato comum, e o tempo de diagnóstico se estende.</a:t>
            </a:r>
            <a:endParaRPr lang="en-US" sz="2025" dirty="0"/>
          </a:p>
        </p:txBody>
      </p:sp>
      <p:sp>
        <p:nvSpPr>
          <p:cNvPr id="17" name="Shape 15"/>
          <p:cNvSpPr/>
          <p:nvPr/>
        </p:nvSpPr>
        <p:spPr>
          <a:xfrm>
            <a:off x="9258299" y="2034183"/>
            <a:ext cx="8267819" cy="2135624"/>
          </a:xfrm>
          <a:prstGeom prst="rect">
            <a:avLst/>
          </a:prstGeom>
          <a:solidFill>
            <a:srgbClr val="EDD9A8"/>
          </a:solidFill>
          <a:ln/>
        </p:spPr>
      </p:sp>
      <p:sp>
        <p:nvSpPr>
          <p:cNvPr id="18" name="Text 16"/>
          <p:cNvSpPr/>
          <p:nvPr/>
        </p:nvSpPr>
        <p:spPr>
          <a:xfrm>
            <a:off x="9562980" y="2338864"/>
            <a:ext cx="842430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5C5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HISTÓRIA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9562980" y="2746415"/>
            <a:ext cx="7888211" cy="1156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518"/>
              </a:lnSpc>
              <a:buNone/>
            </a:pPr>
            <a:r>
              <a:rPr lang="en-US" sz="21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time de sustentação, quero métricas, traces e logs padronizados chegando ao Datadog para que o diagnóstico de incidentes não dependa de acesso manual às máquinas.</a:t>
            </a:r>
            <a:endParaRPr lang="en-US" sz="2175" dirty="0"/>
          </a:p>
        </p:txBody>
      </p:sp>
      <p:sp>
        <p:nvSpPr>
          <p:cNvPr id="20" name="Shape 18"/>
          <p:cNvSpPr/>
          <p:nvPr/>
        </p:nvSpPr>
        <p:spPr>
          <a:xfrm>
            <a:off x="761881" y="4436447"/>
            <a:ext cx="6271855" cy="518386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761881" y="4436447"/>
            <a:ext cx="6271855" cy="57150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22" name="Text 20"/>
          <p:cNvSpPr/>
          <p:nvPr/>
        </p:nvSpPr>
        <p:spPr>
          <a:xfrm>
            <a:off x="1047631" y="4779347"/>
            <a:ext cx="627039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CRITÉRIOS DE ACEITE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047631" y="5301198"/>
            <a:ext cx="85725" cy="85725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24" name="Text 22"/>
          <p:cNvSpPr/>
          <p:nvPr/>
        </p:nvSpPr>
        <p:spPr>
          <a:xfrm>
            <a:off x="1266587" y="5206007"/>
            <a:ext cx="6029539" cy="352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Datadog integrado ao BFF e à peça habilitadora</a:t>
            </a:r>
            <a:endParaRPr lang="en-US" sz="1875" dirty="0"/>
          </a:p>
        </p:txBody>
      </p:sp>
      <p:sp>
        <p:nvSpPr>
          <p:cNvPr id="25" name="Shape 23"/>
          <p:cNvSpPr/>
          <p:nvPr/>
        </p:nvSpPr>
        <p:spPr>
          <a:xfrm>
            <a:off x="1047631" y="5729644"/>
            <a:ext cx="85725" cy="85725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26" name="Text 24"/>
          <p:cNvSpPr/>
          <p:nvPr/>
        </p:nvSpPr>
        <p:spPr>
          <a:xfrm>
            <a:off x="1266587" y="5634454"/>
            <a:ext cx="5645841" cy="666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Traces distribuídos cobrindo a chamada ponta a ponta</a:t>
            </a:r>
            <a:endParaRPr lang="en-US" sz="1875" dirty="0"/>
          </a:p>
        </p:txBody>
      </p:sp>
      <p:sp>
        <p:nvSpPr>
          <p:cNvPr id="27" name="Shape 25"/>
          <p:cNvSpPr/>
          <p:nvPr/>
        </p:nvSpPr>
        <p:spPr>
          <a:xfrm>
            <a:off x="1047631" y="6472237"/>
            <a:ext cx="85725" cy="85725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28" name="Text 26"/>
          <p:cNvSpPr/>
          <p:nvPr/>
        </p:nvSpPr>
        <p:spPr>
          <a:xfrm>
            <a:off x="1266587" y="6377047"/>
            <a:ext cx="5645841" cy="666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Logs em formato estruturado, com correlação por identificador de requisição</a:t>
            </a:r>
            <a:endParaRPr lang="en-US" sz="1875" dirty="0"/>
          </a:p>
        </p:txBody>
      </p:sp>
      <p:sp>
        <p:nvSpPr>
          <p:cNvPr id="29" name="Shape 27"/>
          <p:cNvSpPr/>
          <p:nvPr/>
        </p:nvSpPr>
        <p:spPr>
          <a:xfrm>
            <a:off x="1047631" y="7214830"/>
            <a:ext cx="85725" cy="85725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30" name="Text 28"/>
          <p:cNvSpPr/>
          <p:nvPr/>
        </p:nvSpPr>
        <p:spPr>
          <a:xfrm>
            <a:off x="1266587" y="7119639"/>
            <a:ext cx="6029539" cy="352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Nenhum dado sensível registrado em log</a:t>
            </a:r>
            <a:endParaRPr lang="en-US" sz="1875" dirty="0"/>
          </a:p>
        </p:txBody>
      </p:sp>
      <p:sp>
        <p:nvSpPr>
          <p:cNvPr id="31" name="Shape 29"/>
          <p:cNvSpPr/>
          <p:nvPr/>
        </p:nvSpPr>
        <p:spPr>
          <a:xfrm>
            <a:off x="7262336" y="4436447"/>
            <a:ext cx="5017591" cy="518386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7262336" y="4436447"/>
            <a:ext cx="5017591" cy="57150"/>
          </a:xfrm>
          <a:prstGeom prst="rect">
            <a:avLst/>
          </a:prstGeom>
          <a:solidFill>
            <a:srgbClr val="9AA3AE"/>
          </a:solidFill>
          <a:ln/>
        </p:spPr>
      </p:sp>
      <p:sp>
        <p:nvSpPr>
          <p:cNvPr id="33" name="Text 31"/>
          <p:cNvSpPr/>
          <p:nvPr/>
        </p:nvSpPr>
        <p:spPr>
          <a:xfrm>
            <a:off x="7548086" y="4779347"/>
            <a:ext cx="48907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DEFINITION OF READY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7548086" y="5301198"/>
            <a:ext cx="85725" cy="85725"/>
          </a:xfrm>
          <a:prstGeom prst="rect">
            <a:avLst/>
          </a:prstGeom>
          <a:solidFill>
            <a:srgbClr val="9AA3AE"/>
          </a:solidFill>
          <a:ln/>
        </p:spPr>
      </p:sp>
      <p:sp>
        <p:nvSpPr>
          <p:cNvPr id="35" name="Text 33"/>
          <p:cNvSpPr/>
          <p:nvPr/>
        </p:nvSpPr>
        <p:spPr>
          <a:xfrm>
            <a:off x="7767042" y="5206007"/>
            <a:ext cx="4649849" cy="352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Containers no ar (HU-05)</a:t>
            </a:r>
            <a:endParaRPr lang="en-US" sz="1875" dirty="0"/>
          </a:p>
        </p:txBody>
      </p:sp>
      <p:sp>
        <p:nvSpPr>
          <p:cNvPr id="36" name="Shape 34"/>
          <p:cNvSpPr/>
          <p:nvPr/>
        </p:nvSpPr>
        <p:spPr>
          <a:xfrm>
            <a:off x="7548086" y="5729644"/>
            <a:ext cx="85725" cy="85725"/>
          </a:xfrm>
          <a:prstGeom prst="rect">
            <a:avLst/>
          </a:prstGeom>
          <a:solidFill>
            <a:srgbClr val="9AA3AE"/>
          </a:solidFill>
          <a:ln/>
        </p:spPr>
      </p:sp>
      <p:sp>
        <p:nvSpPr>
          <p:cNvPr id="37" name="Text 35"/>
          <p:cNvSpPr/>
          <p:nvPr/>
        </p:nvSpPr>
        <p:spPr>
          <a:xfrm>
            <a:off x="7767042" y="5634454"/>
            <a:ext cx="4649849" cy="352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Padrão de log definido com arquitetura</a:t>
            </a:r>
            <a:endParaRPr lang="en-US" sz="1875" dirty="0"/>
          </a:p>
        </p:txBody>
      </p:sp>
      <p:sp>
        <p:nvSpPr>
          <p:cNvPr id="38" name="Shape 36"/>
          <p:cNvSpPr/>
          <p:nvPr/>
        </p:nvSpPr>
        <p:spPr>
          <a:xfrm>
            <a:off x="7548086" y="6158091"/>
            <a:ext cx="85725" cy="85725"/>
          </a:xfrm>
          <a:prstGeom prst="rect">
            <a:avLst/>
          </a:prstGeom>
          <a:solidFill>
            <a:srgbClr val="9AA3AE"/>
          </a:solidFill>
          <a:ln/>
        </p:spPr>
      </p:sp>
      <p:sp>
        <p:nvSpPr>
          <p:cNvPr id="39" name="Text 37"/>
          <p:cNvSpPr/>
          <p:nvPr/>
        </p:nvSpPr>
        <p:spPr>
          <a:xfrm>
            <a:off x="7767042" y="6062900"/>
            <a:ext cx="4649849" cy="352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Licença e acesso ao Datadog liberados</a:t>
            </a:r>
            <a:endParaRPr lang="en-US" sz="1875" dirty="0"/>
          </a:p>
        </p:txBody>
      </p:sp>
      <p:sp>
        <p:nvSpPr>
          <p:cNvPr id="40" name="Shape 38"/>
          <p:cNvSpPr/>
          <p:nvPr/>
        </p:nvSpPr>
        <p:spPr>
          <a:xfrm>
            <a:off x="12508527" y="4436447"/>
            <a:ext cx="5017591" cy="518386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Shape 39"/>
          <p:cNvSpPr/>
          <p:nvPr/>
        </p:nvSpPr>
        <p:spPr>
          <a:xfrm>
            <a:off x="12508527" y="4436447"/>
            <a:ext cx="5017591" cy="57150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42" name="Text 40"/>
          <p:cNvSpPr/>
          <p:nvPr/>
        </p:nvSpPr>
        <p:spPr>
          <a:xfrm>
            <a:off x="12794277" y="4779347"/>
            <a:ext cx="48907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DEFINITION OF DONE</a:t>
            </a:r>
            <a:endParaRPr lang="en-US" sz="1650" dirty="0"/>
          </a:p>
        </p:txBody>
      </p:sp>
      <p:sp>
        <p:nvSpPr>
          <p:cNvPr id="43" name="Shape 41"/>
          <p:cNvSpPr/>
          <p:nvPr/>
        </p:nvSpPr>
        <p:spPr>
          <a:xfrm>
            <a:off x="12794277" y="5301198"/>
            <a:ext cx="85725" cy="85725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44" name="Text 42"/>
          <p:cNvSpPr/>
          <p:nvPr/>
        </p:nvSpPr>
        <p:spPr>
          <a:xfrm>
            <a:off x="13013232" y="5206007"/>
            <a:ext cx="4649849" cy="352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Métricas e traces visíveis no Datadog</a:t>
            </a:r>
            <a:endParaRPr lang="en-US" sz="1875" dirty="0"/>
          </a:p>
        </p:txBody>
      </p:sp>
      <p:sp>
        <p:nvSpPr>
          <p:cNvPr id="45" name="Shape 43"/>
          <p:cNvSpPr/>
          <p:nvPr/>
        </p:nvSpPr>
        <p:spPr>
          <a:xfrm>
            <a:off x="12794277" y="5729644"/>
            <a:ext cx="85725" cy="85725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46" name="Text 44"/>
          <p:cNvSpPr/>
          <p:nvPr/>
        </p:nvSpPr>
        <p:spPr>
          <a:xfrm>
            <a:off x="13013232" y="5634454"/>
            <a:ext cx="4353949" cy="666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 por identificador de requisição funcionando</a:t>
            </a:r>
            <a:endParaRPr lang="en-US" sz="1875" dirty="0"/>
          </a:p>
        </p:txBody>
      </p:sp>
      <p:sp>
        <p:nvSpPr>
          <p:cNvPr id="47" name="Shape 45"/>
          <p:cNvSpPr/>
          <p:nvPr/>
        </p:nvSpPr>
        <p:spPr>
          <a:xfrm>
            <a:off x="12794277" y="6472237"/>
            <a:ext cx="85725" cy="85725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48" name="Text 46"/>
          <p:cNvSpPr/>
          <p:nvPr/>
        </p:nvSpPr>
        <p:spPr>
          <a:xfrm>
            <a:off x="13013232" y="6377047"/>
            <a:ext cx="4649849" cy="352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Revisão de dados sensíveis aprovada</a:t>
            </a:r>
            <a:endParaRPr lang="en-US" sz="187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881" y="666690"/>
            <a:ext cx="990481" cy="422910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3" name="Text 1"/>
          <p:cNvSpPr/>
          <p:nvPr/>
        </p:nvSpPr>
        <p:spPr>
          <a:xfrm>
            <a:off x="914281" y="723840"/>
            <a:ext cx="761881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2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HU-21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923812" y="740985"/>
            <a:ext cx="3065258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 · OBSERVABILIDADE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61881" y="1222831"/>
            <a:ext cx="11843372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279"/>
              </a:lnSpc>
              <a:buNone/>
            </a:pPr>
            <a:r>
              <a:rPr lang="en-US" sz="3900" b="1" spc="-78" kern="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Dashboards e alarmes operacionais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12100084" y="742771"/>
            <a:ext cx="624661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80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ONDA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100084" y="1051381"/>
            <a:ext cx="62466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3067526" y="742771"/>
            <a:ext cx="1264206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80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PERFIL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067526" y="1051381"/>
            <a:ext cx="126420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SRE / Infra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4674511" y="742771"/>
            <a:ext cx="898981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80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PONTOS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674511" y="1051381"/>
            <a:ext cx="89898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5916274" y="742771"/>
            <a:ext cx="1770828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80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916274" y="1051381"/>
            <a:ext cx="1770828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OB-03, OB-04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761881" y="2034183"/>
            <a:ext cx="8267819" cy="2135624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15" name="Text 13"/>
          <p:cNvSpPr/>
          <p:nvPr/>
        </p:nvSpPr>
        <p:spPr>
          <a:xfrm>
            <a:off x="1066562" y="2338864"/>
            <a:ext cx="842430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9AA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DOR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066562" y="2746415"/>
            <a:ext cx="7888211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154"/>
              </a:lnSpc>
              <a:buNone/>
            </a:pPr>
            <a:r>
              <a:rPr lang="en-US" sz="2025" dirty="0">
                <a:solidFill>
                  <a:srgbClr val="F5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Telemetria sem painel e sem alarme não é observabilidade: a falha continua sendo descoberta pelo cliente antes do time.</a:t>
            </a:r>
            <a:endParaRPr lang="en-US" sz="2025" dirty="0"/>
          </a:p>
        </p:txBody>
      </p:sp>
      <p:sp>
        <p:nvSpPr>
          <p:cNvPr id="17" name="Shape 15"/>
          <p:cNvSpPr/>
          <p:nvPr/>
        </p:nvSpPr>
        <p:spPr>
          <a:xfrm>
            <a:off x="9258299" y="2034183"/>
            <a:ext cx="8267819" cy="2135624"/>
          </a:xfrm>
          <a:prstGeom prst="rect">
            <a:avLst/>
          </a:prstGeom>
          <a:solidFill>
            <a:srgbClr val="EDD9A8"/>
          </a:solidFill>
          <a:ln/>
        </p:spPr>
      </p:sp>
      <p:sp>
        <p:nvSpPr>
          <p:cNvPr id="18" name="Text 16"/>
          <p:cNvSpPr/>
          <p:nvPr/>
        </p:nvSpPr>
        <p:spPr>
          <a:xfrm>
            <a:off x="9562980" y="2338864"/>
            <a:ext cx="842430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5C5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HISTÓRIA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9562980" y="2746415"/>
            <a:ext cx="7888211" cy="1156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518"/>
              </a:lnSpc>
              <a:buNone/>
            </a:pPr>
            <a:r>
              <a:rPr lang="en-US" sz="21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time de sustentação, quero dashboards e alarmes configurados para que uma degradação seja detectada pelo time antes de virar reclamação do cliente.</a:t>
            </a:r>
            <a:endParaRPr lang="en-US" sz="2175" dirty="0"/>
          </a:p>
        </p:txBody>
      </p:sp>
      <p:sp>
        <p:nvSpPr>
          <p:cNvPr id="20" name="Shape 18"/>
          <p:cNvSpPr/>
          <p:nvPr/>
        </p:nvSpPr>
        <p:spPr>
          <a:xfrm>
            <a:off x="761881" y="4436447"/>
            <a:ext cx="6271855" cy="518386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761881" y="4436447"/>
            <a:ext cx="6271855" cy="57150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22" name="Text 20"/>
          <p:cNvSpPr/>
          <p:nvPr/>
        </p:nvSpPr>
        <p:spPr>
          <a:xfrm>
            <a:off x="1047631" y="4779347"/>
            <a:ext cx="627039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CRITÉRIOS DE ACEITE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047631" y="5301198"/>
            <a:ext cx="85725" cy="85725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24" name="Text 22"/>
          <p:cNvSpPr/>
          <p:nvPr/>
        </p:nvSpPr>
        <p:spPr>
          <a:xfrm>
            <a:off x="1266587" y="5206007"/>
            <a:ext cx="5645841" cy="666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com latência, taxa de erro, throughput e saúde dos containers</a:t>
            </a:r>
            <a:endParaRPr lang="en-US" sz="1875" dirty="0"/>
          </a:p>
        </p:txBody>
      </p:sp>
      <p:sp>
        <p:nvSpPr>
          <p:cNvPr id="25" name="Shape 23"/>
          <p:cNvSpPr/>
          <p:nvPr/>
        </p:nvSpPr>
        <p:spPr>
          <a:xfrm>
            <a:off x="1047631" y="6043791"/>
            <a:ext cx="85725" cy="85725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26" name="Text 24"/>
          <p:cNvSpPr/>
          <p:nvPr/>
        </p:nvSpPr>
        <p:spPr>
          <a:xfrm>
            <a:off x="1266587" y="5948600"/>
            <a:ext cx="5645841" cy="666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Alarmes com limiares acordados e destinatários definidos</a:t>
            </a:r>
            <a:endParaRPr lang="en-US" sz="1875" dirty="0"/>
          </a:p>
        </p:txBody>
      </p:sp>
      <p:sp>
        <p:nvSpPr>
          <p:cNvPr id="27" name="Shape 25"/>
          <p:cNvSpPr/>
          <p:nvPr/>
        </p:nvSpPr>
        <p:spPr>
          <a:xfrm>
            <a:off x="1047631" y="6786383"/>
            <a:ext cx="85725" cy="85725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28" name="Text 26"/>
          <p:cNvSpPr/>
          <p:nvPr/>
        </p:nvSpPr>
        <p:spPr>
          <a:xfrm>
            <a:off x="1266587" y="6691193"/>
            <a:ext cx="6029539" cy="352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Alarme testado com disparo controlado</a:t>
            </a:r>
            <a:endParaRPr lang="en-US" sz="1875" dirty="0"/>
          </a:p>
        </p:txBody>
      </p:sp>
      <p:sp>
        <p:nvSpPr>
          <p:cNvPr id="29" name="Shape 27"/>
          <p:cNvSpPr/>
          <p:nvPr/>
        </p:nvSpPr>
        <p:spPr>
          <a:xfrm>
            <a:off x="1047631" y="7214830"/>
            <a:ext cx="85725" cy="85725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30" name="Text 28"/>
          <p:cNvSpPr/>
          <p:nvPr/>
        </p:nvSpPr>
        <p:spPr>
          <a:xfrm>
            <a:off x="1266587" y="7119639"/>
            <a:ext cx="6029539" cy="352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Runbook associado a cada alarme</a:t>
            </a:r>
            <a:endParaRPr lang="en-US" sz="1875" dirty="0"/>
          </a:p>
        </p:txBody>
      </p:sp>
      <p:sp>
        <p:nvSpPr>
          <p:cNvPr id="31" name="Shape 29"/>
          <p:cNvSpPr/>
          <p:nvPr/>
        </p:nvSpPr>
        <p:spPr>
          <a:xfrm>
            <a:off x="7262336" y="4436447"/>
            <a:ext cx="5017591" cy="518386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7262336" y="4436447"/>
            <a:ext cx="5017591" cy="57150"/>
          </a:xfrm>
          <a:prstGeom prst="rect">
            <a:avLst/>
          </a:prstGeom>
          <a:solidFill>
            <a:srgbClr val="9AA3AE"/>
          </a:solidFill>
          <a:ln/>
        </p:spPr>
      </p:sp>
      <p:sp>
        <p:nvSpPr>
          <p:cNvPr id="33" name="Text 31"/>
          <p:cNvSpPr/>
          <p:nvPr/>
        </p:nvSpPr>
        <p:spPr>
          <a:xfrm>
            <a:off x="7548086" y="4779347"/>
            <a:ext cx="48907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DEFINITION OF READY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7548086" y="5301198"/>
            <a:ext cx="85725" cy="85725"/>
          </a:xfrm>
          <a:prstGeom prst="rect">
            <a:avLst/>
          </a:prstGeom>
          <a:solidFill>
            <a:srgbClr val="9AA3AE"/>
          </a:solidFill>
          <a:ln/>
        </p:spPr>
      </p:sp>
      <p:sp>
        <p:nvSpPr>
          <p:cNvPr id="35" name="Text 33"/>
          <p:cNvSpPr/>
          <p:nvPr/>
        </p:nvSpPr>
        <p:spPr>
          <a:xfrm>
            <a:off x="7767042" y="5206007"/>
            <a:ext cx="4353949" cy="666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Telemetria chegando ao Datadog (HU-20)</a:t>
            </a:r>
            <a:endParaRPr lang="en-US" sz="1875" dirty="0"/>
          </a:p>
        </p:txBody>
      </p:sp>
      <p:sp>
        <p:nvSpPr>
          <p:cNvPr id="36" name="Shape 34"/>
          <p:cNvSpPr/>
          <p:nvPr/>
        </p:nvSpPr>
        <p:spPr>
          <a:xfrm>
            <a:off x="7548086" y="6043791"/>
            <a:ext cx="85725" cy="85725"/>
          </a:xfrm>
          <a:prstGeom prst="rect">
            <a:avLst/>
          </a:prstGeom>
          <a:solidFill>
            <a:srgbClr val="9AA3AE"/>
          </a:solidFill>
          <a:ln/>
        </p:spPr>
      </p:sp>
      <p:sp>
        <p:nvSpPr>
          <p:cNvPr id="37" name="Text 35"/>
          <p:cNvSpPr/>
          <p:nvPr/>
        </p:nvSpPr>
        <p:spPr>
          <a:xfrm>
            <a:off x="7767042" y="5948600"/>
            <a:ext cx="4353949" cy="666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Limiares de SLO acordados com o negócio</a:t>
            </a:r>
            <a:endParaRPr lang="en-US" sz="1875" dirty="0"/>
          </a:p>
        </p:txBody>
      </p:sp>
      <p:sp>
        <p:nvSpPr>
          <p:cNvPr id="38" name="Shape 36"/>
          <p:cNvSpPr/>
          <p:nvPr/>
        </p:nvSpPr>
        <p:spPr>
          <a:xfrm>
            <a:off x="7548086" y="6786383"/>
            <a:ext cx="85725" cy="85725"/>
          </a:xfrm>
          <a:prstGeom prst="rect">
            <a:avLst/>
          </a:prstGeom>
          <a:solidFill>
            <a:srgbClr val="9AA3AE"/>
          </a:solidFill>
          <a:ln/>
        </p:spPr>
      </p:sp>
      <p:sp>
        <p:nvSpPr>
          <p:cNvPr id="39" name="Text 37"/>
          <p:cNvSpPr/>
          <p:nvPr/>
        </p:nvSpPr>
        <p:spPr>
          <a:xfrm>
            <a:off x="7767042" y="6691193"/>
            <a:ext cx="4649849" cy="352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Canal de notificação definido</a:t>
            </a:r>
            <a:endParaRPr lang="en-US" sz="1875" dirty="0"/>
          </a:p>
        </p:txBody>
      </p:sp>
      <p:sp>
        <p:nvSpPr>
          <p:cNvPr id="40" name="Shape 38"/>
          <p:cNvSpPr/>
          <p:nvPr/>
        </p:nvSpPr>
        <p:spPr>
          <a:xfrm>
            <a:off x="12508527" y="4436447"/>
            <a:ext cx="5017591" cy="518386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Shape 39"/>
          <p:cNvSpPr/>
          <p:nvPr/>
        </p:nvSpPr>
        <p:spPr>
          <a:xfrm>
            <a:off x="12508527" y="4436447"/>
            <a:ext cx="5017591" cy="57150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42" name="Text 40"/>
          <p:cNvSpPr/>
          <p:nvPr/>
        </p:nvSpPr>
        <p:spPr>
          <a:xfrm>
            <a:off x="12794277" y="4779347"/>
            <a:ext cx="48907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7A72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DEFINITION OF DONE</a:t>
            </a:r>
            <a:endParaRPr lang="en-US" sz="1650" dirty="0"/>
          </a:p>
        </p:txBody>
      </p:sp>
      <p:sp>
        <p:nvSpPr>
          <p:cNvPr id="43" name="Shape 41"/>
          <p:cNvSpPr/>
          <p:nvPr/>
        </p:nvSpPr>
        <p:spPr>
          <a:xfrm>
            <a:off x="12794277" y="5301198"/>
            <a:ext cx="85725" cy="85725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44" name="Text 42"/>
          <p:cNvSpPr/>
          <p:nvPr/>
        </p:nvSpPr>
        <p:spPr>
          <a:xfrm>
            <a:off x="13013232" y="5206007"/>
            <a:ext cx="4353949" cy="666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revisado com o squad e a sustentação</a:t>
            </a:r>
            <a:endParaRPr lang="en-US" sz="1875" dirty="0"/>
          </a:p>
        </p:txBody>
      </p:sp>
      <p:sp>
        <p:nvSpPr>
          <p:cNvPr id="45" name="Shape 43"/>
          <p:cNvSpPr/>
          <p:nvPr/>
        </p:nvSpPr>
        <p:spPr>
          <a:xfrm>
            <a:off x="12794277" y="6043791"/>
            <a:ext cx="85725" cy="85725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46" name="Text 44"/>
          <p:cNvSpPr/>
          <p:nvPr/>
        </p:nvSpPr>
        <p:spPr>
          <a:xfrm>
            <a:off x="13013232" y="5948600"/>
            <a:ext cx="4353949" cy="666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Alarmes disparando para o canal correto</a:t>
            </a:r>
            <a:endParaRPr lang="en-US" sz="1875" dirty="0"/>
          </a:p>
        </p:txBody>
      </p:sp>
      <p:sp>
        <p:nvSpPr>
          <p:cNvPr id="47" name="Shape 45"/>
          <p:cNvSpPr/>
          <p:nvPr/>
        </p:nvSpPr>
        <p:spPr>
          <a:xfrm>
            <a:off x="12794277" y="6786383"/>
            <a:ext cx="85725" cy="85725"/>
          </a:xfrm>
          <a:prstGeom prst="rect">
            <a:avLst/>
          </a:prstGeom>
          <a:solidFill>
            <a:srgbClr val="12161C"/>
          </a:solidFill>
          <a:ln/>
        </p:spPr>
      </p:sp>
      <p:sp>
        <p:nvSpPr>
          <p:cNvPr id="48" name="Text 46"/>
          <p:cNvSpPr/>
          <p:nvPr/>
        </p:nvSpPr>
        <p:spPr>
          <a:xfrm>
            <a:off x="13013232" y="6691193"/>
            <a:ext cx="4649849" cy="352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83"/>
              </a:lnSpc>
              <a:buNone/>
            </a:pPr>
            <a:r>
              <a:rPr lang="en-US" sz="1875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Runbooks publicados</a:t>
            </a:r>
            <a:endParaRPr lang="en-US" sz="187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2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440" y="857250"/>
            <a:ext cx="18021430" cy="735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96" kern="0" dirty="0">
                <a:solidFill>
                  <a:srgbClr val="F5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 e DoD gerais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952440" y="2011680"/>
            <a:ext cx="8039219" cy="7418069"/>
          </a:xfrm>
          <a:prstGeom prst="rect">
            <a:avLst/>
          </a:prstGeom>
          <a:solidFill>
            <a:srgbClr val="1D242C"/>
          </a:solidFill>
          <a:ln/>
        </p:spPr>
      </p:sp>
      <p:sp>
        <p:nvSpPr>
          <p:cNvPr id="4" name="Text 2"/>
          <p:cNvSpPr/>
          <p:nvPr/>
        </p:nvSpPr>
        <p:spPr>
          <a:xfrm>
            <a:off x="1371421" y="2430661"/>
            <a:ext cx="7921383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C99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DEFINITION OF READY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421" y="2967871"/>
            <a:ext cx="7417295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79"/>
              </a:lnSpc>
              <a:buNone/>
            </a:pPr>
            <a:r>
              <a:rPr lang="en-US" sz="2250" dirty="0">
                <a:solidFill>
                  <a:srgbClr val="F5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História escrita no formato como / quero / para que, com dor explícita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371421" y="3910846"/>
            <a:ext cx="7417295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79"/>
              </a:lnSpc>
              <a:buNone/>
            </a:pPr>
            <a:r>
              <a:rPr lang="en-US" sz="2250" dirty="0">
                <a:solidFill>
                  <a:srgbClr val="F5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Critérios de aceite acordados entre produto, desenvolvimento e QA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371421" y="4853821"/>
            <a:ext cx="7921383" cy="4238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79"/>
              </a:lnSpc>
              <a:buNone/>
            </a:pPr>
            <a:r>
              <a:rPr lang="en-US" sz="2250" dirty="0">
                <a:solidFill>
                  <a:srgbClr val="F5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Dependências identificadas e desbloqueadas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371421" y="5411033"/>
            <a:ext cx="7921383" cy="4238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79"/>
              </a:lnSpc>
              <a:buNone/>
            </a:pPr>
            <a:r>
              <a:rPr lang="en-US" sz="2250" dirty="0">
                <a:solidFill>
                  <a:srgbClr val="F5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Estimativa votada em Planning Poker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371421" y="5968246"/>
            <a:ext cx="7417295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79"/>
              </a:lnSpc>
              <a:buNone/>
            </a:pPr>
            <a:r>
              <a:rPr lang="en-US" sz="2250" dirty="0">
                <a:solidFill>
                  <a:srgbClr val="F5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dependência externa pendente no momento de entrar na onda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296340" y="2011680"/>
            <a:ext cx="8039219" cy="7418069"/>
          </a:xfrm>
          <a:prstGeom prst="rect">
            <a:avLst/>
          </a:prstGeom>
          <a:solidFill>
            <a:srgbClr val="1D242C"/>
          </a:solidFill>
          <a:ln/>
        </p:spPr>
      </p:sp>
      <p:sp>
        <p:nvSpPr>
          <p:cNvPr id="11" name="Text 9"/>
          <p:cNvSpPr/>
          <p:nvPr/>
        </p:nvSpPr>
        <p:spPr>
          <a:xfrm>
            <a:off x="9715321" y="2430661"/>
            <a:ext cx="7921383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79A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DEFINITION OF DONE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715321" y="2967871"/>
            <a:ext cx="7921383" cy="4238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79"/>
              </a:lnSpc>
              <a:buNone/>
            </a:pPr>
            <a:r>
              <a:rPr lang="en-US" sz="2250" dirty="0">
                <a:solidFill>
                  <a:srgbClr val="F5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 revisado por par e integrado à branch principal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9715321" y="3525083"/>
            <a:ext cx="7417295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79"/>
              </a:lnSpc>
              <a:buNone/>
            </a:pPr>
            <a:r>
              <a:rPr lang="en-US" sz="2250" dirty="0">
                <a:solidFill>
                  <a:srgbClr val="F5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Testes unitários acima de 90% de cobertura e pipeline verde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9715321" y="4468058"/>
            <a:ext cx="7921383" cy="4238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79"/>
              </a:lnSpc>
              <a:buNone/>
            </a:pPr>
            <a:r>
              <a:rPr lang="en-US" sz="2250" dirty="0">
                <a:solidFill>
                  <a:srgbClr val="F5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Critérios de aceite verificados pelo QA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9715321" y="5025271"/>
            <a:ext cx="7921383" cy="4238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79"/>
              </a:lnSpc>
              <a:buNone/>
            </a:pPr>
            <a:r>
              <a:rPr lang="en-US" sz="2250" dirty="0">
                <a:solidFill>
                  <a:srgbClr val="F5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Documentação e contrato atualizados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9715321" y="5582483"/>
            <a:ext cx="7921383" cy="4238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79"/>
              </a:lnSpc>
              <a:buNone/>
            </a:pPr>
            <a:r>
              <a:rPr lang="en-US" sz="2250" dirty="0">
                <a:solidFill>
                  <a:srgbClr val="F5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Telemetria e log da funcionalidade disponíveis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9715321" y="6139696"/>
            <a:ext cx="7921383" cy="4238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79"/>
              </a:lnSpc>
              <a:buNone/>
            </a:pPr>
            <a:r>
              <a:rPr lang="en-US" sz="2250" dirty="0">
                <a:solidFill>
                  <a:srgbClr val="F5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Demonstração feita ao time de negócios</a:t>
            </a:r>
            <a:endParaRPr lang="en-US" sz="2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2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440" y="952440"/>
            <a:ext cx="18021430" cy="735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96" kern="0" dirty="0">
                <a:solidFill>
                  <a:srgbClr val="F5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passos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52440" y="4197132"/>
            <a:ext cx="5811476" cy="1021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0" dirty="0">
                <a:solidFill>
                  <a:srgbClr val="C99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952440" y="5370493"/>
            <a:ext cx="5811476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2700" b="1" dirty="0">
                <a:solidFill>
                  <a:srgbClr val="F5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Refinar com o negócio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2440" y="5972353"/>
            <a:ext cx="5441655" cy="757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2100" dirty="0">
                <a:solidFill>
                  <a:srgbClr val="C8CC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Validar dor e critérios de aceite de cada história antes da votação.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502241" y="4197132"/>
            <a:ext cx="5811672" cy="1021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0" dirty="0">
                <a:solidFill>
                  <a:srgbClr val="5C8F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6502241" y="5370493"/>
            <a:ext cx="5811672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2700" b="1" dirty="0">
                <a:solidFill>
                  <a:srgbClr val="F5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Votar em Planning Poker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6502241" y="5972353"/>
            <a:ext cx="5441839" cy="757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2100" dirty="0">
                <a:solidFill>
                  <a:srgbClr val="C8CC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Substituir as 112 estimativas de referência pelo voto do time.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2052220" y="4197132"/>
            <a:ext cx="5811476" cy="1021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0" dirty="0">
                <a:solidFill>
                  <a:srgbClr val="79A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12052220" y="5370493"/>
            <a:ext cx="5811476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2700" b="1" dirty="0">
                <a:solidFill>
                  <a:srgbClr val="F5F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Travar o escopo da Onda 1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12052220" y="5972353"/>
            <a:ext cx="5441655" cy="757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2100" dirty="0">
                <a:solidFill>
                  <a:srgbClr val="C8CC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Confirmar as histórias que entram e checar o DoR de cada uma.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52440" y="9239369"/>
            <a:ext cx="1143000" cy="95190"/>
          </a:xfrm>
          <a:prstGeom prst="rect">
            <a:avLst/>
          </a:prstGeom>
          <a:solidFill>
            <a:srgbClr val="C99A2E"/>
          </a:solidFill>
          <a:ln/>
        </p:spPr>
      </p:sp>
      <p:sp>
        <p:nvSpPr>
          <p:cNvPr id="13" name="Shape 11"/>
          <p:cNvSpPr/>
          <p:nvPr/>
        </p:nvSpPr>
        <p:spPr>
          <a:xfrm>
            <a:off x="2209740" y="9239369"/>
            <a:ext cx="1143000" cy="95190"/>
          </a:xfrm>
          <a:prstGeom prst="rect">
            <a:avLst/>
          </a:prstGeom>
          <a:solidFill>
            <a:srgbClr val="5C8FB8"/>
          </a:solidFill>
          <a:ln/>
        </p:spPr>
      </p:sp>
      <p:sp>
        <p:nvSpPr>
          <p:cNvPr id="14" name="Shape 12"/>
          <p:cNvSpPr/>
          <p:nvPr/>
        </p:nvSpPr>
        <p:spPr>
          <a:xfrm>
            <a:off x="3467040" y="9239369"/>
            <a:ext cx="1143000" cy="95190"/>
          </a:xfrm>
          <a:prstGeom prst="rect">
            <a:avLst/>
          </a:prstGeom>
          <a:solidFill>
            <a:srgbClr val="D9796B"/>
          </a:solidFill>
          <a:ln/>
        </p:spPr>
      </p:sp>
      <p:sp>
        <p:nvSpPr>
          <p:cNvPr id="15" name="Shape 13"/>
          <p:cNvSpPr/>
          <p:nvPr/>
        </p:nvSpPr>
        <p:spPr>
          <a:xfrm>
            <a:off x="4724340" y="9239369"/>
            <a:ext cx="1143000" cy="95190"/>
          </a:xfrm>
          <a:prstGeom prst="rect">
            <a:avLst/>
          </a:prstGeom>
          <a:solidFill>
            <a:srgbClr val="79A98A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2026-08-12T11:37:07Z</dcterms:created>
  <dcterms:modified xsi:type="dcterms:W3CDTF">2026-08-12T11:37:07Z</dcterms:modified>
</cp:coreProperties>
</file>
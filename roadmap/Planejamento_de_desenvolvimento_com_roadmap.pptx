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Contexto: os post-its da sessão de kickoff viraram backlog estruturado, com paralelismo, planning poker, capacity e roadmap em três ondas.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Panorama quantitativo. 21 pontos já votados na sessão anterior, o restante entra na pauta de votação.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cinco trilhas e o que cada uma entrega. A cor de cada trilha se repete no resto do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Bloqueadores de partida: nada de código relevante avança sem estes quatro itens fechados.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Cards azuis e amarelos do board de infra. Os números são os pontos já votados.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blocos de endpoints da peça habilitadora são independentes entre si: rodam em paralelo assim que o contrato estiver fechado.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Infra de frontend (CloudFront, S3, microfrontend) pode começar junto com a infra de backend, sem depender do contrato.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trilhas transversais. Testes começa cedo — massas e virtualização destravam o desenvolvimento das outras trilhas.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Caminho crítico: conta AWS → repositórios e rede → cluster e containers → endpoints → integração → TAAC e pentest. Tudo que não está nesta linha é paralelizável.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Matriz do que cada trilha faz em cada onda. A leitura por coluna mostra quantas frentes correm ao mesmo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 Fibonacci, votação simultânea, discussão quando houver divergência de duas casas ou mais. Referências ancoram os votos.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Pauta da sessão: 28 cards sem voto. Sugestão de ordem — pré-requisitos primeiro, depois backend, frontend, observability e testes.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Premissas abertas para discussão: composição do squad ainda não confirmada. Ajustar aqui muda todos os números seguintes.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Distribuição de horas por perfil em cada onda. A folga em relação à capacidade nominal absorve os cards ainda não votados.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de linha do tempo: nove semanas em três ondas. As barras mostram sobreposição real entre trilhas.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Onda 1 entrega ambiente. Critério de saída: aplicação sobe no cluster e o pipeline roda ponta a ponta.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Onda 2 é a de maior demanda. Fundos, termos e perfil em paralelo; frontend avança sobre a virtualização.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Onda 3 fecha integração e qualidade. Pentest depende do pacote preparado no início da onda.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riscos que mudam o roadmap se não forem endereçados na primeira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três ações com responsável definido ainda 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40" y="952440"/>
            <a:ext cx="1143000" cy="9519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3" name="Shape 1"/>
          <p:cNvSpPr/>
          <p:nvPr/>
        </p:nvSpPr>
        <p:spPr>
          <a:xfrm>
            <a:off x="2209740" y="952440"/>
            <a:ext cx="1143000" cy="95190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4" name="Shape 2"/>
          <p:cNvSpPr/>
          <p:nvPr/>
        </p:nvSpPr>
        <p:spPr>
          <a:xfrm>
            <a:off x="3467040" y="952440"/>
            <a:ext cx="1143000" cy="95190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5" name="Shape 3"/>
          <p:cNvSpPr/>
          <p:nvPr/>
        </p:nvSpPr>
        <p:spPr>
          <a:xfrm>
            <a:off x="4724340" y="952440"/>
            <a:ext cx="1143000" cy="95190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6" name="Text 4"/>
          <p:cNvSpPr/>
          <p:nvPr/>
        </p:nvSpPr>
        <p:spPr>
          <a:xfrm>
            <a:off x="952440" y="2970907"/>
            <a:ext cx="180214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JORNADA TRANSACIONAL · PLANEJAMENTO TÉCNICO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440" y="3633847"/>
            <a:ext cx="13734927" cy="2175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048"/>
              </a:lnSpc>
              <a:buNone/>
            </a:pPr>
            <a:r>
              <a:rPr lang="en-US" sz="8250" b="1" spc="-247" kern="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Backlog, capacity e roadmap de entrega</a:t>
            </a:r>
            <a:endParaRPr lang="en-US" sz="8250" dirty="0"/>
          </a:p>
        </p:txBody>
      </p:sp>
      <p:sp>
        <p:nvSpPr>
          <p:cNvPr id="8" name="Text 6"/>
          <p:cNvSpPr/>
          <p:nvPr/>
        </p:nvSpPr>
        <p:spPr>
          <a:xfrm>
            <a:off x="952440" y="6114156"/>
            <a:ext cx="11576623" cy="1015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41"/>
              </a:lnSpc>
              <a:buNone/>
            </a:pPr>
            <a:r>
              <a:rPr lang="en-US" sz="285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Estruturação dos cards do board em frentes paralelas, com pauta de Planning Poker e três ondas de entrega.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52440" y="9014519"/>
            <a:ext cx="277784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cards mapeados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239637" y="9014519"/>
            <a:ext cx="147064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frentes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338471" y="9014519"/>
            <a:ext cx="490209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ondas · sprints de 3 semanas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440" y="952440"/>
            <a:ext cx="1802143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VISÃO GERAL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440" y="1451431"/>
            <a:ext cx="18021430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 do backlog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440" y="2681942"/>
            <a:ext cx="3867269" cy="26662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2440" y="2681942"/>
            <a:ext cx="3867269" cy="6858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6" name="Text 4"/>
          <p:cNvSpPr/>
          <p:nvPr/>
        </p:nvSpPr>
        <p:spPr>
          <a:xfrm>
            <a:off x="1371421" y="3169503"/>
            <a:ext cx="333223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200" b="1" spc="-216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371421" y="4236243"/>
            <a:ext cx="3332238" cy="384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no board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124390" y="2681942"/>
            <a:ext cx="3867269" cy="26662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124390" y="2681942"/>
            <a:ext cx="3867269" cy="68580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10" name="Text 8"/>
          <p:cNvSpPr/>
          <p:nvPr/>
        </p:nvSpPr>
        <p:spPr>
          <a:xfrm>
            <a:off x="5543371" y="3169503"/>
            <a:ext cx="333223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200" b="1" spc="-216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543371" y="4236243"/>
            <a:ext cx="3120186" cy="731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já votados (infra e repositórios)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296340" y="2681942"/>
            <a:ext cx="3867269" cy="26662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9296340" y="2681942"/>
            <a:ext cx="3867269" cy="68580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321" y="3169503"/>
            <a:ext cx="333223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200" b="1" spc="-216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9715321" y="4236243"/>
            <a:ext cx="3120186" cy="731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pendentes de votação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3468290" y="2681942"/>
            <a:ext cx="3867269" cy="26662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3468290" y="2681942"/>
            <a:ext cx="3867269" cy="68580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18" name="Text 16"/>
          <p:cNvSpPr/>
          <p:nvPr/>
        </p:nvSpPr>
        <p:spPr>
          <a:xfrm>
            <a:off x="13887271" y="3169503"/>
            <a:ext cx="333223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200" b="1" spc="-216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13887271" y="4236243"/>
            <a:ext cx="3120186" cy="731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estimados no total (referência)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52440" y="5881449"/>
            <a:ext cx="13734927" cy="1281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21 pontos vieram da votação registrada nos post-its de infraestrutura. Os demais cards entram na pauta de Planning Poker; os valores de referência deste deck servem apenas para dimensionar as ondas e serão substituídos pelo voto do time.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440" y="952440"/>
            <a:ext cx="18021430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Frentes de trabalho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440" y="2144911"/>
            <a:ext cx="3093601" cy="738020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4" name="Text 2"/>
          <p:cNvSpPr/>
          <p:nvPr/>
        </p:nvSpPr>
        <p:spPr>
          <a:xfrm>
            <a:off x="1333381" y="2525851"/>
            <a:ext cx="2564892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381" y="3024842"/>
            <a:ext cx="2564892" cy="43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27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Pré-requisitos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33381" y="3609558"/>
            <a:ext cx="2407920" cy="1041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Contratos, conta AWS, padrões de nome e toggles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381" y="8824138"/>
            <a:ext cx="256489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cards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4274641" y="2144911"/>
            <a:ext cx="3093779" cy="7380208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9" name="Text 7"/>
          <p:cNvSpPr/>
          <p:nvPr/>
        </p:nvSpPr>
        <p:spPr>
          <a:xfrm>
            <a:off x="4655582" y="2525851"/>
            <a:ext cx="2565088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55582" y="3024842"/>
            <a:ext cx="2565088" cy="43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27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655582" y="3609558"/>
            <a:ext cx="2408099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Infra, gateways, BFF e peça habilitadora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655582" y="8824138"/>
            <a:ext cx="256508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cards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7597021" y="2144911"/>
            <a:ext cx="3093779" cy="7380208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14" name="Text 12"/>
          <p:cNvSpPr/>
          <p:nvPr/>
        </p:nvSpPr>
        <p:spPr>
          <a:xfrm>
            <a:off x="7977961" y="2525851"/>
            <a:ext cx="2565088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977961" y="3024842"/>
            <a:ext cx="2565088" cy="43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27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7977961" y="3609558"/>
            <a:ext cx="2408099" cy="1375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CloudFront, microfrontend Angular e componentes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977961" y="8824138"/>
            <a:ext cx="256508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cards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0919400" y="2144911"/>
            <a:ext cx="3093779" cy="738020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9" name="Text 17"/>
          <p:cNvSpPr/>
          <p:nvPr/>
        </p:nvSpPr>
        <p:spPr>
          <a:xfrm>
            <a:off x="11300340" y="2525851"/>
            <a:ext cx="2565088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300340" y="3024842"/>
            <a:ext cx="2565088" cy="43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27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1300340" y="3609558"/>
            <a:ext cx="2408099" cy="1041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Datadog, dashboards, alarmes e logs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300340" y="8824138"/>
            <a:ext cx="256508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cards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4241780" y="2144911"/>
            <a:ext cx="3093779" cy="7380208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24" name="Text 22"/>
          <p:cNvSpPr/>
          <p:nvPr/>
        </p:nvSpPr>
        <p:spPr>
          <a:xfrm>
            <a:off x="14622719" y="2525851"/>
            <a:ext cx="2565088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622719" y="3024842"/>
            <a:ext cx="2565088" cy="43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27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14622719" y="3609558"/>
            <a:ext cx="2408099" cy="1041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Massas, virtualização, TAAC e pentest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4622719" y="8824138"/>
            <a:ext cx="256508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cards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40" y="1169610"/>
            <a:ext cx="342900" cy="34290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3" name="Text 1"/>
          <p:cNvSpPr/>
          <p:nvPr/>
        </p:nvSpPr>
        <p:spPr>
          <a:xfrm>
            <a:off x="1561981" y="952440"/>
            <a:ext cx="7539084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Pré-requisitos e definições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440" y="2106870"/>
            <a:ext cx="3895665" cy="3619381"/>
          </a:xfrm>
          <a:prstGeom prst="rect">
            <a:avLst/>
          </a:prstGeom>
          <a:solidFill>
            <a:srgbClr val="EEDFB6"/>
          </a:solidFill>
          <a:ln/>
        </p:spPr>
      </p:sp>
      <p:sp>
        <p:nvSpPr>
          <p:cNvPr id="5" name="Text 3"/>
          <p:cNvSpPr/>
          <p:nvPr/>
        </p:nvSpPr>
        <p:spPr>
          <a:xfrm>
            <a:off x="1333381" y="2487811"/>
            <a:ext cx="3227798" cy="1203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30"/>
              </a:lnSpc>
              <a:buNone/>
            </a:pPr>
            <a:r>
              <a:rPr lang="en-US" sz="25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Definição de contratos dos endpoints analisados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33381" y="5036701"/>
            <a:ext cx="3447163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votar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114746" y="2106870"/>
            <a:ext cx="3895844" cy="3619381"/>
          </a:xfrm>
          <a:prstGeom prst="rect">
            <a:avLst/>
          </a:prstGeom>
          <a:solidFill>
            <a:srgbClr val="EEDFB6"/>
          </a:solidFill>
          <a:ln/>
        </p:spPr>
      </p:sp>
      <p:sp>
        <p:nvSpPr>
          <p:cNvPr id="8" name="Text 6"/>
          <p:cNvSpPr/>
          <p:nvPr/>
        </p:nvSpPr>
        <p:spPr>
          <a:xfrm>
            <a:off x="5495687" y="2487811"/>
            <a:ext cx="3227982" cy="814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30"/>
              </a:lnSpc>
              <a:buNone/>
            </a:pPr>
            <a:r>
              <a:rPr lang="en-US" sz="25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da nova conta AWS (YB3)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495687" y="5036701"/>
            <a:ext cx="3447359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votar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77230" y="2106870"/>
            <a:ext cx="3895844" cy="3619381"/>
          </a:xfrm>
          <a:prstGeom prst="rect">
            <a:avLst/>
          </a:prstGeom>
          <a:solidFill>
            <a:srgbClr val="EEDFB6"/>
          </a:solidFill>
          <a:ln/>
        </p:spPr>
      </p:sp>
      <p:sp>
        <p:nvSpPr>
          <p:cNvPr id="11" name="Text 9"/>
          <p:cNvSpPr/>
          <p:nvPr/>
        </p:nvSpPr>
        <p:spPr>
          <a:xfrm>
            <a:off x="9658171" y="2487811"/>
            <a:ext cx="3227982" cy="814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30"/>
              </a:lnSpc>
              <a:buNone/>
            </a:pPr>
            <a:r>
              <a:rPr lang="en-US" sz="25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padrões de nomes para as peças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658171" y="5036701"/>
            <a:ext cx="3447359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votar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439715" y="2106870"/>
            <a:ext cx="3895844" cy="3619381"/>
          </a:xfrm>
          <a:prstGeom prst="rect">
            <a:avLst/>
          </a:prstGeom>
          <a:solidFill>
            <a:srgbClr val="EEDFB6"/>
          </a:solidFill>
          <a:ln/>
        </p:spPr>
      </p:sp>
      <p:sp>
        <p:nvSpPr>
          <p:cNvPr id="14" name="Text 12"/>
          <p:cNvSpPr/>
          <p:nvPr/>
        </p:nvSpPr>
        <p:spPr>
          <a:xfrm>
            <a:off x="13820655" y="2487811"/>
            <a:ext cx="3447359" cy="426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30"/>
              </a:lnSpc>
              <a:buNone/>
            </a:pPr>
            <a:r>
              <a:rPr lang="en-US" sz="25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Definição de toggles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3820655" y="5036701"/>
            <a:ext cx="3447359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votar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2440" y="6183451"/>
            <a:ext cx="13734927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de endpoints e padrão de nomes destravam backend e frontend ao mesmo tempo. A conta AWS YB3 é pré-condição de toda a esteira de provisionamento da Onda 1.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40" y="1169610"/>
            <a:ext cx="342900" cy="342900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3" name="Text 1"/>
          <p:cNvSpPr/>
          <p:nvPr/>
        </p:nvSpPr>
        <p:spPr>
          <a:xfrm>
            <a:off x="1561981" y="952440"/>
            <a:ext cx="11291339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— infraestrutura e repositórios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440" y="1954351"/>
            <a:ext cx="3952994" cy="1790581"/>
          </a:xfrm>
          <a:prstGeom prst="rect">
            <a:avLst/>
          </a:prstGeom>
          <a:solidFill>
            <a:srgbClr val="BFD8EA"/>
          </a:solidFill>
          <a:ln/>
        </p:spPr>
      </p:sp>
      <p:sp>
        <p:nvSpPr>
          <p:cNvPr id="5" name="Text 3"/>
          <p:cNvSpPr/>
          <p:nvPr/>
        </p:nvSpPr>
        <p:spPr>
          <a:xfrm>
            <a:off x="1219081" y="2220992"/>
            <a:ext cx="3522304" cy="704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25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Infra Gateway Negócio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19081" y="3158252"/>
            <a:ext cx="376168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095815" y="1954351"/>
            <a:ext cx="3952994" cy="1790581"/>
          </a:xfrm>
          <a:prstGeom prst="rect">
            <a:avLst/>
          </a:prstGeom>
          <a:solidFill>
            <a:srgbClr val="BFD8EA"/>
          </a:solidFill>
          <a:ln/>
        </p:spPr>
      </p:sp>
      <p:sp>
        <p:nvSpPr>
          <p:cNvPr id="8" name="Text 6"/>
          <p:cNvSpPr/>
          <p:nvPr/>
        </p:nvSpPr>
        <p:spPr>
          <a:xfrm>
            <a:off x="5362456" y="2220992"/>
            <a:ext cx="3522304" cy="704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25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Contrato API Gateway Negócio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362456" y="3158252"/>
            <a:ext cx="376168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239190" y="1954351"/>
            <a:ext cx="3952994" cy="1790581"/>
          </a:xfrm>
          <a:prstGeom prst="rect">
            <a:avLst/>
          </a:prstGeom>
          <a:solidFill>
            <a:srgbClr val="BFD8EA"/>
          </a:solidFill>
          <a:ln/>
        </p:spPr>
      </p:sp>
      <p:sp>
        <p:nvSpPr>
          <p:cNvPr id="11" name="Text 9"/>
          <p:cNvSpPr/>
          <p:nvPr/>
        </p:nvSpPr>
        <p:spPr>
          <a:xfrm>
            <a:off x="9505830" y="2220992"/>
            <a:ext cx="3522304" cy="704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25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Infra Gateway BFF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505830" y="3158252"/>
            <a:ext cx="376168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3382565" y="1954351"/>
            <a:ext cx="3952994" cy="1790581"/>
          </a:xfrm>
          <a:prstGeom prst="rect">
            <a:avLst/>
          </a:prstGeom>
          <a:solidFill>
            <a:srgbClr val="BFD8EA"/>
          </a:solidFill>
          <a:ln/>
        </p:spPr>
      </p:sp>
      <p:sp>
        <p:nvSpPr>
          <p:cNvPr id="14" name="Text 12"/>
          <p:cNvSpPr/>
          <p:nvPr/>
        </p:nvSpPr>
        <p:spPr>
          <a:xfrm>
            <a:off x="13649205" y="2220992"/>
            <a:ext cx="3522304" cy="704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25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Contrato API Gateway BFF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649205" y="3158252"/>
            <a:ext cx="376168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2440" y="3935313"/>
            <a:ext cx="3952994" cy="1790581"/>
          </a:xfrm>
          <a:prstGeom prst="rect">
            <a:avLst/>
          </a:prstGeom>
          <a:solidFill>
            <a:srgbClr val="EDD9A8"/>
          </a:solidFill>
          <a:ln/>
        </p:spPr>
      </p:sp>
      <p:sp>
        <p:nvSpPr>
          <p:cNvPr id="17" name="Text 15"/>
          <p:cNvSpPr/>
          <p:nvPr/>
        </p:nvSpPr>
        <p:spPr>
          <a:xfrm>
            <a:off x="1219081" y="4201953"/>
            <a:ext cx="3522304" cy="704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25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infra NLB + ALB + VPC Link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19081" y="5139214"/>
            <a:ext cx="376168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5095815" y="3935313"/>
            <a:ext cx="3952994" cy="1790581"/>
          </a:xfrm>
          <a:prstGeom prst="rect">
            <a:avLst/>
          </a:prstGeom>
          <a:solidFill>
            <a:srgbClr val="EDD9A8"/>
          </a:solidFill>
          <a:ln/>
        </p:spPr>
      </p:sp>
      <p:sp>
        <p:nvSpPr>
          <p:cNvPr id="20" name="Text 18"/>
          <p:cNvSpPr/>
          <p:nvPr/>
        </p:nvSpPr>
        <p:spPr>
          <a:xfrm>
            <a:off x="5362456" y="4201953"/>
            <a:ext cx="3522304" cy="704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25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Caronte — somente no gtw BFF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362456" y="5139214"/>
            <a:ext cx="376168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239190" y="3935313"/>
            <a:ext cx="3952994" cy="1790581"/>
          </a:xfrm>
          <a:prstGeom prst="rect">
            <a:avLst/>
          </a:prstGeom>
          <a:solidFill>
            <a:srgbClr val="EDD9A8"/>
          </a:solidFill>
          <a:ln/>
        </p:spPr>
      </p:sp>
      <p:sp>
        <p:nvSpPr>
          <p:cNvPr id="23" name="Text 21"/>
          <p:cNvSpPr/>
          <p:nvPr/>
        </p:nvSpPr>
        <p:spPr>
          <a:xfrm>
            <a:off x="9505830" y="4201953"/>
            <a:ext cx="3761684" cy="371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25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Provisionar cache Valkey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505830" y="5139214"/>
            <a:ext cx="376168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3382565" y="3935313"/>
            <a:ext cx="3952994" cy="1790581"/>
          </a:xfrm>
          <a:prstGeom prst="rect">
            <a:avLst/>
          </a:prstGeom>
          <a:solidFill>
            <a:srgbClr val="EDD9A8"/>
          </a:solidFill>
          <a:ln/>
        </p:spPr>
      </p:sp>
      <p:sp>
        <p:nvSpPr>
          <p:cNvPr id="26" name="Text 24"/>
          <p:cNvSpPr/>
          <p:nvPr/>
        </p:nvSpPr>
        <p:spPr>
          <a:xfrm>
            <a:off x="13649205" y="4201953"/>
            <a:ext cx="3522304" cy="704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25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Provisionar quickconfig para portal manager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3649205" y="5150643"/>
            <a:ext cx="376168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votar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440" y="5916275"/>
            <a:ext cx="3952994" cy="1790581"/>
          </a:xfrm>
          <a:prstGeom prst="rect">
            <a:avLst/>
          </a:prstGeom>
          <a:solidFill>
            <a:srgbClr val="EDD9A8"/>
          </a:solidFill>
          <a:ln/>
        </p:spPr>
      </p:sp>
      <p:sp>
        <p:nvSpPr>
          <p:cNvPr id="29" name="Text 27"/>
          <p:cNvSpPr/>
          <p:nvPr/>
        </p:nvSpPr>
        <p:spPr>
          <a:xfrm>
            <a:off x="1219081" y="6182915"/>
            <a:ext cx="3761684" cy="371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25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de cluster ECS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219081" y="7120175"/>
            <a:ext cx="376168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5095815" y="5916275"/>
            <a:ext cx="3952994" cy="1790581"/>
          </a:xfrm>
          <a:prstGeom prst="rect">
            <a:avLst/>
          </a:prstGeom>
          <a:solidFill>
            <a:srgbClr val="EDD9A8"/>
          </a:solidFill>
          <a:ln/>
        </p:spPr>
      </p:sp>
      <p:sp>
        <p:nvSpPr>
          <p:cNvPr id="32" name="Text 30"/>
          <p:cNvSpPr/>
          <p:nvPr/>
        </p:nvSpPr>
        <p:spPr>
          <a:xfrm>
            <a:off x="5362456" y="6182915"/>
            <a:ext cx="3522304" cy="704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25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ECS Fargate (BFF)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5362456" y="7120175"/>
            <a:ext cx="376168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9239190" y="5916275"/>
            <a:ext cx="3952994" cy="1790581"/>
          </a:xfrm>
          <a:prstGeom prst="rect">
            <a:avLst/>
          </a:prstGeom>
          <a:solidFill>
            <a:srgbClr val="EDD9A8"/>
          </a:solidFill>
          <a:ln/>
        </p:spPr>
      </p:sp>
      <p:sp>
        <p:nvSpPr>
          <p:cNvPr id="35" name="Text 33"/>
          <p:cNvSpPr/>
          <p:nvPr/>
        </p:nvSpPr>
        <p:spPr>
          <a:xfrm>
            <a:off x="9505830" y="6182915"/>
            <a:ext cx="3522304" cy="704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25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ECS Fargate (Peça Habilitadora)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9505830" y="7120175"/>
            <a:ext cx="376168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3382565" y="5916275"/>
            <a:ext cx="3952994" cy="1790581"/>
          </a:xfrm>
          <a:prstGeom prst="rect">
            <a:avLst/>
          </a:prstGeom>
          <a:solidFill>
            <a:srgbClr val="EDD9A8"/>
          </a:solidFill>
          <a:ln/>
        </p:spPr>
      </p:sp>
      <p:sp>
        <p:nvSpPr>
          <p:cNvPr id="38" name="Text 36"/>
          <p:cNvSpPr/>
          <p:nvPr/>
        </p:nvSpPr>
        <p:spPr>
          <a:xfrm>
            <a:off x="13649205" y="6182915"/>
            <a:ext cx="3522304" cy="704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25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Artifactory HTTPS endpoints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3649205" y="7131605"/>
            <a:ext cx="376168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votar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952440" y="7897237"/>
            <a:ext cx="3952994" cy="1790581"/>
          </a:xfrm>
          <a:prstGeom prst="rect">
            <a:avLst/>
          </a:prstGeom>
          <a:solidFill>
            <a:srgbClr val="EDD9A8"/>
          </a:solidFill>
          <a:ln/>
        </p:spPr>
      </p:sp>
      <p:sp>
        <p:nvSpPr>
          <p:cNvPr id="41" name="Text 39"/>
          <p:cNvSpPr/>
          <p:nvPr/>
        </p:nvSpPr>
        <p:spPr>
          <a:xfrm>
            <a:off x="1219081" y="8163877"/>
            <a:ext cx="3522304" cy="704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25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no portal de credenciais + scopes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1219081" y="9101137"/>
            <a:ext cx="376168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5095815" y="7897237"/>
            <a:ext cx="3952994" cy="1790581"/>
          </a:xfrm>
          <a:prstGeom prst="rect">
            <a:avLst/>
          </a:prstGeom>
          <a:solidFill>
            <a:srgbClr val="EDD9A8"/>
          </a:solidFill>
          <a:ln/>
        </p:spPr>
      </p:sp>
      <p:sp>
        <p:nvSpPr>
          <p:cNvPr id="44" name="Text 42"/>
          <p:cNvSpPr/>
          <p:nvPr/>
        </p:nvSpPr>
        <p:spPr>
          <a:xfrm>
            <a:off x="5362456" y="8163877"/>
            <a:ext cx="3522304" cy="704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25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Secrets Manager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5362456" y="9101137"/>
            <a:ext cx="376168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40" y="1169610"/>
            <a:ext cx="342900" cy="342900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3" name="Text 1"/>
          <p:cNvSpPr/>
          <p:nvPr/>
        </p:nvSpPr>
        <p:spPr>
          <a:xfrm>
            <a:off x="1561981" y="952440"/>
            <a:ext cx="8349061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— desenvolvimento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440" y="2106870"/>
            <a:ext cx="3924240" cy="2799993"/>
          </a:xfrm>
          <a:prstGeom prst="rect">
            <a:avLst/>
          </a:prstGeom>
          <a:solidFill>
            <a:srgbClr val="BFD8EA"/>
          </a:solidFill>
          <a:ln/>
        </p:spPr>
      </p:sp>
      <p:sp>
        <p:nvSpPr>
          <p:cNvPr id="5" name="Text 3"/>
          <p:cNvSpPr/>
          <p:nvPr/>
        </p:nvSpPr>
        <p:spPr>
          <a:xfrm>
            <a:off x="1257121" y="2411551"/>
            <a:ext cx="3414325" cy="1109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Dependência do Artifactory de HTTPS endpoints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57121" y="4293572"/>
            <a:ext cx="3646366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E4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votar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105281" y="2106870"/>
            <a:ext cx="3924419" cy="2799993"/>
          </a:xfrm>
          <a:prstGeom prst="rect">
            <a:avLst/>
          </a:prstGeom>
          <a:solidFill>
            <a:srgbClr val="BFD8EA"/>
          </a:solidFill>
          <a:ln/>
        </p:spPr>
      </p:sp>
      <p:sp>
        <p:nvSpPr>
          <p:cNvPr id="8" name="Text 6"/>
          <p:cNvSpPr/>
          <p:nvPr/>
        </p:nvSpPr>
        <p:spPr>
          <a:xfrm>
            <a:off x="5409962" y="2411551"/>
            <a:ext cx="3414509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[Peça Habilitadora] Endpoints de fundos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409962" y="4293572"/>
            <a:ext cx="3646563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E4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votar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58299" y="2106870"/>
            <a:ext cx="3924240" cy="2799993"/>
          </a:xfrm>
          <a:prstGeom prst="rect">
            <a:avLst/>
          </a:prstGeom>
          <a:solidFill>
            <a:srgbClr val="BFD8EA"/>
          </a:solidFill>
          <a:ln/>
        </p:spPr>
      </p:sp>
      <p:sp>
        <p:nvSpPr>
          <p:cNvPr id="11" name="Text 9"/>
          <p:cNvSpPr/>
          <p:nvPr/>
        </p:nvSpPr>
        <p:spPr>
          <a:xfrm>
            <a:off x="9562980" y="2411551"/>
            <a:ext cx="341432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[Peça Habilitadora] Endpoints de termos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562980" y="4293572"/>
            <a:ext cx="3646366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E4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votar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411140" y="2106870"/>
            <a:ext cx="3924419" cy="2799993"/>
          </a:xfrm>
          <a:prstGeom prst="rect">
            <a:avLst/>
          </a:prstGeom>
          <a:solidFill>
            <a:srgbClr val="BFD8EA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5821" y="2411551"/>
            <a:ext cx="3414509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[Peça Habilitadora] Endpoints de perfil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3715821" y="4293572"/>
            <a:ext cx="3646563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E4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votar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440" y="5135463"/>
            <a:ext cx="3924240" cy="2799993"/>
          </a:xfrm>
          <a:prstGeom prst="rect">
            <a:avLst/>
          </a:prstGeom>
          <a:solidFill>
            <a:srgbClr val="BFD8EA"/>
          </a:solidFill>
          <a:ln/>
        </p:spPr>
      </p:sp>
      <p:sp>
        <p:nvSpPr>
          <p:cNvPr id="17" name="Text 15"/>
          <p:cNvSpPr/>
          <p:nvPr/>
        </p:nvSpPr>
        <p:spPr>
          <a:xfrm>
            <a:off x="1257121" y="5440144"/>
            <a:ext cx="3414325" cy="1109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[BFF] Endpoints complementares (fora da peça)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257121" y="7322165"/>
            <a:ext cx="3646366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E4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votar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105281" y="5135463"/>
            <a:ext cx="3924419" cy="2799993"/>
          </a:xfrm>
          <a:prstGeom prst="rect">
            <a:avLst/>
          </a:prstGeom>
          <a:solidFill>
            <a:srgbClr val="BFD8EA"/>
          </a:solidFill>
          <a:ln/>
        </p:spPr>
      </p:sp>
      <p:sp>
        <p:nvSpPr>
          <p:cNvPr id="20" name="Text 18"/>
          <p:cNvSpPr/>
          <p:nvPr/>
        </p:nvSpPr>
        <p:spPr>
          <a:xfrm>
            <a:off x="5409962" y="5440144"/>
            <a:ext cx="3414509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unitários (90% de cobertura)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5409962" y="7322165"/>
            <a:ext cx="3646563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E4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votar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258299" y="5135463"/>
            <a:ext cx="3924240" cy="2799993"/>
          </a:xfrm>
          <a:prstGeom prst="rect">
            <a:avLst/>
          </a:prstGeom>
          <a:solidFill>
            <a:srgbClr val="BFD8EA"/>
          </a:solidFill>
          <a:ln/>
        </p:spPr>
      </p:sp>
      <p:sp>
        <p:nvSpPr>
          <p:cNvPr id="23" name="Text 21"/>
          <p:cNvSpPr/>
          <p:nvPr/>
        </p:nvSpPr>
        <p:spPr>
          <a:xfrm>
            <a:off x="9562980" y="5440144"/>
            <a:ext cx="341432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entre BFF e Peça Centralizadora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562980" y="7322165"/>
            <a:ext cx="3646366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E4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votar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411140" y="5135463"/>
            <a:ext cx="3924419" cy="2799993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26" name="Text 24"/>
          <p:cNvSpPr/>
          <p:nvPr/>
        </p:nvSpPr>
        <p:spPr>
          <a:xfrm>
            <a:off x="13715821" y="5440144"/>
            <a:ext cx="3414509" cy="1077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Fundos, termos e perfil são trabalháveis em paralelo por pessoas diferentes.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40" y="1169610"/>
            <a:ext cx="342900" cy="342900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3" name="Text 1"/>
          <p:cNvSpPr/>
          <p:nvPr/>
        </p:nvSpPr>
        <p:spPr>
          <a:xfrm>
            <a:off x="1561981" y="952440"/>
            <a:ext cx="2576483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440" y="2106870"/>
            <a:ext cx="3924240" cy="2990552"/>
          </a:xfrm>
          <a:prstGeom prst="rect">
            <a:avLst/>
          </a:prstGeom>
          <a:solidFill>
            <a:srgbClr val="F0BFB6"/>
          </a:solidFill>
          <a:ln/>
        </p:spPr>
      </p:sp>
      <p:sp>
        <p:nvSpPr>
          <p:cNvPr id="5" name="Text 3"/>
          <p:cNvSpPr/>
          <p:nvPr/>
        </p:nvSpPr>
        <p:spPr>
          <a:xfrm>
            <a:off x="1257121" y="2411551"/>
            <a:ext cx="364636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E3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57121" y="2838212"/>
            <a:ext cx="341432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CloudFront + bucket S3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57121" y="4472702"/>
            <a:ext cx="36463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105281" y="2106870"/>
            <a:ext cx="3924419" cy="2990552"/>
          </a:xfrm>
          <a:prstGeom prst="rect">
            <a:avLst/>
          </a:prstGeom>
          <a:solidFill>
            <a:srgbClr val="F0BFB6"/>
          </a:solidFill>
          <a:ln/>
        </p:spPr>
      </p:sp>
      <p:sp>
        <p:nvSpPr>
          <p:cNvPr id="9" name="Text 7"/>
          <p:cNvSpPr/>
          <p:nvPr/>
        </p:nvSpPr>
        <p:spPr>
          <a:xfrm>
            <a:off x="5409962" y="2411551"/>
            <a:ext cx="364656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E3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409962" y="2838212"/>
            <a:ext cx="3414509" cy="1109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microfrontend Angular (Module Federation)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409962" y="4472702"/>
            <a:ext cx="364656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258299" y="2106870"/>
            <a:ext cx="3924240" cy="2990552"/>
          </a:xfrm>
          <a:prstGeom prst="rect">
            <a:avLst/>
          </a:prstGeom>
          <a:solidFill>
            <a:srgbClr val="F0BFB6"/>
          </a:solidFill>
          <a:ln/>
        </p:spPr>
      </p:sp>
      <p:sp>
        <p:nvSpPr>
          <p:cNvPr id="13" name="Text 11"/>
          <p:cNvSpPr/>
          <p:nvPr/>
        </p:nvSpPr>
        <p:spPr>
          <a:xfrm>
            <a:off x="9562980" y="2411551"/>
            <a:ext cx="364636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E3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562980" y="2838212"/>
            <a:ext cx="3414325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da primeira etapa da jornada transacional (IDS + WCAG)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562980" y="4484132"/>
            <a:ext cx="3646366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3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votar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411140" y="2106870"/>
            <a:ext cx="3924419" cy="2990552"/>
          </a:xfrm>
          <a:prstGeom prst="rect">
            <a:avLst/>
          </a:prstGeom>
          <a:solidFill>
            <a:srgbClr val="F0BFB6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5821" y="2411551"/>
            <a:ext cx="364656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E3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3715821" y="2838212"/>
            <a:ext cx="3414509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do modal de termos (IDS + WCAG)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3715821" y="4484132"/>
            <a:ext cx="3646563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3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votar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2440" y="5326023"/>
            <a:ext cx="3924240" cy="2990552"/>
          </a:xfrm>
          <a:prstGeom prst="rect">
            <a:avLst/>
          </a:prstGeom>
          <a:solidFill>
            <a:srgbClr val="F0BFB6"/>
          </a:solidFill>
          <a:ln/>
        </p:spPr>
      </p:sp>
      <p:sp>
        <p:nvSpPr>
          <p:cNvPr id="21" name="Text 19"/>
          <p:cNvSpPr/>
          <p:nvPr/>
        </p:nvSpPr>
        <p:spPr>
          <a:xfrm>
            <a:off x="1257121" y="5630703"/>
            <a:ext cx="364636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E3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257121" y="6057364"/>
            <a:ext cx="3414325" cy="1109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com endpoints backend — primeira etapa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257121" y="7703284"/>
            <a:ext cx="3646366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3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votar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105281" y="5326023"/>
            <a:ext cx="3924419" cy="2990552"/>
          </a:xfrm>
          <a:prstGeom prst="rect">
            <a:avLst/>
          </a:prstGeom>
          <a:solidFill>
            <a:srgbClr val="F0BFB6"/>
          </a:solidFill>
          <a:ln/>
        </p:spPr>
      </p:sp>
      <p:sp>
        <p:nvSpPr>
          <p:cNvPr id="25" name="Text 23"/>
          <p:cNvSpPr/>
          <p:nvPr/>
        </p:nvSpPr>
        <p:spPr>
          <a:xfrm>
            <a:off x="5409962" y="5630703"/>
            <a:ext cx="364656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E3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5409962" y="6057364"/>
            <a:ext cx="3414509" cy="1109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com endpoints backend — modal de termos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5409962" y="7703284"/>
            <a:ext cx="3646563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3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votar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258299" y="5326023"/>
            <a:ext cx="3924240" cy="2990552"/>
          </a:xfrm>
          <a:prstGeom prst="rect">
            <a:avLst/>
          </a:prstGeom>
          <a:solidFill>
            <a:srgbClr val="F0BFB6"/>
          </a:solidFill>
          <a:ln/>
        </p:spPr>
      </p:sp>
      <p:sp>
        <p:nvSpPr>
          <p:cNvPr id="29" name="Text 27"/>
          <p:cNvSpPr/>
          <p:nvPr/>
        </p:nvSpPr>
        <p:spPr>
          <a:xfrm>
            <a:off x="9562980" y="5630703"/>
            <a:ext cx="364636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E3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562980" y="6057364"/>
            <a:ext cx="341432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tagueamento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9562980" y="6924079"/>
            <a:ext cx="3414325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1800" dirty="0">
                <a:solidFill>
                  <a:srgbClr val="6E3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da techspec do time de design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562980" y="7703284"/>
            <a:ext cx="3646366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3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votar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3411140" y="5326023"/>
            <a:ext cx="3924419" cy="2990552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34" name="Text 32"/>
          <p:cNvSpPr/>
          <p:nvPr/>
        </p:nvSpPr>
        <p:spPr>
          <a:xfrm>
            <a:off x="13715821" y="5630703"/>
            <a:ext cx="3414509" cy="1423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seguem sem backend pronto usando os endpoints virtualizados da trilha de testes.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440" y="952440"/>
            <a:ext cx="18021430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e Testes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440" y="2129552"/>
            <a:ext cx="266640" cy="2666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Text 2"/>
          <p:cNvSpPr/>
          <p:nvPr/>
        </p:nvSpPr>
        <p:spPr>
          <a:xfrm>
            <a:off x="1409462" y="2068651"/>
            <a:ext cx="2180237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52440" y="2685871"/>
            <a:ext cx="3952994" cy="1771471"/>
          </a:xfrm>
          <a:prstGeom prst="rect">
            <a:avLst/>
          </a:prstGeom>
          <a:solidFill>
            <a:srgbClr val="EDD9A8"/>
          </a:solidFill>
          <a:ln/>
        </p:spPr>
      </p:sp>
      <p:sp>
        <p:nvSpPr>
          <p:cNvPr id="6" name="Text 4"/>
          <p:cNvSpPr/>
          <p:nvPr/>
        </p:nvSpPr>
        <p:spPr>
          <a:xfrm>
            <a:off x="1219140" y="2952571"/>
            <a:ext cx="3538184" cy="1276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Datadog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095815" y="2685871"/>
            <a:ext cx="3952994" cy="1771471"/>
          </a:xfrm>
          <a:prstGeom prst="rect">
            <a:avLst/>
          </a:prstGeom>
          <a:solidFill>
            <a:srgbClr val="EDD9A8"/>
          </a:solidFill>
          <a:ln/>
        </p:spPr>
      </p:sp>
      <p:sp>
        <p:nvSpPr>
          <p:cNvPr id="8" name="Text 6"/>
          <p:cNvSpPr/>
          <p:nvPr/>
        </p:nvSpPr>
        <p:spPr>
          <a:xfrm>
            <a:off x="5362515" y="2952571"/>
            <a:ext cx="3538184" cy="1276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Construção de dashboard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239190" y="2685871"/>
            <a:ext cx="3952994" cy="1771471"/>
          </a:xfrm>
          <a:prstGeom prst="rect">
            <a:avLst/>
          </a:prstGeom>
          <a:solidFill>
            <a:srgbClr val="EDD9A8"/>
          </a:solidFill>
          <a:ln/>
        </p:spPr>
      </p:sp>
      <p:sp>
        <p:nvSpPr>
          <p:cNvPr id="10" name="Text 8"/>
          <p:cNvSpPr/>
          <p:nvPr/>
        </p:nvSpPr>
        <p:spPr>
          <a:xfrm>
            <a:off x="9505890" y="2952571"/>
            <a:ext cx="3538184" cy="1276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de alarmes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3382565" y="2685871"/>
            <a:ext cx="3952994" cy="1771471"/>
          </a:xfrm>
          <a:prstGeom prst="rect">
            <a:avLst/>
          </a:prstGeom>
          <a:solidFill>
            <a:srgbClr val="EDD9A8"/>
          </a:solidFill>
          <a:ln/>
        </p:spPr>
      </p:sp>
      <p:sp>
        <p:nvSpPr>
          <p:cNvPr id="12" name="Text 10"/>
          <p:cNvSpPr/>
          <p:nvPr/>
        </p:nvSpPr>
        <p:spPr>
          <a:xfrm>
            <a:off x="13649265" y="2952571"/>
            <a:ext cx="3538184" cy="1276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Padronização de logs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52440" y="4937224"/>
            <a:ext cx="266640" cy="266640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14" name="Text 12"/>
          <p:cNvSpPr/>
          <p:nvPr/>
        </p:nvSpPr>
        <p:spPr>
          <a:xfrm>
            <a:off x="1409462" y="4876324"/>
            <a:ext cx="1067395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52440" y="5493543"/>
            <a:ext cx="5334059" cy="1771471"/>
          </a:xfrm>
          <a:prstGeom prst="rect">
            <a:avLst/>
          </a:prstGeom>
          <a:solidFill>
            <a:srgbClr val="C6DFCD"/>
          </a:solidFill>
          <a:ln/>
        </p:spPr>
      </p:sp>
      <p:sp>
        <p:nvSpPr>
          <p:cNvPr id="16" name="Text 14"/>
          <p:cNvSpPr/>
          <p:nvPr/>
        </p:nvSpPr>
        <p:spPr>
          <a:xfrm>
            <a:off x="1219140" y="5760243"/>
            <a:ext cx="4960681" cy="1276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massas específicas para a solução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6476881" y="5493543"/>
            <a:ext cx="5334059" cy="1771471"/>
          </a:xfrm>
          <a:prstGeom prst="rect">
            <a:avLst/>
          </a:prstGeom>
          <a:solidFill>
            <a:srgbClr val="C6DFCD"/>
          </a:solidFill>
          <a:ln/>
        </p:spPr>
      </p:sp>
      <p:sp>
        <p:nvSpPr>
          <p:cNvPr id="18" name="Text 16"/>
          <p:cNvSpPr/>
          <p:nvPr/>
        </p:nvSpPr>
        <p:spPr>
          <a:xfrm>
            <a:off x="6743581" y="5760243"/>
            <a:ext cx="4960681" cy="1276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de cenários de testes para TAAC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2001321" y="5493543"/>
            <a:ext cx="5334238" cy="1771471"/>
          </a:xfrm>
          <a:prstGeom prst="rect">
            <a:avLst/>
          </a:prstGeom>
          <a:solidFill>
            <a:srgbClr val="C6DFCD"/>
          </a:solidFill>
          <a:ln/>
        </p:spPr>
      </p:sp>
      <p:sp>
        <p:nvSpPr>
          <p:cNvPr id="20" name="Text 18"/>
          <p:cNvSpPr/>
          <p:nvPr/>
        </p:nvSpPr>
        <p:spPr>
          <a:xfrm>
            <a:off x="12268021" y="5760243"/>
            <a:ext cx="4960865" cy="1276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Virtualização dos endpoints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52440" y="7455396"/>
            <a:ext cx="5334059" cy="1771471"/>
          </a:xfrm>
          <a:prstGeom prst="rect">
            <a:avLst/>
          </a:prstGeom>
          <a:solidFill>
            <a:srgbClr val="C6DFCD"/>
          </a:solidFill>
          <a:ln/>
        </p:spPr>
      </p:sp>
      <p:sp>
        <p:nvSpPr>
          <p:cNvPr id="22" name="Text 20"/>
          <p:cNvSpPr/>
          <p:nvPr/>
        </p:nvSpPr>
        <p:spPr>
          <a:xfrm>
            <a:off x="1219140" y="7722096"/>
            <a:ext cx="4960681" cy="1276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da integração BFF × Peça Centralizadora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6476881" y="7455396"/>
            <a:ext cx="5334059" cy="1771471"/>
          </a:xfrm>
          <a:prstGeom prst="rect">
            <a:avLst/>
          </a:prstGeom>
          <a:solidFill>
            <a:srgbClr val="C6DFCD"/>
          </a:solidFill>
          <a:ln/>
        </p:spPr>
      </p:sp>
      <p:sp>
        <p:nvSpPr>
          <p:cNvPr id="24" name="Text 22"/>
          <p:cNvSpPr/>
          <p:nvPr/>
        </p:nvSpPr>
        <p:spPr>
          <a:xfrm>
            <a:off x="6743581" y="7722096"/>
            <a:ext cx="4960681" cy="1276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de TAAC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2001321" y="7455396"/>
            <a:ext cx="5334238" cy="1771471"/>
          </a:xfrm>
          <a:prstGeom prst="rect">
            <a:avLst/>
          </a:prstGeom>
          <a:solidFill>
            <a:srgbClr val="C6DFCD"/>
          </a:solidFill>
          <a:ln/>
        </p:spPr>
      </p:sp>
      <p:sp>
        <p:nvSpPr>
          <p:cNvPr id="26" name="Text 24"/>
          <p:cNvSpPr/>
          <p:nvPr/>
        </p:nvSpPr>
        <p:spPr>
          <a:xfrm>
            <a:off x="12268021" y="7722096"/>
            <a:ext cx="4960865" cy="1276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Preparar pacote para pentest e criação da tarefa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440" y="952440"/>
            <a:ext cx="18021430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Caminho crítico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440" y="2182951"/>
            <a:ext cx="2603540" cy="2479953"/>
          </a:xfrm>
          <a:prstGeom prst="rect">
            <a:avLst/>
          </a:prstGeom>
          <a:solidFill>
            <a:srgbClr val="1D242C"/>
          </a:solidFill>
          <a:ln/>
        </p:spPr>
      </p:sp>
      <p:sp>
        <p:nvSpPr>
          <p:cNvPr id="4" name="Text 2"/>
          <p:cNvSpPr/>
          <p:nvPr/>
        </p:nvSpPr>
        <p:spPr>
          <a:xfrm>
            <a:off x="1257121" y="2487632"/>
            <a:ext cx="219359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9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57121" y="2929473"/>
            <a:ext cx="2070378" cy="1109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 AWS YB3 e padrões de nome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3708320" y="2182951"/>
            <a:ext cx="2603718" cy="2479953"/>
          </a:xfrm>
          <a:prstGeom prst="rect">
            <a:avLst/>
          </a:prstGeom>
          <a:solidFill>
            <a:srgbClr val="1D242C"/>
          </a:solidFill>
          <a:ln/>
        </p:spPr>
      </p:sp>
      <p:sp>
        <p:nvSpPr>
          <p:cNvPr id="7" name="Text 5"/>
          <p:cNvSpPr/>
          <p:nvPr/>
        </p:nvSpPr>
        <p:spPr>
          <a:xfrm>
            <a:off x="4013001" y="2487632"/>
            <a:ext cx="2193792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8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013001" y="2929473"/>
            <a:ext cx="2070556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Repositórios de infra e rede (NLB, ALB, VPC Link)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6464379" y="2182951"/>
            <a:ext cx="2603540" cy="2479953"/>
          </a:xfrm>
          <a:prstGeom prst="rect">
            <a:avLst/>
          </a:prstGeom>
          <a:solidFill>
            <a:srgbClr val="1D242C"/>
          </a:solidFill>
          <a:ln/>
        </p:spPr>
      </p:sp>
      <p:sp>
        <p:nvSpPr>
          <p:cNvPr id="10" name="Text 8"/>
          <p:cNvSpPr/>
          <p:nvPr/>
        </p:nvSpPr>
        <p:spPr>
          <a:xfrm>
            <a:off x="6769060" y="2487632"/>
            <a:ext cx="219359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8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9060" y="2929473"/>
            <a:ext cx="2070378" cy="1109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ECS e containers Fargate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220259" y="2182951"/>
            <a:ext cx="2603540" cy="2479953"/>
          </a:xfrm>
          <a:prstGeom prst="rect">
            <a:avLst/>
          </a:prstGeom>
          <a:solidFill>
            <a:srgbClr val="1D242C"/>
          </a:solidFill>
          <a:ln/>
        </p:spPr>
      </p:sp>
      <p:sp>
        <p:nvSpPr>
          <p:cNvPr id="13" name="Text 11"/>
          <p:cNvSpPr/>
          <p:nvPr/>
        </p:nvSpPr>
        <p:spPr>
          <a:xfrm>
            <a:off x="9524940" y="2487632"/>
            <a:ext cx="219359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8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524940" y="2929473"/>
            <a:ext cx="2070378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da peça habilitadora e do BFF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1976139" y="2182951"/>
            <a:ext cx="2603540" cy="2479953"/>
          </a:xfrm>
          <a:prstGeom prst="rect">
            <a:avLst/>
          </a:prstGeom>
          <a:solidFill>
            <a:srgbClr val="1D242C"/>
          </a:solidFill>
          <a:ln/>
        </p:spPr>
      </p:sp>
      <p:sp>
        <p:nvSpPr>
          <p:cNvPr id="16" name="Text 14"/>
          <p:cNvSpPr/>
          <p:nvPr/>
        </p:nvSpPr>
        <p:spPr>
          <a:xfrm>
            <a:off x="12280820" y="2487632"/>
            <a:ext cx="219359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9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280820" y="2929473"/>
            <a:ext cx="2070378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frontend × BFF × Peça Centralizadora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4732019" y="2182951"/>
            <a:ext cx="2603540" cy="2479953"/>
          </a:xfrm>
          <a:prstGeom prst="rect">
            <a:avLst/>
          </a:prstGeom>
          <a:solidFill>
            <a:srgbClr val="1D242C"/>
          </a:solidFill>
          <a:ln/>
        </p:spPr>
      </p:sp>
      <p:sp>
        <p:nvSpPr>
          <p:cNvPr id="19" name="Text 17"/>
          <p:cNvSpPr/>
          <p:nvPr/>
        </p:nvSpPr>
        <p:spPr>
          <a:xfrm>
            <a:off x="15036700" y="2487632"/>
            <a:ext cx="219359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9A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36700" y="2929473"/>
            <a:ext cx="2070378" cy="1109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59"/>
              </a:lnSpc>
              <a:buNone/>
            </a:pPr>
            <a:r>
              <a:rPr lang="en-US" sz="22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TAAC, pentest e pacote de entrega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52440" y="5196185"/>
            <a:ext cx="5811476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BLOQUEIO DE ENTRADA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2440" y="5619095"/>
            <a:ext cx="544165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22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de endpoints define backend e frontend simultaneamente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6502241" y="5196185"/>
            <a:ext cx="5811672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DEPENDÊNCIA EXTERNA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02241" y="5619095"/>
            <a:ext cx="544183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22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Techspec do time de design para o tagueamento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2052220" y="5196185"/>
            <a:ext cx="5811476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DESACOPLADOR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052220" y="5619095"/>
            <a:ext cx="544165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22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Virtualização dos endpoints libera o frontend antes do backend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440" y="952440"/>
            <a:ext cx="18021430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roda em paralelo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771721" y="2068651"/>
            <a:ext cx="4419659" cy="700802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" name="Text 2"/>
          <p:cNvSpPr/>
          <p:nvPr/>
        </p:nvSpPr>
        <p:spPr>
          <a:xfrm>
            <a:off x="4000321" y="2259151"/>
            <a:ext cx="4095049" cy="357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 1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343721" y="2068651"/>
            <a:ext cx="4419659" cy="700802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6" name="Text 4"/>
          <p:cNvSpPr/>
          <p:nvPr/>
        </p:nvSpPr>
        <p:spPr>
          <a:xfrm>
            <a:off x="8572321" y="2259151"/>
            <a:ext cx="4095049" cy="357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 2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2915721" y="2068651"/>
            <a:ext cx="4419838" cy="700802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8" name="Text 6"/>
          <p:cNvSpPr/>
          <p:nvPr/>
        </p:nvSpPr>
        <p:spPr>
          <a:xfrm>
            <a:off x="13144321" y="2259151"/>
            <a:ext cx="4095233" cy="357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 3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52440" y="2921793"/>
            <a:ext cx="2666940" cy="3429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440" y="3184683"/>
            <a:ext cx="2746949" cy="696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Pré-requisitos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3771721" y="2921793"/>
            <a:ext cx="4419659" cy="1150144"/>
          </a:xfrm>
          <a:prstGeom prst="rect">
            <a:avLst/>
          </a:prstGeom>
          <a:solidFill>
            <a:srgbClr val="EEDFB6"/>
          </a:solidFill>
          <a:ln/>
        </p:spPr>
      </p:sp>
      <p:sp>
        <p:nvSpPr>
          <p:cNvPr id="12" name="Text 10"/>
          <p:cNvSpPr/>
          <p:nvPr/>
        </p:nvSpPr>
        <p:spPr>
          <a:xfrm>
            <a:off x="4000321" y="3150393"/>
            <a:ext cx="4095049" cy="731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Contratos, conta AWS, padrões e toggles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343721" y="2921793"/>
            <a:ext cx="4419659" cy="1150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572321" y="3150393"/>
            <a:ext cx="4095049" cy="731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2915721" y="2921793"/>
            <a:ext cx="4419838" cy="1150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3144321" y="3150393"/>
            <a:ext cx="4095233" cy="731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52440" y="4224278"/>
            <a:ext cx="2666940" cy="34290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18" name="Text 16"/>
          <p:cNvSpPr/>
          <p:nvPr/>
        </p:nvSpPr>
        <p:spPr>
          <a:xfrm>
            <a:off x="952440" y="4487168"/>
            <a:ext cx="2746949" cy="696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3771721" y="4224278"/>
            <a:ext cx="4419659" cy="1150144"/>
          </a:xfrm>
          <a:prstGeom prst="rect">
            <a:avLst/>
          </a:prstGeom>
          <a:solidFill>
            <a:srgbClr val="BFD8EA"/>
          </a:solidFill>
          <a:ln/>
        </p:spPr>
      </p:sp>
      <p:sp>
        <p:nvSpPr>
          <p:cNvPr id="20" name="Text 18"/>
          <p:cNvSpPr/>
          <p:nvPr/>
        </p:nvSpPr>
        <p:spPr>
          <a:xfrm>
            <a:off x="4000321" y="4452878"/>
            <a:ext cx="4095049" cy="731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Repositórios, rede, ECS, containers, credenciais e secrets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8343721" y="4224278"/>
            <a:ext cx="4419659" cy="1150144"/>
          </a:xfrm>
          <a:prstGeom prst="rect">
            <a:avLst/>
          </a:prstGeom>
          <a:solidFill>
            <a:srgbClr val="BFD8EA"/>
          </a:solidFill>
          <a:ln/>
        </p:spPr>
      </p:sp>
      <p:sp>
        <p:nvSpPr>
          <p:cNvPr id="22" name="Text 20"/>
          <p:cNvSpPr/>
          <p:nvPr/>
        </p:nvSpPr>
        <p:spPr>
          <a:xfrm>
            <a:off x="8572321" y="4452878"/>
            <a:ext cx="4095049" cy="731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de fundos, termos, perfil, BFF e testes unitários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2915721" y="4224278"/>
            <a:ext cx="4419838" cy="1150144"/>
          </a:xfrm>
          <a:prstGeom prst="rect">
            <a:avLst/>
          </a:prstGeom>
          <a:solidFill>
            <a:srgbClr val="BFD8EA"/>
          </a:solidFill>
          <a:ln/>
        </p:spPr>
      </p:sp>
      <p:sp>
        <p:nvSpPr>
          <p:cNvPr id="24" name="Text 22"/>
          <p:cNvSpPr/>
          <p:nvPr/>
        </p:nvSpPr>
        <p:spPr>
          <a:xfrm>
            <a:off x="13144321" y="4452878"/>
            <a:ext cx="4095233" cy="731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BFF × Peça Centralizadora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52440" y="5526762"/>
            <a:ext cx="2666940" cy="34290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26" name="Text 24"/>
          <p:cNvSpPr/>
          <p:nvPr/>
        </p:nvSpPr>
        <p:spPr>
          <a:xfrm>
            <a:off x="952440" y="5789652"/>
            <a:ext cx="2746949" cy="696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3771721" y="5526762"/>
            <a:ext cx="4419659" cy="1150144"/>
          </a:xfrm>
          <a:prstGeom prst="rect">
            <a:avLst/>
          </a:prstGeom>
          <a:solidFill>
            <a:srgbClr val="F0BFB6"/>
          </a:solidFill>
          <a:ln/>
        </p:spPr>
      </p:sp>
      <p:sp>
        <p:nvSpPr>
          <p:cNvPr id="28" name="Text 26"/>
          <p:cNvSpPr/>
          <p:nvPr/>
        </p:nvSpPr>
        <p:spPr>
          <a:xfrm>
            <a:off x="4000321" y="5755362"/>
            <a:ext cx="4095049" cy="731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CloudFront, S3 e microfrontend Angular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8343721" y="5526762"/>
            <a:ext cx="4419659" cy="1150144"/>
          </a:xfrm>
          <a:prstGeom prst="rect">
            <a:avLst/>
          </a:prstGeom>
          <a:solidFill>
            <a:srgbClr val="F0BFB6"/>
          </a:solidFill>
          <a:ln/>
        </p:spPr>
      </p:sp>
      <p:sp>
        <p:nvSpPr>
          <p:cNvPr id="30" name="Text 28"/>
          <p:cNvSpPr/>
          <p:nvPr/>
        </p:nvSpPr>
        <p:spPr>
          <a:xfrm>
            <a:off x="8572321" y="5755362"/>
            <a:ext cx="4095049" cy="731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da primeira etapa, modal de termos e tagueamento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12915721" y="5526762"/>
            <a:ext cx="4419838" cy="1150144"/>
          </a:xfrm>
          <a:prstGeom prst="rect">
            <a:avLst/>
          </a:prstGeom>
          <a:solidFill>
            <a:srgbClr val="F0BFB6"/>
          </a:solidFill>
          <a:ln/>
        </p:spPr>
      </p:sp>
      <p:sp>
        <p:nvSpPr>
          <p:cNvPr id="32" name="Text 30"/>
          <p:cNvSpPr/>
          <p:nvPr/>
        </p:nvSpPr>
        <p:spPr>
          <a:xfrm>
            <a:off x="13144321" y="5755362"/>
            <a:ext cx="4095233" cy="731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com endpoints reais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952440" y="6829246"/>
            <a:ext cx="2666940" cy="3429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4" name="Text 32"/>
          <p:cNvSpPr/>
          <p:nvPr/>
        </p:nvSpPr>
        <p:spPr>
          <a:xfrm>
            <a:off x="952440" y="7092136"/>
            <a:ext cx="2746949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3771721" y="6829246"/>
            <a:ext cx="4419659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000321" y="7057846"/>
            <a:ext cx="4095049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8343721" y="6829246"/>
            <a:ext cx="4419659" cy="822960"/>
          </a:xfrm>
          <a:prstGeom prst="rect">
            <a:avLst/>
          </a:prstGeom>
          <a:solidFill>
            <a:srgbClr val="EDD9A8"/>
          </a:solidFill>
          <a:ln/>
        </p:spPr>
      </p:sp>
      <p:sp>
        <p:nvSpPr>
          <p:cNvPr id="38" name="Text 36"/>
          <p:cNvSpPr/>
          <p:nvPr/>
        </p:nvSpPr>
        <p:spPr>
          <a:xfrm>
            <a:off x="8572321" y="7057846"/>
            <a:ext cx="4095049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Datadog e padronização de logs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12915721" y="6829246"/>
            <a:ext cx="4419838" cy="822960"/>
          </a:xfrm>
          <a:prstGeom prst="rect">
            <a:avLst/>
          </a:prstGeom>
          <a:solidFill>
            <a:srgbClr val="EDD9A8"/>
          </a:solidFill>
          <a:ln/>
        </p:spPr>
      </p:sp>
      <p:sp>
        <p:nvSpPr>
          <p:cNvPr id="40" name="Text 38"/>
          <p:cNvSpPr/>
          <p:nvPr/>
        </p:nvSpPr>
        <p:spPr>
          <a:xfrm>
            <a:off x="13144321" y="7057846"/>
            <a:ext cx="409523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e alarmes</a:t>
            </a:r>
            <a:endParaRPr lang="en-US" sz="2100" dirty="0"/>
          </a:p>
        </p:txBody>
      </p:sp>
      <p:sp>
        <p:nvSpPr>
          <p:cNvPr id="41" name="Shape 39"/>
          <p:cNvSpPr/>
          <p:nvPr/>
        </p:nvSpPr>
        <p:spPr>
          <a:xfrm>
            <a:off x="952440" y="7804546"/>
            <a:ext cx="2666940" cy="34290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42" name="Text 40"/>
          <p:cNvSpPr/>
          <p:nvPr/>
        </p:nvSpPr>
        <p:spPr>
          <a:xfrm>
            <a:off x="952440" y="8067436"/>
            <a:ext cx="2746949" cy="696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</a:t>
            </a:r>
            <a:endParaRPr lang="en-US" sz="2250" dirty="0"/>
          </a:p>
        </p:txBody>
      </p:sp>
      <p:sp>
        <p:nvSpPr>
          <p:cNvPr id="43" name="Shape 41"/>
          <p:cNvSpPr/>
          <p:nvPr/>
        </p:nvSpPr>
        <p:spPr>
          <a:xfrm>
            <a:off x="3771721" y="7804546"/>
            <a:ext cx="4419659" cy="1150144"/>
          </a:xfrm>
          <a:prstGeom prst="rect">
            <a:avLst/>
          </a:prstGeom>
          <a:solidFill>
            <a:srgbClr val="C6DFCD"/>
          </a:solidFill>
          <a:ln/>
        </p:spPr>
      </p:sp>
      <p:sp>
        <p:nvSpPr>
          <p:cNvPr id="44" name="Text 42"/>
          <p:cNvSpPr/>
          <p:nvPr/>
        </p:nvSpPr>
        <p:spPr>
          <a:xfrm>
            <a:off x="4000321" y="8033146"/>
            <a:ext cx="4095049" cy="731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Massas, cenários TAAC e virtualização dos endpoints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8343721" y="7804546"/>
            <a:ext cx="4419659" cy="1150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8572321" y="8033146"/>
            <a:ext cx="4095049" cy="731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Acompanhamento dos testes unitários</a:t>
            </a:r>
            <a:endParaRPr lang="en-US" sz="2100" dirty="0"/>
          </a:p>
        </p:txBody>
      </p:sp>
      <p:sp>
        <p:nvSpPr>
          <p:cNvPr id="47" name="Shape 45"/>
          <p:cNvSpPr/>
          <p:nvPr/>
        </p:nvSpPr>
        <p:spPr>
          <a:xfrm>
            <a:off x="12915721" y="7804546"/>
            <a:ext cx="4419838" cy="1150144"/>
          </a:xfrm>
          <a:prstGeom prst="rect">
            <a:avLst/>
          </a:prstGeom>
          <a:solidFill>
            <a:srgbClr val="C6DFCD"/>
          </a:solidFill>
          <a:ln/>
        </p:spPr>
      </p:sp>
      <p:sp>
        <p:nvSpPr>
          <p:cNvPr id="48" name="Text 46"/>
          <p:cNvSpPr/>
          <p:nvPr/>
        </p:nvSpPr>
        <p:spPr>
          <a:xfrm>
            <a:off x="13144321" y="8033146"/>
            <a:ext cx="4095233" cy="731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da integração, TAAC e pacote de pentest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440" y="952440"/>
            <a:ext cx="18021430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Poker: escala e regras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440" y="2144911"/>
            <a:ext cx="2571750" cy="2853571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" name="Text 2"/>
          <p:cNvSpPr/>
          <p:nvPr/>
        </p:nvSpPr>
        <p:spPr>
          <a:xfrm>
            <a:off x="2047577" y="2487811"/>
            <a:ext cx="457676" cy="826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142940" y="3466862"/>
            <a:ext cx="2190750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3043"/>
              </a:lnSpc>
              <a:buNone/>
            </a:pPr>
            <a:r>
              <a:rPr lang="en-US" sz="18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de repositório a partir de template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714571" y="2144911"/>
            <a:ext cx="2571928" cy="2853571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7" name="Text 5"/>
          <p:cNvSpPr/>
          <p:nvPr/>
        </p:nvSpPr>
        <p:spPr>
          <a:xfrm>
            <a:off x="4809708" y="2487811"/>
            <a:ext cx="457676" cy="826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905071" y="3466862"/>
            <a:ext cx="2190928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3043"/>
              </a:lnSpc>
              <a:buNone/>
            </a:pPr>
            <a:r>
              <a:rPr lang="en-US" sz="18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Provisionamento com configuração própria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76881" y="2144911"/>
            <a:ext cx="2571750" cy="2853571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0" name="Text 8"/>
          <p:cNvSpPr/>
          <p:nvPr/>
        </p:nvSpPr>
        <p:spPr>
          <a:xfrm>
            <a:off x="7572017" y="2487811"/>
            <a:ext cx="457676" cy="826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667381" y="3466862"/>
            <a:ext cx="2190750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3043"/>
              </a:lnSpc>
              <a:buNone/>
            </a:pPr>
            <a:r>
              <a:rPr lang="en-US" sz="18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com dependência de outro time ou portal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239011" y="2144911"/>
            <a:ext cx="2571928" cy="2853571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10334148" y="2487811"/>
            <a:ext cx="457676" cy="826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9429511" y="3466862"/>
            <a:ext cx="2190928" cy="1226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3043"/>
              </a:lnSpc>
              <a:buNone/>
            </a:pPr>
            <a:r>
              <a:rPr lang="en-US" sz="18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de endpoints ou componente completo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001321" y="2144911"/>
            <a:ext cx="2571928" cy="2853571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13096458" y="2487811"/>
            <a:ext cx="457676" cy="826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12191821" y="3466862"/>
            <a:ext cx="2190928" cy="1226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3043"/>
              </a:lnSpc>
              <a:buNone/>
            </a:pPr>
            <a:r>
              <a:rPr lang="en-US" sz="18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com integração e validação ponta a ponta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763630" y="2144911"/>
            <a:ext cx="2571928" cy="2853571"/>
          </a:xfrm>
          <a:prstGeom prst="rect">
            <a:avLst/>
          </a:prstGeom>
          <a:solidFill>
            <a:srgbClr val="3A424C"/>
          </a:solidFill>
          <a:ln/>
        </p:spPr>
      </p:sp>
      <p:sp>
        <p:nvSpPr>
          <p:cNvPr id="19" name="Text 17"/>
          <p:cNvSpPr/>
          <p:nvPr/>
        </p:nvSpPr>
        <p:spPr>
          <a:xfrm>
            <a:off x="15668029" y="2487811"/>
            <a:ext cx="839152" cy="826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14954130" y="3466862"/>
            <a:ext cx="2190928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3043"/>
              </a:lnSpc>
              <a:buNone/>
            </a:pPr>
            <a:r>
              <a:rPr lang="en-US" sz="18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 demais: quebrar antes de entrar na onda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2440" y="5493722"/>
            <a:ext cx="5755683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VOTAÇÃO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2440" y="5935563"/>
            <a:ext cx="5389413" cy="1195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revelam ao mesmo tempo; divergência de duas casas ou mais abre discussão e novo voto.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6527780" y="5493722"/>
            <a:ext cx="5755683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ÂNCORAS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27780" y="5935563"/>
            <a:ext cx="538941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cards já votados na sessão anterior valem como referência de 1, 2 e 3.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2103119" y="5493722"/>
            <a:ext cx="5755683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CONVERSÃO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103119" y="5935563"/>
            <a:ext cx="538941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ponto = 2 horas de trabalho efetivo, usado apenas para dimensionar capacity.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440" y="952440"/>
            <a:ext cx="5004643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Pauta de votação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4249458" y="1272480"/>
            <a:ext cx="3394710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cards · ~90 min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952440" y="1954351"/>
            <a:ext cx="3124319" cy="65151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5" name="Text 3"/>
          <p:cNvSpPr/>
          <p:nvPr/>
        </p:nvSpPr>
        <p:spPr>
          <a:xfrm>
            <a:off x="1161990" y="2125801"/>
            <a:ext cx="2798948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Pré-requisitos · 4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440" y="2701052"/>
            <a:ext cx="3124319" cy="563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23890" y="2834402"/>
            <a:ext cx="2875148" cy="335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dos endpoints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52440" y="3360241"/>
            <a:ext cx="3124319" cy="563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23890" y="3493591"/>
            <a:ext cx="2875148" cy="335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 AWS YB3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52440" y="4019431"/>
            <a:ext cx="3124319" cy="563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123890" y="4152781"/>
            <a:ext cx="2875148" cy="335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Padrões de nomes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52440" y="4678620"/>
            <a:ext cx="3124319" cy="563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23890" y="4811970"/>
            <a:ext cx="2875148" cy="335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Definição de toggles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4267140" y="1954351"/>
            <a:ext cx="3124319" cy="651510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15" name="Text 13"/>
          <p:cNvSpPr/>
          <p:nvPr/>
        </p:nvSpPr>
        <p:spPr>
          <a:xfrm>
            <a:off x="4476690" y="2125801"/>
            <a:ext cx="2798948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· 9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4267140" y="2701052"/>
            <a:ext cx="3124319" cy="861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438590" y="2834402"/>
            <a:ext cx="2875148" cy="63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Quickconfig portal manager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4267140" y="3657778"/>
            <a:ext cx="3124319" cy="861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438590" y="3791128"/>
            <a:ext cx="2875148" cy="63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Artifactory HTTPS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4267140" y="4614505"/>
            <a:ext cx="3124319" cy="861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438590" y="4747855"/>
            <a:ext cx="2875148" cy="63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Dependência do Artifactory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4267140" y="5571231"/>
            <a:ext cx="3124319" cy="563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438590" y="5704581"/>
            <a:ext cx="2875148" cy="335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de fundos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4267140" y="6230421"/>
            <a:ext cx="3124319" cy="563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438590" y="6363771"/>
            <a:ext cx="2875148" cy="335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de termos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4267140" y="6889611"/>
            <a:ext cx="3124319" cy="563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438590" y="7022961"/>
            <a:ext cx="2875148" cy="335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de perfil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4267140" y="7548800"/>
            <a:ext cx="3124319" cy="861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438590" y="7682150"/>
            <a:ext cx="2875148" cy="63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complementares BFF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4267140" y="8505527"/>
            <a:ext cx="3124319" cy="563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438590" y="8638877"/>
            <a:ext cx="2875148" cy="335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unitários 90%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4267140" y="9164716"/>
            <a:ext cx="3124319" cy="563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438590" y="9298066"/>
            <a:ext cx="2875148" cy="335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BFF × Peça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7581840" y="1954351"/>
            <a:ext cx="3124319" cy="651510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35" name="Text 33"/>
          <p:cNvSpPr/>
          <p:nvPr/>
        </p:nvSpPr>
        <p:spPr>
          <a:xfrm>
            <a:off x="7791390" y="2125801"/>
            <a:ext cx="2798948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· 5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7581840" y="2701052"/>
            <a:ext cx="3124319" cy="861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7753290" y="2834402"/>
            <a:ext cx="2875148" cy="63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primeira etapa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7581840" y="3657778"/>
            <a:ext cx="3124319" cy="861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7753290" y="3791128"/>
            <a:ext cx="2875148" cy="63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modal de termos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7581840" y="4614505"/>
            <a:ext cx="3124319" cy="861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7753290" y="4747855"/>
            <a:ext cx="2875148" cy="63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endpoints — etapa 1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7581840" y="5571231"/>
            <a:ext cx="3124319" cy="861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7753290" y="5704581"/>
            <a:ext cx="2875148" cy="63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endpoints — termos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7581840" y="6527959"/>
            <a:ext cx="3124319" cy="563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7753290" y="6661309"/>
            <a:ext cx="2875148" cy="335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Tagueamento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10896540" y="1954351"/>
            <a:ext cx="3124319" cy="65151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7" name="Text 45"/>
          <p:cNvSpPr/>
          <p:nvPr/>
        </p:nvSpPr>
        <p:spPr>
          <a:xfrm>
            <a:off x="11106090" y="2125801"/>
            <a:ext cx="2798948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· 4</a:t>
            </a:r>
            <a:endParaRPr lang="en-US" sz="2100" dirty="0"/>
          </a:p>
        </p:txBody>
      </p:sp>
      <p:sp>
        <p:nvSpPr>
          <p:cNvPr id="48" name="Shape 46"/>
          <p:cNvSpPr/>
          <p:nvPr/>
        </p:nvSpPr>
        <p:spPr>
          <a:xfrm>
            <a:off x="10896540" y="2701052"/>
            <a:ext cx="3124319" cy="563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11067990" y="2834402"/>
            <a:ext cx="2875148" cy="335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Datadog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10896540" y="3360241"/>
            <a:ext cx="3124319" cy="563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11067990" y="3493591"/>
            <a:ext cx="2875148" cy="335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Construção de dashboard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10896540" y="4019431"/>
            <a:ext cx="3124319" cy="563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11067990" y="4152781"/>
            <a:ext cx="2875148" cy="335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de alarmes</a:t>
            </a:r>
            <a:endParaRPr lang="en-US" sz="1875" dirty="0"/>
          </a:p>
        </p:txBody>
      </p:sp>
      <p:sp>
        <p:nvSpPr>
          <p:cNvPr id="54" name="Shape 52"/>
          <p:cNvSpPr/>
          <p:nvPr/>
        </p:nvSpPr>
        <p:spPr>
          <a:xfrm>
            <a:off x="10896540" y="4678620"/>
            <a:ext cx="3124319" cy="563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11067990" y="4811970"/>
            <a:ext cx="2875148" cy="335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Padronização de logs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14211240" y="1954351"/>
            <a:ext cx="3124319" cy="651510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57" name="Text 55"/>
          <p:cNvSpPr/>
          <p:nvPr/>
        </p:nvSpPr>
        <p:spPr>
          <a:xfrm>
            <a:off x="14420790" y="2125801"/>
            <a:ext cx="2798948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· 6</a:t>
            </a:r>
            <a:endParaRPr lang="en-US" sz="2100" dirty="0"/>
          </a:p>
        </p:txBody>
      </p:sp>
      <p:sp>
        <p:nvSpPr>
          <p:cNvPr id="58" name="Shape 56"/>
          <p:cNvSpPr/>
          <p:nvPr/>
        </p:nvSpPr>
        <p:spPr>
          <a:xfrm>
            <a:off x="14211240" y="2701052"/>
            <a:ext cx="3124319" cy="563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14382690" y="2834402"/>
            <a:ext cx="2875148" cy="335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Massas específicas</a:t>
            </a:r>
            <a:endParaRPr lang="en-US" sz="1875" dirty="0"/>
          </a:p>
        </p:txBody>
      </p:sp>
      <p:sp>
        <p:nvSpPr>
          <p:cNvPr id="60" name="Shape 58"/>
          <p:cNvSpPr/>
          <p:nvPr/>
        </p:nvSpPr>
        <p:spPr>
          <a:xfrm>
            <a:off x="14211240" y="3360241"/>
            <a:ext cx="3124319" cy="861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14382690" y="3493591"/>
            <a:ext cx="2875148" cy="63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de cenários TAAC</a:t>
            </a:r>
            <a:endParaRPr lang="en-US" sz="1875" dirty="0"/>
          </a:p>
        </p:txBody>
      </p:sp>
      <p:sp>
        <p:nvSpPr>
          <p:cNvPr id="62" name="Shape 60"/>
          <p:cNvSpPr/>
          <p:nvPr/>
        </p:nvSpPr>
        <p:spPr>
          <a:xfrm>
            <a:off x="14211240" y="4316968"/>
            <a:ext cx="3124319" cy="861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14382690" y="4450318"/>
            <a:ext cx="2875148" cy="63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Virtualização dos endpoints</a:t>
            </a:r>
            <a:endParaRPr lang="en-US" sz="1875" dirty="0"/>
          </a:p>
        </p:txBody>
      </p:sp>
      <p:sp>
        <p:nvSpPr>
          <p:cNvPr id="64" name="Shape 62"/>
          <p:cNvSpPr/>
          <p:nvPr/>
        </p:nvSpPr>
        <p:spPr>
          <a:xfrm>
            <a:off x="14211240" y="5273694"/>
            <a:ext cx="3124319" cy="563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14382690" y="5407044"/>
            <a:ext cx="2875148" cy="335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BFF × Peça</a:t>
            </a:r>
            <a:endParaRPr lang="en-US" sz="1875" dirty="0"/>
          </a:p>
        </p:txBody>
      </p:sp>
      <p:sp>
        <p:nvSpPr>
          <p:cNvPr id="66" name="Shape 64"/>
          <p:cNvSpPr/>
          <p:nvPr/>
        </p:nvSpPr>
        <p:spPr>
          <a:xfrm>
            <a:off x="14211240" y="5932884"/>
            <a:ext cx="3124319" cy="861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14382690" y="6066234"/>
            <a:ext cx="2875148" cy="63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de TAAC</a:t>
            </a:r>
            <a:endParaRPr lang="en-US" sz="1875" dirty="0"/>
          </a:p>
        </p:txBody>
      </p:sp>
      <p:sp>
        <p:nvSpPr>
          <p:cNvPr id="68" name="Shape 66"/>
          <p:cNvSpPr/>
          <p:nvPr/>
        </p:nvSpPr>
        <p:spPr>
          <a:xfrm>
            <a:off x="14211240" y="6889611"/>
            <a:ext cx="3124319" cy="563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14382690" y="7022961"/>
            <a:ext cx="2875148" cy="335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Pacote de pentest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440" y="952440"/>
            <a:ext cx="18021430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Premissas de capacity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440" y="2144911"/>
            <a:ext cx="5308520" cy="2338864"/>
          </a:xfrm>
          <a:prstGeom prst="rect">
            <a:avLst/>
          </a:prstGeom>
          <a:solidFill>
            <a:srgbClr val="1D242C"/>
          </a:solidFill>
          <a:ln/>
        </p:spPr>
      </p:sp>
      <p:sp>
        <p:nvSpPr>
          <p:cNvPr id="4" name="Text 2"/>
          <p:cNvSpPr/>
          <p:nvPr/>
        </p:nvSpPr>
        <p:spPr>
          <a:xfrm>
            <a:off x="1333381" y="2525851"/>
            <a:ext cx="5001303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381" y="2986802"/>
            <a:ext cx="5001303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semanas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33381" y="3756362"/>
            <a:ext cx="5001303" cy="384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dias úteis por onda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89561" y="2144911"/>
            <a:ext cx="5308699" cy="2338864"/>
          </a:xfrm>
          <a:prstGeom prst="rect">
            <a:avLst/>
          </a:prstGeom>
          <a:solidFill>
            <a:srgbClr val="1D242C"/>
          </a:solidFill>
          <a:ln/>
        </p:spPr>
      </p:sp>
      <p:sp>
        <p:nvSpPr>
          <p:cNvPr id="8" name="Text 6"/>
          <p:cNvSpPr/>
          <p:nvPr/>
        </p:nvSpPr>
        <p:spPr>
          <a:xfrm>
            <a:off x="6870501" y="2525851"/>
            <a:ext cx="50015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 PRODUTIVO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70501" y="2986802"/>
            <a:ext cx="5001500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horas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870501" y="3756362"/>
            <a:ext cx="5001500" cy="384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Descontadas cerimônias e suporte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2026860" y="2144911"/>
            <a:ext cx="5308520" cy="2338864"/>
          </a:xfrm>
          <a:prstGeom prst="rect">
            <a:avLst/>
          </a:prstGeom>
          <a:solidFill>
            <a:srgbClr val="1D242C"/>
          </a:solidFill>
          <a:ln/>
        </p:spPr>
      </p:sp>
      <p:sp>
        <p:nvSpPr>
          <p:cNvPr id="12" name="Text 10"/>
          <p:cNvSpPr/>
          <p:nvPr/>
        </p:nvSpPr>
        <p:spPr>
          <a:xfrm>
            <a:off x="12407800" y="2525851"/>
            <a:ext cx="5001303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CONVERSÃO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407800" y="2986802"/>
            <a:ext cx="5001303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 / ponto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2407800" y="3756362"/>
            <a:ext cx="5001303" cy="384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 definida no planejamento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52440" y="4979015"/>
            <a:ext cx="10515778" cy="2715696"/>
          </a:xfrm>
          <a:prstGeom prst="rect">
            <a:avLst/>
          </a:prstGeom>
          <a:solidFill>
            <a:srgbClr val="1D242C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381" y="5359955"/>
            <a:ext cx="10729286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SQUAD SUGERIDO — A CONFIRMAR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33381" y="5858946"/>
            <a:ext cx="2314414" cy="46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30"/>
              </a:lnSpc>
              <a:buNone/>
            </a:pPr>
            <a:r>
              <a:rPr lang="en-US" sz="240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devs backend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818334" y="5858946"/>
            <a:ext cx="2101066" cy="46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30"/>
              </a:lnSpc>
              <a:buNone/>
            </a:pPr>
            <a:r>
              <a:rPr lang="en-US" sz="240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dev frontend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109335" y="5858946"/>
            <a:ext cx="1828193" cy="46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30"/>
              </a:lnSpc>
              <a:buNone/>
            </a:pPr>
            <a:r>
              <a:rPr lang="en-US" sz="240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SRE / infra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152269" y="5858946"/>
            <a:ext cx="742890" cy="46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30"/>
              </a:lnSpc>
              <a:buNone/>
            </a:pPr>
            <a:r>
              <a:rPr lang="en-US" sz="240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QA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33381" y="6475988"/>
            <a:ext cx="10729286" cy="397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1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 nominal de 90 h por pessoa por onda, ou 450 h de squad.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1696819" y="4979015"/>
            <a:ext cx="5638740" cy="2715696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3" name="Text 21"/>
          <p:cNvSpPr/>
          <p:nvPr/>
        </p:nvSpPr>
        <p:spPr>
          <a:xfrm>
            <a:off x="12077759" y="5359955"/>
            <a:ext cx="536454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DEMANDA TOTAL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077759" y="5801796"/>
            <a:ext cx="536454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54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 h</a:t>
            </a:r>
            <a:endParaRPr lang="en-US" sz="5400" dirty="0"/>
          </a:p>
        </p:txBody>
      </p:sp>
      <p:sp>
        <p:nvSpPr>
          <p:cNvPr id="25" name="Text 23"/>
          <p:cNvSpPr/>
          <p:nvPr/>
        </p:nvSpPr>
        <p:spPr>
          <a:xfrm>
            <a:off x="12077759" y="6620827"/>
            <a:ext cx="5023165" cy="731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 pontos estimados no backlog completo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440" y="952440"/>
            <a:ext cx="18021430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por onda e por perfil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682960" y="2068651"/>
            <a:ext cx="2164377" cy="700802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" name="Text 2"/>
          <p:cNvSpPr/>
          <p:nvPr/>
        </p:nvSpPr>
        <p:spPr>
          <a:xfrm>
            <a:off x="3873460" y="2259151"/>
            <a:ext cx="1859577" cy="357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5980569" y="2068651"/>
            <a:ext cx="2164377" cy="700802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6" name="Text 4"/>
          <p:cNvSpPr/>
          <p:nvPr/>
        </p:nvSpPr>
        <p:spPr>
          <a:xfrm>
            <a:off x="6171069" y="2259151"/>
            <a:ext cx="1859577" cy="357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8278177" y="2068651"/>
            <a:ext cx="2164377" cy="700802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8" name="Text 6"/>
          <p:cNvSpPr/>
          <p:nvPr/>
        </p:nvSpPr>
        <p:spPr>
          <a:xfrm>
            <a:off x="8468677" y="2259151"/>
            <a:ext cx="1859577" cy="357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SRE / INFRA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575786" y="2068651"/>
            <a:ext cx="2164377" cy="700802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0" name="Text 8"/>
          <p:cNvSpPr/>
          <p:nvPr/>
        </p:nvSpPr>
        <p:spPr>
          <a:xfrm>
            <a:off x="10766286" y="2259151"/>
            <a:ext cx="1859577" cy="357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QA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2873394" y="2068651"/>
            <a:ext cx="2164377" cy="700802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3063894" y="2259151"/>
            <a:ext cx="1859577" cy="357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5171002" y="2068651"/>
            <a:ext cx="2164556" cy="700802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5361502" y="2259151"/>
            <a:ext cx="1859756" cy="357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HORAS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52440" y="3131284"/>
            <a:ext cx="2675208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Onda 1 · Fundação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3682960" y="2902684"/>
            <a:ext cx="2164377" cy="8343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911560" y="3131284"/>
            <a:ext cx="1783377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h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5980569" y="2902684"/>
            <a:ext cx="2164377" cy="8343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209169" y="3131284"/>
            <a:ext cx="1783377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h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8278177" y="2902684"/>
            <a:ext cx="2164377" cy="8343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506777" y="3131284"/>
            <a:ext cx="1783377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h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0575786" y="2902684"/>
            <a:ext cx="2164377" cy="8343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804386" y="3131284"/>
            <a:ext cx="1783377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h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2873394" y="2902684"/>
            <a:ext cx="2164377" cy="8343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3101994" y="3131284"/>
            <a:ext cx="1783377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15171002" y="2902684"/>
            <a:ext cx="2164556" cy="834390"/>
          </a:xfrm>
          <a:prstGeom prst="rect">
            <a:avLst/>
          </a:prstGeom>
          <a:solidFill>
            <a:srgbClr val="EEDFB6"/>
          </a:solidFill>
          <a:ln/>
        </p:spPr>
      </p:sp>
      <p:sp>
        <p:nvSpPr>
          <p:cNvPr id="27" name="Text 25"/>
          <p:cNvSpPr/>
          <p:nvPr/>
        </p:nvSpPr>
        <p:spPr>
          <a:xfrm>
            <a:off x="15399602" y="3131284"/>
            <a:ext cx="1783556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 </a:t>
            </a:r>
            <a:pPr algn="l" indent="0" marL="0">
              <a:buNone/>
            </a:pPr>
            <a:r>
              <a:rPr lang="en-US" sz="2250" dirty="0">
                <a:solidFill>
                  <a:srgbClr val="12161C"/>
                </a:solidFill>
                <a:highlight>
                  <a:srgbClr val="EEDFB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952440" y="4098905"/>
            <a:ext cx="2675208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Onda 2 · Desenvolvimento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3682960" y="3870305"/>
            <a:ext cx="2164377" cy="11201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911560" y="4098905"/>
            <a:ext cx="1783377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h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5980569" y="3870305"/>
            <a:ext cx="2164377" cy="11201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209169" y="4098905"/>
            <a:ext cx="1783377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h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8278177" y="3870305"/>
            <a:ext cx="2164377" cy="11201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8506777" y="4098905"/>
            <a:ext cx="1783377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h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10575786" y="3870305"/>
            <a:ext cx="2164377" cy="11201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10804386" y="4098905"/>
            <a:ext cx="1783377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12873394" y="3870305"/>
            <a:ext cx="2164377" cy="11201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13101994" y="4098905"/>
            <a:ext cx="1783377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</a:t>
            </a:r>
            <a:endParaRPr lang="en-US" sz="2250" dirty="0"/>
          </a:p>
        </p:txBody>
      </p:sp>
      <p:sp>
        <p:nvSpPr>
          <p:cNvPr id="39" name="Shape 37"/>
          <p:cNvSpPr/>
          <p:nvPr/>
        </p:nvSpPr>
        <p:spPr>
          <a:xfrm>
            <a:off x="15171002" y="3870305"/>
            <a:ext cx="2164556" cy="1120140"/>
          </a:xfrm>
          <a:prstGeom prst="rect">
            <a:avLst/>
          </a:prstGeom>
          <a:solidFill>
            <a:srgbClr val="EEDFB6"/>
          </a:solidFill>
          <a:ln/>
        </p:spPr>
      </p:sp>
      <p:sp>
        <p:nvSpPr>
          <p:cNvPr id="40" name="Text 38"/>
          <p:cNvSpPr/>
          <p:nvPr/>
        </p:nvSpPr>
        <p:spPr>
          <a:xfrm>
            <a:off x="15399602" y="4098905"/>
            <a:ext cx="1783556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 </a:t>
            </a:r>
            <a:pPr algn="l" indent="0" marL="0">
              <a:buNone/>
            </a:pPr>
            <a:r>
              <a:rPr lang="en-US" sz="2250" dirty="0">
                <a:solidFill>
                  <a:srgbClr val="12161C"/>
                </a:solidFill>
                <a:highlight>
                  <a:srgbClr val="EEDFB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2250" dirty="0"/>
          </a:p>
        </p:txBody>
      </p:sp>
      <p:sp>
        <p:nvSpPr>
          <p:cNvPr id="41" name="Text 39"/>
          <p:cNvSpPr/>
          <p:nvPr/>
        </p:nvSpPr>
        <p:spPr>
          <a:xfrm>
            <a:off x="952440" y="5352276"/>
            <a:ext cx="2675208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Onda 3 · Integração</a:t>
            </a:r>
            <a:endParaRPr lang="en-US" sz="2250" dirty="0"/>
          </a:p>
        </p:txBody>
      </p:sp>
      <p:sp>
        <p:nvSpPr>
          <p:cNvPr id="42" name="Shape 40"/>
          <p:cNvSpPr/>
          <p:nvPr/>
        </p:nvSpPr>
        <p:spPr>
          <a:xfrm>
            <a:off x="3682960" y="5123676"/>
            <a:ext cx="2164377" cy="8343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3911560" y="5352276"/>
            <a:ext cx="1783377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h</a:t>
            </a:r>
            <a:endParaRPr lang="en-US" sz="2250" dirty="0"/>
          </a:p>
        </p:txBody>
      </p:sp>
      <p:sp>
        <p:nvSpPr>
          <p:cNvPr id="44" name="Shape 42"/>
          <p:cNvSpPr/>
          <p:nvPr/>
        </p:nvSpPr>
        <p:spPr>
          <a:xfrm>
            <a:off x="5980569" y="5123676"/>
            <a:ext cx="2164377" cy="8343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209169" y="5352276"/>
            <a:ext cx="1783377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h</a:t>
            </a:r>
            <a:endParaRPr lang="en-US" sz="2250" dirty="0"/>
          </a:p>
        </p:txBody>
      </p:sp>
      <p:sp>
        <p:nvSpPr>
          <p:cNvPr id="46" name="Shape 44"/>
          <p:cNvSpPr/>
          <p:nvPr/>
        </p:nvSpPr>
        <p:spPr>
          <a:xfrm>
            <a:off x="8278177" y="5123676"/>
            <a:ext cx="2164377" cy="8343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8506777" y="5352276"/>
            <a:ext cx="1783377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h</a:t>
            </a:r>
            <a:endParaRPr lang="en-US" sz="2250" dirty="0"/>
          </a:p>
        </p:txBody>
      </p:sp>
      <p:sp>
        <p:nvSpPr>
          <p:cNvPr id="48" name="Shape 46"/>
          <p:cNvSpPr/>
          <p:nvPr/>
        </p:nvSpPr>
        <p:spPr>
          <a:xfrm>
            <a:off x="10575786" y="5123676"/>
            <a:ext cx="2164377" cy="8343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10804386" y="5352276"/>
            <a:ext cx="1783377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h</a:t>
            </a:r>
            <a:endParaRPr lang="en-US" sz="2250" dirty="0"/>
          </a:p>
        </p:txBody>
      </p:sp>
      <p:sp>
        <p:nvSpPr>
          <p:cNvPr id="50" name="Shape 48"/>
          <p:cNvSpPr/>
          <p:nvPr/>
        </p:nvSpPr>
        <p:spPr>
          <a:xfrm>
            <a:off x="12873394" y="5123676"/>
            <a:ext cx="2164377" cy="8343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13101994" y="5352276"/>
            <a:ext cx="1783377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2250" dirty="0"/>
          </a:p>
        </p:txBody>
      </p:sp>
      <p:sp>
        <p:nvSpPr>
          <p:cNvPr id="52" name="Shape 50"/>
          <p:cNvSpPr/>
          <p:nvPr/>
        </p:nvSpPr>
        <p:spPr>
          <a:xfrm>
            <a:off x="15171002" y="5123676"/>
            <a:ext cx="2164556" cy="834390"/>
          </a:xfrm>
          <a:prstGeom prst="rect">
            <a:avLst/>
          </a:prstGeom>
          <a:solidFill>
            <a:srgbClr val="EEDFB6"/>
          </a:solidFill>
          <a:ln/>
        </p:spPr>
      </p:sp>
      <p:sp>
        <p:nvSpPr>
          <p:cNvPr id="53" name="Text 51"/>
          <p:cNvSpPr/>
          <p:nvPr/>
        </p:nvSpPr>
        <p:spPr>
          <a:xfrm>
            <a:off x="15399602" y="5352276"/>
            <a:ext cx="1783556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 </a:t>
            </a:r>
            <a:pPr algn="l" indent="0" marL="0">
              <a:buNone/>
            </a:pPr>
            <a:r>
              <a:rPr lang="en-US" sz="2250" dirty="0">
                <a:solidFill>
                  <a:srgbClr val="12161C"/>
                </a:solidFill>
                <a:highlight>
                  <a:srgbClr val="EEDFB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2250" dirty="0"/>
          </a:p>
        </p:txBody>
      </p:sp>
      <p:sp>
        <p:nvSpPr>
          <p:cNvPr id="54" name="Text 52"/>
          <p:cNvSpPr/>
          <p:nvPr/>
        </p:nvSpPr>
        <p:spPr>
          <a:xfrm>
            <a:off x="952440" y="6319897"/>
            <a:ext cx="2675208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2250" dirty="0"/>
          </a:p>
        </p:txBody>
      </p:sp>
      <p:sp>
        <p:nvSpPr>
          <p:cNvPr id="55" name="Shape 53"/>
          <p:cNvSpPr/>
          <p:nvPr/>
        </p:nvSpPr>
        <p:spPr>
          <a:xfrm>
            <a:off x="3682960" y="6091297"/>
            <a:ext cx="2164377" cy="83439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56" name="Text 54"/>
          <p:cNvSpPr/>
          <p:nvPr/>
        </p:nvSpPr>
        <p:spPr>
          <a:xfrm>
            <a:off x="3911560" y="6319897"/>
            <a:ext cx="1783377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h</a:t>
            </a:r>
            <a:endParaRPr lang="en-US" sz="2250" dirty="0"/>
          </a:p>
        </p:txBody>
      </p:sp>
      <p:sp>
        <p:nvSpPr>
          <p:cNvPr id="57" name="Shape 55"/>
          <p:cNvSpPr/>
          <p:nvPr/>
        </p:nvSpPr>
        <p:spPr>
          <a:xfrm>
            <a:off x="5980569" y="6091297"/>
            <a:ext cx="2164377" cy="83439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58" name="Text 56"/>
          <p:cNvSpPr/>
          <p:nvPr/>
        </p:nvSpPr>
        <p:spPr>
          <a:xfrm>
            <a:off x="6209169" y="6319897"/>
            <a:ext cx="1783377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h</a:t>
            </a:r>
            <a:endParaRPr lang="en-US" sz="2250" dirty="0"/>
          </a:p>
        </p:txBody>
      </p:sp>
      <p:sp>
        <p:nvSpPr>
          <p:cNvPr id="59" name="Shape 57"/>
          <p:cNvSpPr/>
          <p:nvPr/>
        </p:nvSpPr>
        <p:spPr>
          <a:xfrm>
            <a:off x="8278177" y="6091297"/>
            <a:ext cx="2164377" cy="83439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60" name="Text 58"/>
          <p:cNvSpPr/>
          <p:nvPr/>
        </p:nvSpPr>
        <p:spPr>
          <a:xfrm>
            <a:off x="8506777" y="6319897"/>
            <a:ext cx="1783377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h</a:t>
            </a:r>
            <a:endParaRPr lang="en-US" sz="2250" dirty="0"/>
          </a:p>
        </p:txBody>
      </p:sp>
      <p:sp>
        <p:nvSpPr>
          <p:cNvPr id="61" name="Shape 59"/>
          <p:cNvSpPr/>
          <p:nvPr/>
        </p:nvSpPr>
        <p:spPr>
          <a:xfrm>
            <a:off x="10575786" y="6091297"/>
            <a:ext cx="2164377" cy="83439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62" name="Text 60"/>
          <p:cNvSpPr/>
          <p:nvPr/>
        </p:nvSpPr>
        <p:spPr>
          <a:xfrm>
            <a:off x="10804386" y="6319897"/>
            <a:ext cx="1783377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h</a:t>
            </a:r>
            <a:endParaRPr lang="en-US" sz="2250" dirty="0"/>
          </a:p>
        </p:txBody>
      </p:sp>
      <p:sp>
        <p:nvSpPr>
          <p:cNvPr id="63" name="Shape 61"/>
          <p:cNvSpPr/>
          <p:nvPr/>
        </p:nvSpPr>
        <p:spPr>
          <a:xfrm>
            <a:off x="12873394" y="6091297"/>
            <a:ext cx="2164377" cy="83439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64" name="Text 62"/>
          <p:cNvSpPr/>
          <p:nvPr/>
        </p:nvSpPr>
        <p:spPr>
          <a:xfrm>
            <a:off x="13101994" y="6319897"/>
            <a:ext cx="1783377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121</a:t>
            </a:r>
            <a:endParaRPr lang="en-US" sz="2250" dirty="0"/>
          </a:p>
        </p:txBody>
      </p:sp>
      <p:sp>
        <p:nvSpPr>
          <p:cNvPr id="65" name="Shape 63"/>
          <p:cNvSpPr/>
          <p:nvPr/>
        </p:nvSpPr>
        <p:spPr>
          <a:xfrm>
            <a:off x="15171002" y="6091297"/>
            <a:ext cx="2164556" cy="83439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66" name="Text 64"/>
          <p:cNvSpPr/>
          <p:nvPr/>
        </p:nvSpPr>
        <p:spPr>
          <a:xfrm>
            <a:off x="15399602" y="6319897"/>
            <a:ext cx="1783556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242 </a:t>
            </a:r>
            <a:pPr algn="l" indent="0" marL="0">
              <a:buNone/>
            </a:pPr>
            <a:r>
              <a:rPr lang="en-US" sz="2250" dirty="0">
                <a:solidFill>
                  <a:srgbClr val="12161C"/>
                </a:solidFill>
                <a:highlight>
                  <a:srgbClr val="C99A2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2250" dirty="0"/>
          </a:p>
        </p:txBody>
      </p:sp>
      <p:sp>
        <p:nvSpPr>
          <p:cNvPr id="67" name="Text 65"/>
          <p:cNvSpPr/>
          <p:nvPr/>
        </p:nvSpPr>
        <p:spPr>
          <a:xfrm>
            <a:off x="952440" y="7344667"/>
            <a:ext cx="14716124" cy="811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309"/>
              </a:lnSpc>
              <a:buNone/>
            </a:pPr>
            <a:r>
              <a:rPr lang="en-US" sz="21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conversão de 2 horas por ponto deixa cada onda bem abaixo da capacidade nominal do squad. Recomendação: revisar a razão hora/ponto na primeira retrospectiva, usando a Onda 1 como calibragem.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440" y="952440"/>
            <a:ext cx="9093029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por ondas de entrega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4295536" y="1306770"/>
            <a:ext cx="33440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semanas · 3 ondas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562052" y="2106870"/>
            <a:ext cx="4502348" cy="624721"/>
          </a:xfrm>
          <a:prstGeom prst="rect">
            <a:avLst/>
          </a:prstGeom>
          <a:solidFill>
            <a:srgbClr val="1D242C"/>
          </a:solidFill>
          <a:ln/>
        </p:spPr>
      </p:sp>
      <p:sp>
        <p:nvSpPr>
          <p:cNvPr id="5" name="Text 3"/>
          <p:cNvSpPr/>
          <p:nvPr/>
        </p:nvSpPr>
        <p:spPr>
          <a:xfrm>
            <a:off x="3790652" y="2259270"/>
            <a:ext cx="4180219" cy="35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8CC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 1 · SEMANAS 1–3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8197631" y="2106870"/>
            <a:ext cx="4502348" cy="624721"/>
          </a:xfrm>
          <a:prstGeom prst="rect">
            <a:avLst/>
          </a:prstGeom>
          <a:solidFill>
            <a:srgbClr val="1D242C"/>
          </a:solidFill>
          <a:ln/>
        </p:spPr>
      </p:sp>
      <p:sp>
        <p:nvSpPr>
          <p:cNvPr id="7" name="Text 5"/>
          <p:cNvSpPr/>
          <p:nvPr/>
        </p:nvSpPr>
        <p:spPr>
          <a:xfrm>
            <a:off x="8426231" y="2259270"/>
            <a:ext cx="4180219" cy="35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8CC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 2 · SEMANAS 4–6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2833211" y="2106870"/>
            <a:ext cx="4502348" cy="624721"/>
          </a:xfrm>
          <a:prstGeom prst="rect">
            <a:avLst/>
          </a:prstGeom>
          <a:solidFill>
            <a:srgbClr val="1D242C"/>
          </a:solidFill>
          <a:ln/>
        </p:spPr>
      </p:sp>
      <p:sp>
        <p:nvSpPr>
          <p:cNvPr id="9" name="Text 7"/>
          <p:cNvSpPr/>
          <p:nvPr/>
        </p:nvSpPr>
        <p:spPr>
          <a:xfrm>
            <a:off x="13061811" y="2259270"/>
            <a:ext cx="4180219" cy="358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8CC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 3 · SEMANAS 7–9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52440" y="3036272"/>
            <a:ext cx="2552581" cy="694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Pré-requisitos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562052" y="2864822"/>
            <a:ext cx="4502348" cy="99976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12" name="Text 10"/>
          <p:cNvSpPr/>
          <p:nvPr/>
        </p:nvSpPr>
        <p:spPr>
          <a:xfrm>
            <a:off x="3790652" y="3055322"/>
            <a:ext cx="4180219" cy="656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Contratos, conta AWS, nomes e toggles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52440" y="4169271"/>
            <a:ext cx="2552581" cy="694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3562052" y="3997821"/>
            <a:ext cx="4502348" cy="999768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15" name="Text 13"/>
          <p:cNvSpPr/>
          <p:nvPr/>
        </p:nvSpPr>
        <p:spPr>
          <a:xfrm>
            <a:off x="3790652" y="4188321"/>
            <a:ext cx="4180219" cy="656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Infra, gateways e containers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8197631" y="3997821"/>
            <a:ext cx="4502348" cy="999768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17" name="Text 15"/>
          <p:cNvSpPr/>
          <p:nvPr/>
        </p:nvSpPr>
        <p:spPr>
          <a:xfrm>
            <a:off x="8426231" y="4188321"/>
            <a:ext cx="4180219" cy="656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da peça e do BFF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2833211" y="3997821"/>
            <a:ext cx="4502348" cy="999768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19" name="Text 17"/>
          <p:cNvSpPr/>
          <p:nvPr/>
        </p:nvSpPr>
        <p:spPr>
          <a:xfrm>
            <a:off x="13061811" y="4188321"/>
            <a:ext cx="4180219" cy="656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com a Peça Centralizadora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52440" y="5302269"/>
            <a:ext cx="2552581" cy="38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3562052" y="5130819"/>
            <a:ext cx="4502348" cy="690265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22" name="Text 20"/>
          <p:cNvSpPr/>
          <p:nvPr/>
        </p:nvSpPr>
        <p:spPr>
          <a:xfrm>
            <a:off x="3790652" y="5321319"/>
            <a:ext cx="4180219" cy="347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CloudFront, S3 e microfrontend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8197631" y="5130819"/>
            <a:ext cx="4502348" cy="690265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24" name="Text 22"/>
          <p:cNvSpPr/>
          <p:nvPr/>
        </p:nvSpPr>
        <p:spPr>
          <a:xfrm>
            <a:off x="8426231" y="5321319"/>
            <a:ext cx="4180219" cy="347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e tagueamento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2833211" y="5130819"/>
            <a:ext cx="4502348" cy="690265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26" name="Text 24"/>
          <p:cNvSpPr/>
          <p:nvPr/>
        </p:nvSpPr>
        <p:spPr>
          <a:xfrm>
            <a:off x="13061811" y="5321319"/>
            <a:ext cx="4180219" cy="347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com endpoints reais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52440" y="6125765"/>
            <a:ext cx="2552581" cy="38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8197631" y="5954315"/>
            <a:ext cx="4502348" cy="690265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9" name="Text 27"/>
          <p:cNvSpPr/>
          <p:nvPr/>
        </p:nvSpPr>
        <p:spPr>
          <a:xfrm>
            <a:off x="8426231" y="6144815"/>
            <a:ext cx="4180219" cy="347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Datadog e logs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2833211" y="5954315"/>
            <a:ext cx="4502348" cy="690265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1" name="Text 29"/>
          <p:cNvSpPr/>
          <p:nvPr/>
        </p:nvSpPr>
        <p:spPr>
          <a:xfrm>
            <a:off x="13061811" y="6144815"/>
            <a:ext cx="4180219" cy="347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e alarmes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952440" y="6949261"/>
            <a:ext cx="2552581" cy="38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3562052" y="6777811"/>
            <a:ext cx="4502348" cy="690265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34" name="Text 32"/>
          <p:cNvSpPr/>
          <p:nvPr/>
        </p:nvSpPr>
        <p:spPr>
          <a:xfrm>
            <a:off x="3790652" y="6968311"/>
            <a:ext cx="4180219" cy="347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Massas, cenários e virtualização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12833211" y="6777811"/>
            <a:ext cx="4502348" cy="690265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36" name="Text 34"/>
          <p:cNvSpPr/>
          <p:nvPr/>
        </p:nvSpPr>
        <p:spPr>
          <a:xfrm>
            <a:off x="13061811" y="6968311"/>
            <a:ext cx="4180219" cy="347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TAAC, validação e pentest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952440" y="7772757"/>
            <a:ext cx="2552581" cy="717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3562052" y="7601307"/>
            <a:ext cx="4502348" cy="1022628"/>
          </a:xfrm>
          <a:prstGeom prst="rect">
            <a:avLst/>
          </a:prstGeom>
          <a:ln w="11430">
            <a:solidFill>
              <a:srgbClr val="F5F2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02082" y="7803237"/>
            <a:ext cx="4157359" cy="656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9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provisionado ponta a ponta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8197631" y="7601307"/>
            <a:ext cx="4502348" cy="1022628"/>
          </a:xfrm>
          <a:prstGeom prst="rect">
            <a:avLst/>
          </a:prstGeom>
          <a:ln w="11430">
            <a:solidFill>
              <a:srgbClr val="F5F2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37661" y="7803237"/>
            <a:ext cx="4157359" cy="656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9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funcional com endpoints virtualizados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12833211" y="7601307"/>
            <a:ext cx="4502348" cy="1022628"/>
          </a:xfrm>
          <a:prstGeom prst="rect">
            <a:avLst/>
          </a:prstGeom>
          <a:ln w="11430">
            <a:solidFill>
              <a:srgbClr val="F5F2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073241" y="7803237"/>
            <a:ext cx="4157359" cy="656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9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integrada e pacote de pentest</a:t>
            </a:r>
            <a:endParaRPr lang="en-US" sz="1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440" y="1158180"/>
            <a:ext cx="1357884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 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491561" y="952440"/>
            <a:ext cx="2875091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Fundação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440" y="2068651"/>
            <a:ext cx="11790723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440" y="2636222"/>
            <a:ext cx="5283160" cy="1111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161990" y="2845772"/>
            <a:ext cx="502255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Contratos, conta AWS YB3, padrões de nome e toggles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387941" y="2636222"/>
            <a:ext cx="5283339" cy="1111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597491" y="2845772"/>
            <a:ext cx="5022739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repositórios de gateway (infra e contrato)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52440" y="3900487"/>
            <a:ext cx="5283160" cy="1111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161990" y="4110037"/>
            <a:ext cx="502255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Rede: NLB, ALB e VPC Link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387941" y="3900487"/>
            <a:ext cx="5283339" cy="1111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97491" y="4110037"/>
            <a:ext cx="5022739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ECS e containers Fargate (BFF e peça)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52440" y="5164752"/>
            <a:ext cx="5283160" cy="7654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61990" y="5374302"/>
            <a:ext cx="5022555" cy="384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Caronte, cache Valkey e quickconfig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6387941" y="5164752"/>
            <a:ext cx="5283339" cy="7654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97491" y="5374302"/>
            <a:ext cx="5022739" cy="384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de credenciais e Secrets Manager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52440" y="6082546"/>
            <a:ext cx="5283160" cy="1111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61990" y="6292096"/>
            <a:ext cx="502255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CloudFront, S3 e microfrontend Angular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6387941" y="6082546"/>
            <a:ext cx="5283339" cy="1111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597491" y="6292096"/>
            <a:ext cx="5022739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Massas, cenários TAAC e virtualização dos endpoints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1975961" y="2068651"/>
            <a:ext cx="5359598" cy="1710392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22" name="Text 20"/>
          <p:cNvSpPr/>
          <p:nvPr/>
        </p:nvSpPr>
        <p:spPr>
          <a:xfrm>
            <a:off x="12280641" y="2373332"/>
            <a:ext cx="522526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280641" y="2777133"/>
            <a:ext cx="5225260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4800" dirty="0"/>
          </a:p>
        </p:txBody>
      </p:sp>
      <p:sp>
        <p:nvSpPr>
          <p:cNvPr id="24" name="Shape 22"/>
          <p:cNvSpPr/>
          <p:nvPr/>
        </p:nvSpPr>
        <p:spPr>
          <a:xfrm>
            <a:off x="11975961" y="3931384"/>
            <a:ext cx="5359598" cy="1710392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5" name="Text 23"/>
          <p:cNvSpPr/>
          <p:nvPr/>
        </p:nvSpPr>
        <p:spPr>
          <a:xfrm>
            <a:off x="12280641" y="4236065"/>
            <a:ext cx="522526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HORAS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280641" y="4639865"/>
            <a:ext cx="5225260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4800" dirty="0"/>
          </a:p>
        </p:txBody>
      </p:sp>
      <p:sp>
        <p:nvSpPr>
          <p:cNvPr id="27" name="Shape 25"/>
          <p:cNvSpPr/>
          <p:nvPr/>
        </p:nvSpPr>
        <p:spPr>
          <a:xfrm>
            <a:off x="11975961" y="5794117"/>
            <a:ext cx="5359598" cy="37310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2280641" y="6098798"/>
            <a:ext cx="522526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 DE SAÍDA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280641" y="6521708"/>
            <a:ext cx="4892743" cy="1117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sobe no cluster, pipeline roda ponta a ponta e o frontend consome endpoints virtualizados.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440" y="1158180"/>
            <a:ext cx="1357884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491561" y="952440"/>
            <a:ext cx="4942171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440" y="2068651"/>
            <a:ext cx="11790723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440" y="2636222"/>
            <a:ext cx="5283160" cy="1111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161990" y="2845772"/>
            <a:ext cx="502255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de fundos, termos e perfil na peça habilitadora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387941" y="2636222"/>
            <a:ext cx="5283339" cy="1111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597491" y="2845772"/>
            <a:ext cx="5022739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complementares no BFF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52440" y="3900487"/>
            <a:ext cx="5283160" cy="1111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161990" y="4110037"/>
            <a:ext cx="502255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Dependência do Artifactory de HTTPS endpoints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387941" y="3900487"/>
            <a:ext cx="5283339" cy="1111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97491" y="4110037"/>
            <a:ext cx="5022739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unitários com 90% de cobertura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52440" y="5164752"/>
            <a:ext cx="5283160" cy="1111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61990" y="5374302"/>
            <a:ext cx="502255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da primeira etapa da jornada (IDS + WCAG)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6387941" y="5164752"/>
            <a:ext cx="5283339" cy="1111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97491" y="5374302"/>
            <a:ext cx="5022739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do modal de termos (IDS + WCAG)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52440" y="6429017"/>
            <a:ext cx="5283160" cy="1111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61990" y="6638567"/>
            <a:ext cx="502255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Tagueamento, após a techspec de design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6387941" y="6429017"/>
            <a:ext cx="5283339" cy="1111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597491" y="6638567"/>
            <a:ext cx="5022739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Datadog e padronização de logs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1975961" y="2068651"/>
            <a:ext cx="5359598" cy="1710392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22" name="Text 20"/>
          <p:cNvSpPr/>
          <p:nvPr/>
        </p:nvSpPr>
        <p:spPr>
          <a:xfrm>
            <a:off x="12280641" y="2373332"/>
            <a:ext cx="522526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280641" y="2777133"/>
            <a:ext cx="5225260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4800" dirty="0"/>
          </a:p>
        </p:txBody>
      </p:sp>
      <p:sp>
        <p:nvSpPr>
          <p:cNvPr id="24" name="Shape 22"/>
          <p:cNvSpPr/>
          <p:nvPr/>
        </p:nvSpPr>
        <p:spPr>
          <a:xfrm>
            <a:off x="11975961" y="3931384"/>
            <a:ext cx="5359598" cy="1710392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5" name="Text 23"/>
          <p:cNvSpPr/>
          <p:nvPr/>
        </p:nvSpPr>
        <p:spPr>
          <a:xfrm>
            <a:off x="12280641" y="4236065"/>
            <a:ext cx="522526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HORAS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280641" y="4639865"/>
            <a:ext cx="5225260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4800" dirty="0"/>
          </a:p>
        </p:txBody>
      </p:sp>
      <p:sp>
        <p:nvSpPr>
          <p:cNvPr id="27" name="Shape 25"/>
          <p:cNvSpPr/>
          <p:nvPr/>
        </p:nvSpPr>
        <p:spPr>
          <a:xfrm>
            <a:off x="11975961" y="5794117"/>
            <a:ext cx="5359598" cy="37310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2280641" y="6098798"/>
            <a:ext cx="522526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 DE SAÍDA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280641" y="6521708"/>
            <a:ext cx="4892743" cy="1117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navegável de ponta a ponta com endpoints próprios respondendo em ambiente de desenvolvimento.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440" y="1158180"/>
            <a:ext cx="1357884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 3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491561" y="952440"/>
            <a:ext cx="5920114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e entrega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440" y="2068651"/>
            <a:ext cx="11790723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440" y="2636222"/>
            <a:ext cx="5283160" cy="1111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161990" y="2845772"/>
            <a:ext cx="502255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entre BFF e Peça Centralizadora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387941" y="2636222"/>
            <a:ext cx="5283339" cy="1111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597491" y="2845772"/>
            <a:ext cx="5022739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do frontend com os endpoints reais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52440" y="3900487"/>
            <a:ext cx="5283160" cy="1111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161990" y="4110037"/>
            <a:ext cx="502255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da integração BFF × Peça Centralizadora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387941" y="3900487"/>
            <a:ext cx="5283339" cy="1111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97491" y="4110037"/>
            <a:ext cx="5022739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de TAAC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52440" y="5164752"/>
            <a:ext cx="5283160" cy="1111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61990" y="5374302"/>
            <a:ext cx="5022555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Construção de dashboard e criação de alarmes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6387941" y="5164752"/>
            <a:ext cx="5283339" cy="1111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97491" y="5374302"/>
            <a:ext cx="5022739" cy="73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46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Preparação do pacote de pentest e abertura da tarefa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1975961" y="2068651"/>
            <a:ext cx="5359598" cy="1710392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12280641" y="2373332"/>
            <a:ext cx="522526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280641" y="2777133"/>
            <a:ext cx="5225260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11975961" y="3931384"/>
            <a:ext cx="5359598" cy="1710392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1" name="Text 19"/>
          <p:cNvSpPr/>
          <p:nvPr/>
        </p:nvSpPr>
        <p:spPr>
          <a:xfrm>
            <a:off x="12280641" y="4236065"/>
            <a:ext cx="522526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HORAS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280641" y="4639865"/>
            <a:ext cx="5225260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4800" dirty="0"/>
          </a:p>
        </p:txBody>
      </p:sp>
      <p:sp>
        <p:nvSpPr>
          <p:cNvPr id="23" name="Shape 21"/>
          <p:cNvSpPr/>
          <p:nvPr/>
        </p:nvSpPr>
        <p:spPr>
          <a:xfrm>
            <a:off x="11975961" y="5794117"/>
            <a:ext cx="5359598" cy="37310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2280641" y="6098798"/>
            <a:ext cx="522526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 DE SAÍDA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280641" y="6521708"/>
            <a:ext cx="4892743" cy="1117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1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integrada, monitorada no Datadog, com TAAC executando e pentest agendado.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440" y="952440"/>
            <a:ext cx="18021430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e dependências externas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440" y="2106870"/>
            <a:ext cx="8058149" cy="35758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2440" y="2106870"/>
            <a:ext cx="91440" cy="3575804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5" name="Text 3"/>
          <p:cNvSpPr/>
          <p:nvPr/>
        </p:nvSpPr>
        <p:spPr>
          <a:xfrm>
            <a:off x="1424821" y="2487811"/>
            <a:ext cx="7925312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27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Provisionamento da conta AWS YB3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424821" y="3051631"/>
            <a:ext cx="7420974" cy="757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1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Atraso aqui empurra toda a Onda 1. Abrir a solicitação antes do início da onda.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277230" y="2106870"/>
            <a:ext cx="8058328" cy="35758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9277230" y="2106870"/>
            <a:ext cx="91440" cy="3575804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9" name="Text 7"/>
          <p:cNvSpPr/>
          <p:nvPr/>
        </p:nvSpPr>
        <p:spPr>
          <a:xfrm>
            <a:off x="9749611" y="2487811"/>
            <a:ext cx="7925508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27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Techspec de tagueamento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749611" y="3051631"/>
            <a:ext cx="7421158" cy="757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1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do time de design. Sem ela o card sai da Onda 2 e vai para a Onda 3.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440" y="5949315"/>
            <a:ext cx="8058149" cy="35758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52440" y="5949315"/>
            <a:ext cx="91440" cy="357580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1424821" y="6330255"/>
            <a:ext cx="7925312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27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de endpoints não fechado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424821" y="6894076"/>
            <a:ext cx="7420974" cy="757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1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e frontend passam a trabalhar sobre premissas divergentes e retrabalham na integração.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277230" y="5949315"/>
            <a:ext cx="8058328" cy="35758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277230" y="5949315"/>
            <a:ext cx="91440" cy="357580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9749611" y="6330255"/>
            <a:ext cx="7925508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27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Janela de pentest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749611" y="6894076"/>
            <a:ext cx="7421158" cy="757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1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fila do time de segurança pode não caber na Onda 3. Reservar a data assim que a Onda 2 começar.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440" y="952440"/>
            <a:ext cx="18021430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440" y="4292322"/>
            <a:ext cx="5811476" cy="1021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dirty="0">
                <a:solidFill>
                  <a:srgbClr val="C99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52440" y="5465683"/>
            <a:ext cx="5811476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270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Sessão de Planning Poker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2440" y="6067544"/>
            <a:ext cx="5441655" cy="757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1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Votar os 28 cards pendentes e substituir as estimativas de referência.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502241" y="4292322"/>
            <a:ext cx="5811672" cy="1021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dirty="0">
                <a:solidFill>
                  <a:srgbClr val="5C8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502241" y="5465683"/>
            <a:ext cx="5811672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270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a composição do squad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502241" y="6067544"/>
            <a:ext cx="5441839" cy="757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1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Fechar nomes e percentual de alocação por perfil para travar o capacity.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052220" y="4292322"/>
            <a:ext cx="5811476" cy="1021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dirty="0">
                <a:solidFill>
                  <a:srgbClr val="79A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2052220" y="5465683"/>
            <a:ext cx="5811476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270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Datar as ondas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2052220" y="6067544"/>
            <a:ext cx="5441655" cy="757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1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a data de início da Onda 1 e reservar a janela de pentest.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52440" y="9429928"/>
            <a:ext cx="1143000" cy="9519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2209740" y="9429928"/>
            <a:ext cx="1143000" cy="95190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14" name="Shape 12"/>
          <p:cNvSpPr/>
          <p:nvPr/>
        </p:nvSpPr>
        <p:spPr>
          <a:xfrm>
            <a:off x="3467040" y="9429928"/>
            <a:ext cx="1143000" cy="95190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15" name="Shape 13"/>
          <p:cNvSpPr/>
          <p:nvPr/>
        </p:nvSpPr>
        <p:spPr>
          <a:xfrm>
            <a:off x="4724340" y="9429928"/>
            <a:ext cx="1143000" cy="95190"/>
          </a:xfrm>
          <a:prstGeom prst="rect">
            <a:avLst/>
          </a:prstGeom>
          <a:solidFill>
            <a:srgbClr val="79A98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2026-08-12T11:36:18Z</dcterms:created>
  <dcterms:modified xsi:type="dcterms:W3CDTF">2026-08-12T11:36:18Z</dcterms:modified>
</cp:coreProperties>
</file>